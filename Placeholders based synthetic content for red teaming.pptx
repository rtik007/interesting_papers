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B5DD58-AF96-47FB-80A8-B6DE8E416E1F}" v="3" dt="2025-12-10T15:52:21.8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eyan Nallakamachi" userId="481edc4588b61275" providerId="LiveId" clId="{CA176A5A-472C-45F3-9044-B3158DB0F1A0}"/>
    <pc:docChg chg="custSel addSld delSld modSld">
      <pc:chgData name="Karthikeyan Nallakamachi" userId="481edc4588b61275" providerId="LiveId" clId="{CA176A5A-472C-45F3-9044-B3158DB0F1A0}" dt="2025-12-12T05:34:12.120" v="191" actId="47"/>
      <pc:docMkLst>
        <pc:docMk/>
      </pc:docMkLst>
      <pc:sldChg chg="addSp modSp mod">
        <pc:chgData name="Karthikeyan Nallakamachi" userId="481edc4588b61275" providerId="LiveId" clId="{CA176A5A-472C-45F3-9044-B3158DB0F1A0}" dt="2025-12-10T15:46:57.173" v="112" actId="20577"/>
        <pc:sldMkLst>
          <pc:docMk/>
          <pc:sldMk cId="1045042923" sldId="256"/>
        </pc:sldMkLst>
        <pc:spChg chg="mod">
          <ac:chgData name="Karthikeyan Nallakamachi" userId="481edc4588b61275" providerId="LiveId" clId="{CA176A5A-472C-45F3-9044-B3158DB0F1A0}" dt="2025-12-10T15:46:57.173" v="112" actId="20577"/>
          <ac:spMkLst>
            <pc:docMk/>
            <pc:sldMk cId="1045042923" sldId="256"/>
            <ac:spMk id="4" creationId="{DDAC8A02-2B9C-39DE-E0C2-31CD55700361}"/>
          </ac:spMkLst>
        </pc:spChg>
        <pc:spChg chg="mod">
          <ac:chgData name="Karthikeyan Nallakamachi" userId="481edc4588b61275" providerId="LiveId" clId="{CA176A5A-472C-45F3-9044-B3158DB0F1A0}" dt="2025-12-10T15:44:38.382" v="108" actId="1035"/>
          <ac:spMkLst>
            <pc:docMk/>
            <pc:sldMk cId="1045042923" sldId="256"/>
            <ac:spMk id="5" creationId="{BE2A2708-DA40-B8AA-4447-C63AF86493C6}"/>
          </ac:spMkLst>
        </pc:spChg>
        <pc:spChg chg="mod">
          <ac:chgData name="Karthikeyan Nallakamachi" userId="481edc4588b61275" providerId="LiveId" clId="{CA176A5A-472C-45F3-9044-B3158DB0F1A0}" dt="2025-12-10T15:40:21.324" v="20" actId="20577"/>
          <ac:spMkLst>
            <pc:docMk/>
            <pc:sldMk cId="1045042923" sldId="256"/>
            <ac:spMk id="10" creationId="{2B35FC50-384A-B011-7FB3-79AB0DFA86B8}"/>
          </ac:spMkLst>
        </pc:spChg>
        <pc:spChg chg="add mod">
          <ac:chgData name="Karthikeyan Nallakamachi" userId="481edc4588b61275" providerId="LiveId" clId="{CA176A5A-472C-45F3-9044-B3158DB0F1A0}" dt="2025-12-10T15:41:26.045" v="91" actId="404"/>
          <ac:spMkLst>
            <pc:docMk/>
            <pc:sldMk cId="1045042923" sldId="256"/>
            <ac:spMk id="14" creationId="{F2E0D94F-FDDA-DFE9-FDB7-C8F86092F121}"/>
          </ac:spMkLst>
        </pc:spChg>
        <pc:graphicFrameChg chg="mod">
          <ac:chgData name="Karthikeyan Nallakamachi" userId="481edc4588b61275" providerId="LiveId" clId="{CA176A5A-472C-45F3-9044-B3158DB0F1A0}" dt="2025-12-10T15:44:38.382" v="108" actId="1035"/>
          <ac:graphicFrameMkLst>
            <pc:docMk/>
            <pc:sldMk cId="1045042923" sldId="256"/>
            <ac:graphicFrameMk id="8" creationId="{DAE1E2A0-6694-5EBE-BC10-5C3B1940790D}"/>
          </ac:graphicFrameMkLst>
        </pc:graphicFrameChg>
      </pc:sldChg>
      <pc:sldChg chg="modSp new mod">
        <pc:chgData name="Karthikeyan Nallakamachi" userId="481edc4588b61275" providerId="LiveId" clId="{CA176A5A-472C-45F3-9044-B3158DB0F1A0}" dt="2025-12-10T15:56:37.673" v="151"/>
        <pc:sldMkLst>
          <pc:docMk/>
          <pc:sldMk cId="3060514232" sldId="257"/>
        </pc:sldMkLst>
        <pc:spChg chg="mod">
          <ac:chgData name="Karthikeyan Nallakamachi" userId="481edc4588b61275" providerId="LiveId" clId="{CA176A5A-472C-45F3-9044-B3158DB0F1A0}" dt="2025-12-10T15:56:37.673" v="151"/>
          <ac:spMkLst>
            <pc:docMk/>
            <pc:sldMk cId="3060514232" sldId="257"/>
            <ac:spMk id="3" creationId="{FB1D245D-F853-F0FD-3BCB-CD9C0CC53780}"/>
          </ac:spMkLst>
        </pc:spChg>
      </pc:sldChg>
      <pc:sldChg chg="modSp new mod">
        <pc:chgData name="Karthikeyan Nallakamachi" userId="481edc4588b61275" providerId="LiveId" clId="{CA176A5A-472C-45F3-9044-B3158DB0F1A0}" dt="2025-12-10T16:10:53.620" v="189" actId="27636"/>
        <pc:sldMkLst>
          <pc:docMk/>
          <pc:sldMk cId="4234276994" sldId="258"/>
        </pc:sldMkLst>
        <pc:spChg chg="mod">
          <ac:chgData name="Karthikeyan Nallakamachi" userId="481edc4588b61275" providerId="LiveId" clId="{CA176A5A-472C-45F3-9044-B3158DB0F1A0}" dt="2025-12-10T16:10:53.620" v="189" actId="27636"/>
          <ac:spMkLst>
            <pc:docMk/>
            <pc:sldMk cId="4234276994" sldId="258"/>
            <ac:spMk id="3" creationId="{F2D8BEB7-13EC-BB4A-113B-C4B7DDBD9663}"/>
          </ac:spMkLst>
        </pc:spChg>
      </pc:sldChg>
      <pc:sldChg chg="new del">
        <pc:chgData name="Karthikeyan Nallakamachi" userId="481edc4588b61275" providerId="LiveId" clId="{CA176A5A-472C-45F3-9044-B3158DB0F1A0}" dt="2025-12-12T05:34:12.120" v="191" actId="47"/>
        <pc:sldMkLst>
          <pc:docMk/>
          <pc:sldMk cId="115011003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B080-6623-9A83-1171-1534F4B51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55C70-CCC9-138B-C62C-07887BDC2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029A0-CE35-9111-6360-889B0A9B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3BFD3-0F4E-AD8F-C71D-0807A4140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A7F2A-57C8-6C81-F606-052152DE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815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3984-0716-69E7-82F7-590507C2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5346-520D-52DC-A00C-F9ACBBB3F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91A22-35C7-93F7-8DA3-85FD8FC6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A8CC4-187B-3D83-1052-42EE1A86D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A19C3-3042-8A10-9102-025A4F42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43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F663-6098-08C6-96FF-ECE768576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90BFA-57DA-5314-ED09-34296AE3A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925A2-81EE-E983-B698-D05DED9F1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6BD7C-84EF-9B9B-C7A3-C5DB0629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42A72-B885-2D51-964B-FA554DE0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4CA7-075A-ECB3-76A8-301EAF65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A49C1-E7E0-ACBE-5806-ED09A8DC3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7C18D-6A32-AA90-2125-5185EAD47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83939-7ACC-98EF-9818-5E149F50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408BA-43DD-FD0D-3A4B-1D1698E6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8DA5D-9B85-A7ED-044A-08A79089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17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5B1B-D7F2-2E19-D7B2-CF1CB2CC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8E540-FBFF-D68D-2952-64B0C4F21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6D15F-A036-AC74-22DA-1A95A981C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A68652-3580-FA64-5671-22B44D4DB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BA811-8445-C224-5A25-AD7D73451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95F483-D479-1030-F39D-BB386A7F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0F240-352E-0303-EB3A-0EE4D2C9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ED594F-89DC-7C3B-D325-C91D16A7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49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3ADB-6414-FEA8-822A-889FA78F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FBC52-EF42-55AD-A30A-6E4751117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0BED5-AF3F-8495-317A-7427F2996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D6907-E1D8-E5C7-F7FF-0C46D2F7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41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6EDBF-3865-824A-BB57-9FE42858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DFD9B8-C35B-61A7-C2F1-344134006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C5799-3E80-DE53-EE11-D5C4EE4B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202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5FE8-ADE6-8005-23EF-3C7B24F92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09BD3-4227-E3A2-58DE-A11F9CCB6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C98C6-36FF-765D-DD20-4C8039DD9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9FC60-B165-2D9C-AFFE-A459DC09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B9C58-FBDF-60BC-A8FB-68D415D5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9CAAE-C6CC-B9BB-F8EE-E95D2EEBA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2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DEAE-0865-D394-FDCE-48138CDCB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13238-CF0A-1431-652A-50F2D4D7E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1B7B2-DCCB-2E66-5070-FEF568A7C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8A54F-6D17-E785-8CB0-37B8A402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564B3-3527-A61C-FD0B-72464471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B924A-DF8D-21E8-EA31-FF39EA8A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28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49339-9A9D-0459-5647-A083C50CF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103B3-33CA-04CE-8CF1-BDA33143F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9FE8C-978F-8922-587F-15D15C43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3AC34-1140-14BE-D4E6-055723DC7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98071-615B-172C-AE1E-53E9D640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884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715F8-2AE5-7C52-E445-AED13074D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A570C-A696-CE01-1786-3DE8B6343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75C42-B6DA-FB1B-6842-35CB81A8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903A7-FDB7-018A-B3E1-0DEDFE58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02E78-B01C-DAE4-8908-558936C8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36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00B2C6-E826-1BF8-4944-981838EB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28DD8-287C-7271-A4A0-5DF9DF8E2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D76A2-5287-045C-CC9A-6D2B67E83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37A78-3646-46FD-9FDB-BF23BE12C10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A05B8-5D9F-62CB-A286-CB26F5118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DD925-912E-CEED-BB75-020CADF1D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DEBC4-FE39-46C2-8819-6CCE3A1351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91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AC8A02-2B9C-39DE-E0C2-31CD55700361}"/>
              </a:ext>
            </a:extLst>
          </p:cNvPr>
          <p:cNvSpPr txBox="1"/>
          <p:nvPr/>
        </p:nvSpPr>
        <p:spPr>
          <a:xfrm>
            <a:off x="521110" y="825909"/>
            <a:ext cx="53684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Problem Statement: 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LLMs refuse direct requests for adversarial test data for restricted, inappropriate or unsafe topics – When asked to create test queries about sexual content, violence, self-harm, CBRN, child safety, or illegal activities, LLMs refuse due to their safety guardrails.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creates a paradox: we need harmful queries to test safety, but AI won't generate them.</a:t>
            </a:r>
            <a:r>
              <a:rPr lang="en-IN" sz="14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A2708-DA40-B8AA-4447-C63AF86493C6}"/>
              </a:ext>
            </a:extLst>
          </p:cNvPr>
          <p:cNvSpPr txBox="1"/>
          <p:nvPr/>
        </p:nvSpPr>
        <p:spPr>
          <a:xfrm>
            <a:off x="5889523" y="793643"/>
            <a:ext cx="5368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Solution importance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BDA10-AB46-5A4D-61EA-6DA4166A8A49}"/>
              </a:ext>
            </a:extLst>
          </p:cNvPr>
          <p:cNvSpPr txBox="1"/>
          <p:nvPr/>
        </p:nvSpPr>
        <p:spPr>
          <a:xfrm>
            <a:off x="521109" y="3320848"/>
            <a:ext cx="53684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Solution Description: </a:t>
            </a:r>
            <a:r>
              <a:rPr lang="en-US" sz="1400" dirty="0"/>
              <a:t>Placeholder-Based Synthetic Query Generation – A clever workaround that generates adversarial test structures without creating actual harmful content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78E59-F7E7-105C-99EB-857423AD5886}"/>
              </a:ext>
            </a:extLst>
          </p:cNvPr>
          <p:cNvSpPr txBox="1"/>
          <p:nvPr/>
        </p:nvSpPr>
        <p:spPr>
          <a:xfrm>
            <a:off x="5968180" y="3458498"/>
            <a:ext cx="5368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Business Value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E1E2A0-6694-5EBE-BC10-5C3B1940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251420"/>
              </p:ext>
            </p:extLst>
          </p:nvPr>
        </p:nvGraphicFramePr>
        <p:xfrm>
          <a:off x="6095998" y="1162975"/>
          <a:ext cx="5574892" cy="193798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787446">
                  <a:extLst>
                    <a:ext uri="{9D8B030D-6E8A-4147-A177-3AD203B41FA5}">
                      <a16:colId xmlns:a16="http://schemas.microsoft.com/office/drawing/2014/main" val="267677190"/>
                    </a:ext>
                  </a:extLst>
                </a:gridCol>
                <a:gridCol w="2787446">
                  <a:extLst>
                    <a:ext uri="{9D8B030D-6E8A-4147-A177-3AD203B41FA5}">
                      <a16:colId xmlns:a16="http://schemas.microsoft.com/office/drawing/2014/main" val="3437036104"/>
                    </a:ext>
                  </a:extLst>
                </a:gridCol>
              </a:tblGrid>
              <a:tr h="1598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>
                          <a:solidFill>
                            <a:schemeClr val="bg1"/>
                          </a:solidFill>
                          <a:effectLst/>
                        </a:rPr>
                        <a:t>Challenge</a:t>
                      </a:r>
                    </a:p>
                  </a:txBody>
                  <a:tcPr marL="14700" marR="14700" marT="9800" marB="98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900" b="1" dirty="0">
                          <a:solidFill>
                            <a:schemeClr val="bg1"/>
                          </a:solidFill>
                          <a:effectLst/>
                        </a:rPr>
                        <a:t>Business Impact</a:t>
                      </a:r>
                    </a:p>
                  </a:txBody>
                  <a:tcPr marL="14700" marR="14700" marT="9800" marB="980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691127"/>
                  </a:ext>
                </a:extLst>
              </a:tr>
              <a:tr h="43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🔴 </a:t>
                      </a:r>
                      <a:r>
                        <a:rPr lang="en-IN" sz="900" b="1">
                          <a:effectLst/>
                        </a:rPr>
                        <a:t>Testing Blind Spot</a:t>
                      </a:r>
                      <a:endParaRPr lang="en-IN" sz="900">
                        <a:effectLst/>
                      </a:endParaRPr>
                    </a:p>
                  </a:txBody>
                  <a:tcPr marL="14700" marR="14700" marT="9800" marB="9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LLM application developers can't validate if their LLM properly blocks harmful content categories because they have no test data</a:t>
                      </a:r>
                    </a:p>
                  </a:txBody>
                  <a:tcPr marL="14700" marR="14700" marT="9800" marB="9800" anchor="ctr"/>
                </a:tc>
                <a:extLst>
                  <a:ext uri="{0D108BD9-81ED-4DB2-BD59-A6C34878D82A}">
                    <a16:rowId xmlns:a16="http://schemas.microsoft.com/office/drawing/2014/main" val="2944086057"/>
                  </a:ext>
                </a:extLst>
              </a:tr>
              <a:tr h="299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🔴 </a:t>
                      </a:r>
                      <a:r>
                        <a:rPr lang="en-US" sz="900" b="1">
                          <a:effectLst/>
                        </a:rPr>
                        <a:t>Manual Effort is Impractical</a:t>
                      </a:r>
                      <a:endParaRPr lang="en-US" sz="900">
                        <a:effectLst/>
                      </a:endParaRPr>
                    </a:p>
                  </a:txBody>
                  <a:tcPr marL="14700" marR="14700" marT="9800" marB="9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Asking humans to write thousands of adversarial prompts is expensive, slow, and ethically problematic</a:t>
                      </a:r>
                    </a:p>
                  </a:txBody>
                  <a:tcPr marL="14700" marR="14700" marT="9800" marB="9800" anchor="ctr"/>
                </a:tc>
                <a:extLst>
                  <a:ext uri="{0D108BD9-81ED-4DB2-BD59-A6C34878D82A}">
                    <a16:rowId xmlns:a16="http://schemas.microsoft.com/office/drawing/2014/main" val="2961002980"/>
                  </a:ext>
                </a:extLst>
              </a:tr>
              <a:tr h="439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🔴 </a:t>
                      </a:r>
                      <a:r>
                        <a:rPr lang="en-IN" sz="900" b="1">
                          <a:effectLst/>
                        </a:rPr>
                        <a:t>Compliance Gap</a:t>
                      </a:r>
                      <a:endParaRPr lang="en-IN" sz="900">
                        <a:effectLst/>
                      </a:endParaRPr>
                    </a:p>
                  </a:txBody>
                  <a:tcPr marL="14700" marR="14700" marT="9800" marB="9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Regulators and MRM require documented safety testing – without test data, we can't prove compliance</a:t>
                      </a:r>
                    </a:p>
                  </a:txBody>
                  <a:tcPr marL="14700" marR="14700" marT="9800" marB="9800" anchor="ctr"/>
                </a:tc>
                <a:extLst>
                  <a:ext uri="{0D108BD9-81ED-4DB2-BD59-A6C34878D82A}">
                    <a16:rowId xmlns:a16="http://schemas.microsoft.com/office/drawing/2014/main" val="277740109"/>
                  </a:ext>
                </a:extLst>
              </a:tr>
              <a:tr h="299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🔴 </a:t>
                      </a:r>
                      <a:r>
                        <a:rPr lang="en-IN" sz="900" b="1">
                          <a:effectLst/>
                        </a:rPr>
                        <a:t>Unknown Vulnerabilities</a:t>
                      </a:r>
                      <a:endParaRPr lang="en-IN" sz="900">
                        <a:effectLst/>
                      </a:endParaRPr>
                    </a:p>
                  </a:txBody>
                  <a:tcPr marL="14700" marR="14700" marT="9800" marB="9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Models may be vulnerable to prompt injection, obfuscation, or jailbreaks that go undetected</a:t>
                      </a:r>
                    </a:p>
                  </a:txBody>
                  <a:tcPr marL="14700" marR="14700" marT="9800" marB="9800" anchor="ctr"/>
                </a:tc>
                <a:extLst>
                  <a:ext uri="{0D108BD9-81ED-4DB2-BD59-A6C34878D82A}">
                    <a16:rowId xmlns:a16="http://schemas.microsoft.com/office/drawing/2014/main" val="2052286303"/>
                  </a:ext>
                </a:extLst>
              </a:tr>
              <a:tr h="299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effectLst/>
                        </a:rPr>
                        <a:t>🔴 </a:t>
                      </a:r>
                      <a:r>
                        <a:rPr lang="en-IN" sz="900" b="1">
                          <a:effectLst/>
                        </a:rPr>
                        <a:t>Sensitive Data Risks</a:t>
                      </a:r>
                      <a:endParaRPr lang="en-IN" sz="900">
                        <a:effectLst/>
                      </a:endParaRPr>
                    </a:p>
                  </a:txBody>
                  <a:tcPr marL="14700" marR="14700" marT="9800" marB="9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effectLst/>
                        </a:rPr>
                        <a:t>Storing actual harmful content for testing creates legal/security liability</a:t>
                      </a:r>
                    </a:p>
                  </a:txBody>
                  <a:tcPr marL="14700" marR="14700" marT="9800" marB="9800" anchor="ctr"/>
                </a:tc>
                <a:extLst>
                  <a:ext uri="{0D108BD9-81ED-4DB2-BD59-A6C34878D82A}">
                    <a16:rowId xmlns:a16="http://schemas.microsoft.com/office/drawing/2014/main" val="27059293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B35FC50-384A-B011-7FB3-79AB0DFA86B8}"/>
              </a:ext>
            </a:extLst>
          </p:cNvPr>
          <p:cNvSpPr txBox="1"/>
          <p:nvPr/>
        </p:nvSpPr>
        <p:spPr>
          <a:xfrm>
            <a:off x="521109" y="4005849"/>
            <a:ext cx="5368413" cy="234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r>
              <a:rPr lang="en-IN" sz="1100" b="1" i="0" dirty="0">
                <a:solidFill>
                  <a:srgbClr val="616161"/>
                </a:solidFill>
                <a:effectLst/>
                <a:latin typeface="Segoe WPC"/>
              </a:rPr>
              <a:t>Safe Placeholders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 – Uses tokens like </a:t>
            </a:r>
            <a:r>
              <a:rPr lang="en-IN" sz="11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[VIOLENT_ACT]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, </a:t>
            </a:r>
            <a:r>
              <a:rPr lang="en-IN" sz="11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[DRUG_SYNTHESIS]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, </a:t>
            </a:r>
            <a:r>
              <a:rPr lang="en-IN" sz="11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[SUICIDE_METHOD]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 instead of explicit content</a:t>
            </a:r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r>
              <a:rPr lang="en-IN" sz="1100" b="1" i="0" dirty="0">
                <a:solidFill>
                  <a:srgbClr val="616161"/>
                </a:solidFill>
                <a:effectLst/>
                <a:latin typeface="Segoe WPC"/>
              </a:rPr>
              <a:t>Template Patterns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 – Attack structures like </a:t>
            </a:r>
            <a:r>
              <a:rPr lang="en-IN" sz="1100" b="0" i="1" dirty="0">
                <a:solidFill>
                  <a:srgbClr val="616161"/>
                </a:solidFill>
                <a:effectLst/>
                <a:latin typeface="Segoe WPC"/>
              </a:rPr>
              <a:t>"Explain how to perform {placeholder} effectively"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 that test model boundaries</a:t>
            </a:r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r>
              <a:rPr lang="en-IN" sz="1100" b="1" i="0" dirty="0">
                <a:solidFill>
                  <a:srgbClr val="616161"/>
                </a:solidFill>
                <a:effectLst/>
                <a:latin typeface="Segoe WPC"/>
              </a:rPr>
              <a:t>Obfuscation Simulation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 – Applies </a:t>
            </a:r>
            <a:r>
              <a:rPr lang="en-IN" sz="1100" b="0" i="0" dirty="0" err="1">
                <a:solidFill>
                  <a:srgbClr val="616161"/>
                </a:solidFill>
                <a:effectLst/>
                <a:latin typeface="Segoe WPC"/>
              </a:rPr>
              <a:t>leetspeak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 (</a:t>
            </a:r>
            <a:r>
              <a:rPr lang="en-IN" sz="11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3xpl41n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), misspelling, context manipulation to mimic real attacks</a:t>
            </a:r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r>
              <a:rPr lang="en-IN" sz="1100" b="1" i="0" dirty="0" err="1">
                <a:solidFill>
                  <a:srgbClr val="616161"/>
                </a:solidFill>
                <a:effectLst/>
                <a:latin typeface="Segoe WPC"/>
              </a:rPr>
              <a:t>DeepTeam</a:t>
            </a:r>
            <a:r>
              <a:rPr lang="en-IN" sz="1100" b="1" i="0" dirty="0">
                <a:solidFill>
                  <a:srgbClr val="616161"/>
                </a:solidFill>
                <a:effectLst/>
                <a:latin typeface="Segoe WPC"/>
              </a:rPr>
              <a:t> Integration</a:t>
            </a:r>
            <a:r>
              <a:rPr lang="en-IN" sz="1100" b="0" i="0" dirty="0">
                <a:solidFill>
                  <a:srgbClr val="616161"/>
                </a:solidFill>
                <a:effectLst/>
                <a:latin typeface="Segoe WPC"/>
              </a:rPr>
              <a:t> – Converts synthetic queries into red team test case objects for automated evaluation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925A8AF-F438-D380-A2F7-8EF2523CF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040825"/>
              </p:ext>
            </p:extLst>
          </p:nvPr>
        </p:nvGraphicFramePr>
        <p:xfrm>
          <a:off x="6094503" y="3762584"/>
          <a:ext cx="5576388" cy="233696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788194">
                  <a:extLst>
                    <a:ext uri="{9D8B030D-6E8A-4147-A177-3AD203B41FA5}">
                      <a16:colId xmlns:a16="http://schemas.microsoft.com/office/drawing/2014/main" val="2254603260"/>
                    </a:ext>
                  </a:extLst>
                </a:gridCol>
                <a:gridCol w="2788194">
                  <a:extLst>
                    <a:ext uri="{9D8B030D-6E8A-4147-A177-3AD203B41FA5}">
                      <a16:colId xmlns:a16="http://schemas.microsoft.com/office/drawing/2014/main" val="3607894444"/>
                    </a:ext>
                  </a:extLst>
                </a:gridCol>
              </a:tblGrid>
              <a:tr h="91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  <a:effectLst/>
                        </a:rPr>
                        <a:t>Benefit</a:t>
                      </a:r>
                    </a:p>
                  </a:txBody>
                  <a:tcPr marL="16204" marR="16204" marT="10803" marB="10803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b="1" dirty="0">
                          <a:solidFill>
                            <a:schemeClr val="bg1"/>
                          </a:solidFill>
                          <a:effectLst/>
                        </a:rPr>
                        <a:t>Impact</a:t>
                      </a:r>
                    </a:p>
                  </a:txBody>
                  <a:tcPr marL="16204" marR="16204" marT="10803" marB="10803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769815"/>
                  </a:ext>
                </a:extLst>
              </a:tr>
              <a:tr h="41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✅ </a:t>
                      </a:r>
                      <a:r>
                        <a:rPr lang="en-IN" sz="1000" b="1" dirty="0">
                          <a:effectLst/>
                        </a:rPr>
                        <a:t>Solves the AI Paradox</a:t>
                      </a:r>
                      <a:endParaRPr lang="en-IN" sz="1000" dirty="0">
                        <a:effectLst/>
                      </a:endParaRPr>
                    </a:p>
                  </a:txBody>
                  <a:tcPr marL="16204" marR="16204" marT="10803" marB="1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Generate unlimited adversarial test data without asking LLMs to produce harmful content</a:t>
                      </a:r>
                    </a:p>
                  </a:txBody>
                  <a:tcPr marL="16204" marR="16204" marT="10803" marB="10803" anchor="ctr"/>
                </a:tc>
                <a:extLst>
                  <a:ext uri="{0D108BD9-81ED-4DB2-BD59-A6C34878D82A}">
                    <a16:rowId xmlns:a16="http://schemas.microsoft.com/office/drawing/2014/main" val="3600488898"/>
                  </a:ext>
                </a:extLst>
              </a:tr>
              <a:tr h="41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✅ </a:t>
                      </a:r>
                      <a:r>
                        <a:rPr lang="en-IN" sz="1000" b="1">
                          <a:effectLst/>
                        </a:rPr>
                        <a:t>No Harmful Data Storage</a:t>
                      </a:r>
                      <a:endParaRPr lang="en-IN" sz="1000">
                        <a:effectLst/>
                      </a:endParaRPr>
                    </a:p>
                  </a:txBody>
                  <a:tcPr marL="16204" marR="16204" marT="10803" marB="1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Placeholders mean no actual illegal/sensitive content exists in test datasets</a:t>
                      </a:r>
                    </a:p>
                  </a:txBody>
                  <a:tcPr marL="16204" marR="16204" marT="10803" marB="10803" anchor="ctr"/>
                </a:tc>
                <a:extLst>
                  <a:ext uri="{0D108BD9-81ED-4DB2-BD59-A6C34878D82A}">
                    <a16:rowId xmlns:a16="http://schemas.microsoft.com/office/drawing/2014/main" val="4219512750"/>
                  </a:ext>
                </a:extLst>
              </a:tr>
              <a:tr h="333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✅ </a:t>
                      </a:r>
                      <a:r>
                        <a:rPr lang="en-IN" sz="1000" b="1">
                          <a:effectLst/>
                        </a:rPr>
                        <a:t>Scalable Testing</a:t>
                      </a:r>
                      <a:endParaRPr lang="en-IN" sz="1000">
                        <a:effectLst/>
                      </a:endParaRPr>
                    </a:p>
                  </a:txBody>
                  <a:tcPr marL="16204" marR="16204" marT="10803" marB="1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Generate 10,000+ test cases programmatically in seconds</a:t>
                      </a:r>
                    </a:p>
                  </a:txBody>
                  <a:tcPr marL="16204" marR="16204" marT="10803" marB="10803" anchor="ctr"/>
                </a:tc>
                <a:extLst>
                  <a:ext uri="{0D108BD9-81ED-4DB2-BD59-A6C34878D82A}">
                    <a16:rowId xmlns:a16="http://schemas.microsoft.com/office/drawing/2014/main" val="2137220536"/>
                  </a:ext>
                </a:extLst>
              </a:tr>
              <a:tr h="333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✅ </a:t>
                      </a:r>
                      <a:r>
                        <a:rPr lang="en-IN" sz="1000" b="1">
                          <a:effectLst/>
                        </a:rPr>
                        <a:t>Audit-Ready</a:t>
                      </a:r>
                      <a:endParaRPr lang="en-IN" sz="1000">
                        <a:effectLst/>
                      </a:endParaRPr>
                    </a:p>
                  </a:txBody>
                  <a:tcPr marL="16204" marR="16204" marT="10803" marB="1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Safe test data can be stored, shared, and documented for compliance evidence</a:t>
                      </a:r>
                    </a:p>
                  </a:txBody>
                  <a:tcPr marL="16204" marR="16204" marT="10803" marB="10803" anchor="ctr"/>
                </a:tc>
                <a:extLst>
                  <a:ext uri="{0D108BD9-81ED-4DB2-BD59-A6C34878D82A}">
                    <a16:rowId xmlns:a16="http://schemas.microsoft.com/office/drawing/2014/main" val="3224868683"/>
                  </a:ext>
                </a:extLst>
              </a:tr>
              <a:tr h="333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effectLst/>
                        </a:rPr>
                        <a:t>✅ </a:t>
                      </a:r>
                      <a:r>
                        <a:rPr lang="en-IN" sz="1000" b="1">
                          <a:effectLst/>
                        </a:rPr>
                        <a:t>Covers Real Attack Vectors</a:t>
                      </a:r>
                      <a:endParaRPr lang="en-IN" sz="1000">
                        <a:effectLst/>
                      </a:endParaRPr>
                    </a:p>
                  </a:txBody>
                  <a:tcPr marL="16204" marR="16204" marT="10803" marB="1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Obfuscation techniques simulate how real adversaries bypass safety filters</a:t>
                      </a:r>
                    </a:p>
                  </a:txBody>
                  <a:tcPr marL="16204" marR="16204" marT="10803" marB="10803" anchor="ctr"/>
                </a:tc>
                <a:extLst>
                  <a:ext uri="{0D108BD9-81ED-4DB2-BD59-A6C34878D82A}">
                    <a16:rowId xmlns:a16="http://schemas.microsoft.com/office/drawing/2014/main" val="627405328"/>
                  </a:ext>
                </a:extLst>
              </a:tr>
              <a:tr h="333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effectLst/>
                        </a:rPr>
                        <a:t>✅ </a:t>
                      </a:r>
                      <a:r>
                        <a:rPr lang="en-IN" sz="1000" b="1" dirty="0">
                          <a:effectLst/>
                        </a:rPr>
                        <a:t>Framework Aligned</a:t>
                      </a:r>
                      <a:endParaRPr lang="en-IN" sz="1000" dirty="0">
                        <a:effectLst/>
                      </a:endParaRPr>
                    </a:p>
                  </a:txBody>
                  <a:tcPr marL="16204" marR="16204" marT="10803" marB="108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Maps to OWASP LLM Top 10, NIST AI RMF, MITRE ATLAS standards</a:t>
                      </a:r>
                    </a:p>
                  </a:txBody>
                  <a:tcPr marL="16204" marR="16204" marT="10803" marB="10803" anchor="ctr"/>
                </a:tc>
                <a:extLst>
                  <a:ext uri="{0D108BD9-81ED-4DB2-BD59-A6C34878D82A}">
                    <a16:rowId xmlns:a16="http://schemas.microsoft.com/office/drawing/2014/main" val="1386354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365CB94-EBE6-A427-5A47-75B6541168F9}"/>
              </a:ext>
            </a:extLst>
          </p:cNvPr>
          <p:cNvSpPr txBox="1"/>
          <p:nvPr/>
        </p:nvSpPr>
        <p:spPr>
          <a:xfrm>
            <a:off x="737421" y="6496420"/>
            <a:ext cx="110416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0" dirty="0">
                <a:solidFill>
                  <a:srgbClr val="616161"/>
                </a:solidFill>
                <a:effectLst/>
                <a:latin typeface="Segoe WPC"/>
              </a:rPr>
              <a:t>Placeholder-based synthetic generation provides a </a:t>
            </a:r>
            <a:r>
              <a:rPr lang="en-US" sz="1200" b="1" i="0" dirty="0">
                <a:solidFill>
                  <a:srgbClr val="616161"/>
                </a:solidFill>
                <a:effectLst/>
                <a:latin typeface="Segoe WPC"/>
              </a:rPr>
              <a:t>cost-free, deterministic, legally safe</a:t>
            </a:r>
            <a:r>
              <a:rPr lang="en-US" sz="1200" b="0" i="0" dirty="0">
                <a:solidFill>
                  <a:srgbClr val="616161"/>
                </a:solidFill>
                <a:effectLst/>
                <a:latin typeface="Segoe WPC"/>
              </a:rPr>
              <a:t> method that complements LLM-based red teaming tools.</a:t>
            </a:r>
            <a:endParaRPr lang="en-IN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0D94F-FDDA-DFE9-FDB7-C8F86092F121}"/>
              </a:ext>
            </a:extLst>
          </p:cNvPr>
          <p:cNvSpPr txBox="1"/>
          <p:nvPr/>
        </p:nvSpPr>
        <p:spPr>
          <a:xfrm>
            <a:off x="521109" y="186813"/>
            <a:ext cx="11257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Placeholders based synthetic content generation for red teaming</a:t>
            </a:r>
          </a:p>
        </p:txBody>
      </p:sp>
    </p:spTree>
    <p:extLst>
      <p:ext uri="{BB962C8B-B14F-4D97-AF65-F5344CB8AC3E}">
        <p14:creationId xmlns:p14="http://schemas.microsoft.com/office/powerpoint/2010/main" val="1045042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B5BC3-CE11-F9D7-2EED-A099277B6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245D-F853-F0FD-3BCB-CD9C0CC53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050" dirty="0"/>
              <a:t>how placeholders in code might disguise malicious instructions, potentially leading to security vulnerabilities.</a:t>
            </a:r>
          </a:p>
          <a:p>
            <a:r>
              <a:rPr lang="en-US" sz="1050" dirty="0"/>
              <a:t>Effectiveness of Placeholder-Based Prompts for Restricted Content in LLMs</a:t>
            </a:r>
          </a:p>
          <a:p>
            <a:r>
              <a:rPr lang="en-US" sz="1050" dirty="0"/>
              <a:t>how placeholder-based prompts might bypass safety filters in large language models (LLMs). This involves multi-turn tricks and using ambiguous placeholders or synonyms to evade detection.</a:t>
            </a:r>
          </a:p>
          <a:p>
            <a:r>
              <a:rPr lang="en-IN" sz="1050" dirty="0"/>
              <a:t>symbolic tokens to bypass LLM filters</a:t>
            </a:r>
          </a:p>
          <a:p>
            <a:r>
              <a:rPr lang="en-US" sz="1050" dirty="0"/>
              <a:t>LLM prompt with violence token</a:t>
            </a:r>
          </a:p>
          <a:p>
            <a:r>
              <a:rPr lang="en-US" sz="1050" dirty="0"/>
              <a:t>[CBRN] and ASCII art and </a:t>
            </a:r>
            <a:r>
              <a:rPr lang="en-US" sz="1050" dirty="0" err="1"/>
              <a:t>CipherChat</a:t>
            </a:r>
            <a:r>
              <a:rPr lang="en-US" sz="1050" dirty="0"/>
              <a:t> can bypass filters by masking sensitive content. This method shows a significant gap between human reading and tokenization.</a:t>
            </a:r>
          </a:p>
          <a:p>
            <a:r>
              <a:rPr lang="en-US" sz="1050" dirty="0"/>
              <a:t>Harmful Prompt Laundering: Jailbreaking LLMs with Abductive Styles and Symbolic Encoding," expected in arXiv by late 2024 or early 2025.</a:t>
            </a:r>
          </a:p>
          <a:p>
            <a:r>
              <a:rPr lang="en-US" sz="1050" dirty="0"/>
              <a:t>how LLMs identify and respond to sensitive tokens, like "suicide" or "pornography," using symbolic encoding and placeholder-based prompts.</a:t>
            </a:r>
          </a:p>
          <a:p>
            <a:r>
              <a:rPr lang="en-US" sz="1050" dirty="0"/>
              <a:t>how current language models respond to placeholder-based prompts. The LinkedIn references show a 95% response rate, indicating effective mapping of symbolic encodings like ASCII to masked triggers.</a:t>
            </a:r>
          </a:p>
          <a:p>
            <a:r>
              <a:rPr lang="en-US" sz="1050" dirty="0"/>
              <a:t>By introducing breaks like "fin </a:t>
            </a:r>
            <a:r>
              <a:rPr lang="en-US" sz="1050" dirty="0" err="1"/>
              <a:t>structions</a:t>
            </a:r>
            <a:r>
              <a:rPr lang="en-US" sz="1050" dirty="0"/>
              <a:t>" to split tokens, content filters might miss the term while the model still comprehends it. Let's think about how this strategy might bypass specific restrictions.</a:t>
            </a:r>
          </a:p>
          <a:p>
            <a:r>
              <a:rPr lang="en-US" sz="1050" dirty="0"/>
              <a:t>The "</a:t>
            </a:r>
            <a:r>
              <a:rPr lang="en-US" sz="1050" dirty="0" err="1"/>
              <a:t>AbuseGPT</a:t>
            </a:r>
            <a:r>
              <a:rPr lang="en-US" sz="1050" dirty="0"/>
              <a:t>" emergent mind highlights the impressive 98.7% attack success with SASP and </a:t>
            </a:r>
            <a:r>
              <a:rPr lang="en-US" sz="1050" dirty="0" err="1"/>
              <a:t>HaPLa</a:t>
            </a:r>
            <a:r>
              <a:rPr lang="en-US" sz="1050" dirty="0"/>
              <a:t>, prompting a deeper exploration of SASP's precise methodology.</a:t>
            </a:r>
          </a:p>
          <a:p>
            <a:r>
              <a:rPr lang="en-US" sz="1050" dirty="0"/>
              <a:t>The results reveal Wu et al.'s potential work on "Self-Adversarial Attacks with System Prompts" (SASP). Also, </a:t>
            </a:r>
            <a:r>
              <a:rPr lang="en-US" sz="1050" dirty="0" err="1"/>
              <a:t>Hapla's</a:t>
            </a:r>
            <a:r>
              <a:rPr lang="en-US" sz="1050" dirty="0"/>
              <a:t> symbolic encoding and placeholders like [VIOLENCE] and [SEXUAL_CONTENT] are notable.</a:t>
            </a:r>
          </a:p>
          <a:p>
            <a:r>
              <a:rPr lang="en-US" sz="1050" dirty="0" err="1"/>
              <a:t>MetaBreak</a:t>
            </a:r>
            <a:r>
              <a:rPr lang="en-US" sz="1050" dirty="0"/>
              <a:t>, which uses special tokens to obscure harmful content from moderators while the model interprets it differently. This involves token insertion and symbolic encoding for effective content management.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06051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4DDA-5CBA-320D-0391-C2F2EA58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8BEB7-13EC-BB4A-113B-C4B7DDBD9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dirty="0"/>
              <a:t>examining encoding, typos, and translation, and noting the potential use of placeholders like [VIOLENCE] and [SEXUAL_CONTENT]. This reminds me of models like Meta Llama2 and Hugging Face's fine-tuned classifiers.</a:t>
            </a:r>
          </a:p>
          <a:p>
            <a:r>
              <a:rPr lang="en-US" sz="1200" dirty="0"/>
              <a:t>examining explicit content guidelines and safety filters for large language models (LLMs).</a:t>
            </a:r>
          </a:p>
          <a:p>
            <a:r>
              <a:rPr lang="en-US" sz="1200" dirty="0"/>
              <a:t>LLMs can be tricked with disguised tokens, using symbolic tokens and synonyms to evade content filters and produce disallowed content.</a:t>
            </a:r>
          </a:p>
          <a:p>
            <a:r>
              <a:rPr lang="en-US" sz="1200" dirty="0"/>
              <a:t>Redwood Research adversarial training LLM</a:t>
            </a:r>
          </a:p>
          <a:p>
            <a:r>
              <a:rPr lang="en-US" sz="1200" dirty="0"/>
              <a:t>Redwood plan targets advanced model training through a classifier and adversarial testers, which likely included placeholders like synonyms. Key references include </a:t>
            </a:r>
            <a:r>
              <a:rPr lang="en-US" sz="1200" dirty="0" err="1"/>
              <a:t>HaPLa</a:t>
            </a:r>
            <a:r>
              <a:rPr lang="en-US" sz="1200" dirty="0"/>
              <a:t> and </a:t>
            </a:r>
            <a:r>
              <a:rPr lang="en-US" sz="1200" dirty="0" err="1"/>
              <a:t>HiddenLayer's</a:t>
            </a:r>
            <a:r>
              <a:rPr lang="en-US" sz="1200" dirty="0"/>
              <a:t> </a:t>
            </a:r>
            <a:r>
              <a:rPr lang="en-US" sz="1200" dirty="0" err="1"/>
              <a:t>TokenBreak</a:t>
            </a:r>
            <a:r>
              <a:rPr lang="en-US" sz="1200" dirty="0"/>
              <a:t>.</a:t>
            </a:r>
          </a:p>
          <a:p>
            <a:r>
              <a:rPr lang="en-US" sz="1200" dirty="0"/>
              <a:t>how safety mechanisms identify and block content with ambiguous placeholders, considering advanced classification and content filters using LLMs.</a:t>
            </a:r>
          </a:p>
          <a:p>
            <a:r>
              <a:rPr lang="en-US" sz="1200" dirty="0"/>
              <a:t>LLMs trick content filters with hidden words or rephrased queries, especially using ASCII, emojis, punctuation, and multi-turn coaxing.</a:t>
            </a:r>
          </a:p>
          <a:p>
            <a:r>
              <a:rPr lang="en-US" sz="1200" dirty="0" err="1"/>
              <a:t>SequentialBreak</a:t>
            </a:r>
            <a:r>
              <a:rPr lang="en-US" sz="1200" dirty="0"/>
              <a:t> method involves mixing in malicious requests with many benign ones, using strategies like partial encoding and multi-turn approaches for evasion.</a:t>
            </a:r>
          </a:p>
          <a:p>
            <a:r>
              <a:rPr lang="en-IN" sz="1200" dirty="0">
                <a:highlight>
                  <a:srgbClr val="FFFF00"/>
                </a:highlight>
              </a:rPr>
              <a:t>Anthropic Claude ASCII jailbreak</a:t>
            </a:r>
          </a:p>
          <a:p>
            <a:r>
              <a:rPr lang="en-US" sz="1200" dirty="0">
                <a:highlight>
                  <a:srgbClr val="FFFF00"/>
                </a:highlight>
              </a:rPr>
              <a:t>ASCII Art-based Jailbreak on LLMs with Recognition Pre-test" from arXiv. It seems related to Pangram Labs' approach.</a:t>
            </a:r>
            <a:endParaRPr lang="en-IN" sz="1200" dirty="0">
              <a:highlight>
                <a:srgbClr val="FFFF00"/>
              </a:highlight>
            </a:endParaRPr>
          </a:p>
          <a:p>
            <a:r>
              <a:rPr lang="en-US" sz="1200" dirty="0">
                <a:highlight>
                  <a:srgbClr val="FFFF00"/>
                </a:highlight>
              </a:rPr>
              <a:t>how ASCII art and symbolic encoding are used to obscure harmful content, making detection harder for text classification models.</a:t>
            </a:r>
            <a:endParaRPr lang="en-IN" sz="1200" dirty="0">
              <a:highlight>
                <a:srgbClr val="FFFF00"/>
              </a:highlight>
            </a:endParaRPr>
          </a:p>
          <a:p>
            <a:r>
              <a:rPr lang="en-US" sz="1200" dirty="0"/>
              <a:t>cleverly disguised prompts, like the "Jekyll/Hyde" scenario, can bypass safety filters, demonstrating how nuanced phrasing can bypass protections.</a:t>
            </a:r>
          </a:p>
          <a:p>
            <a:r>
              <a:rPr lang="en-US" sz="1200" dirty="0"/>
              <a:t>responsiveness of LLMs to placeholders, recent research on operational failures, and detection of ambiguous placeholders, emphasizing the importance of context and dynamic monitoring.</a:t>
            </a:r>
          </a:p>
          <a:p>
            <a:r>
              <a:rPr lang="en-US" sz="1200" dirty="0"/>
              <a:t>how large language models can create sexual content that might harm or facilitate crimes, particularly, detailing how to exploit vulnerable individuals.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23427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991</Words>
  <Application>Microsoft Office PowerPoint</Application>
  <PresentationFormat>Widescreen</PresentationFormat>
  <Paragraphs>67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Segoe WPC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Karthikeyan Nallakamachi</dc:creator>
  <cp:lastModifiedBy>Karthikeyan Nallakamachi</cp:lastModifiedBy>
  <cp:revision>1</cp:revision>
  <dcterms:created xsi:type="dcterms:W3CDTF">2025-12-10T15:27:00Z</dcterms:created>
  <dcterms:modified xsi:type="dcterms:W3CDTF">2025-12-12T05:34:15Z</dcterms:modified>
</cp:coreProperties>
</file>