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59" r:id="rId4"/>
    <p:sldId id="260" r:id="rId5"/>
    <p:sldId id="261" r:id="rId6"/>
    <p:sldId id="262" r:id="rId7"/>
    <p:sldId id="25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414" autoAdjust="0"/>
    <p:restoredTop sz="91749" autoAdjust="0"/>
  </p:normalViewPr>
  <p:slideViewPr>
    <p:cSldViewPr snapToGrid="0">
      <p:cViewPr varScale="1">
        <p:scale>
          <a:sx n="80" d="100"/>
          <a:sy n="80" d="100"/>
        </p:scale>
        <p:origin x="1239" y="2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2B6AEC-FD5D-4F31-9C9E-577456AC9BE3}" type="datetimeFigureOut">
              <a:rPr lang="en-IN" smtClean="0"/>
              <a:t>03-07-2025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C13DAE-7D43-44A3-B2A4-952B411B52E8}" type="slidenum">
              <a:rPr lang="en-IN" smtClean="0"/>
              <a:t>‹#›</a:t>
            </a:fld>
            <a:endParaRPr lang="en-IN"/>
          </a:p>
        </p:txBody>
      </p:sp>
    </p:spTree>
    <p:extLst>
      <p:ext uri="{BB962C8B-B14F-4D97-AF65-F5344CB8AC3E}">
        <p14:creationId xmlns:p14="http://schemas.microsoft.com/office/powerpoint/2010/main" val="924496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3C13DAE-7D43-44A3-B2A4-952B411B52E8}" type="slidenum">
              <a:rPr lang="en-IN" smtClean="0"/>
              <a:t>1</a:t>
            </a:fld>
            <a:endParaRPr lang="en-IN"/>
          </a:p>
        </p:txBody>
      </p:sp>
    </p:spTree>
    <p:extLst>
      <p:ext uri="{BB962C8B-B14F-4D97-AF65-F5344CB8AC3E}">
        <p14:creationId xmlns:p14="http://schemas.microsoft.com/office/powerpoint/2010/main" val="4154388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thought: "The user wants to know the capital of France. This is a factual query. I should use the 'search' tool for this."</a:t>
            </a:r>
          </a:p>
          <a:p>
            <a:r>
              <a:rPr lang="en-US" dirty="0"/>
              <a:t>action:</a:t>
            </a:r>
          </a:p>
          <a:p>
            <a:r>
              <a:rPr lang="en-US" dirty="0"/>
              <a:t>  tool: "search"</a:t>
            </a:r>
          </a:p>
          <a:p>
            <a:r>
              <a:rPr lang="en-US" dirty="0"/>
              <a:t>  </a:t>
            </a:r>
            <a:r>
              <a:rPr lang="en-US" dirty="0" err="1"/>
              <a:t>tool_input</a:t>
            </a:r>
            <a:r>
              <a:rPr lang="en-US" dirty="0"/>
              <a:t>: "capital of France"</a:t>
            </a:r>
          </a:p>
          <a:p>
            <a:r>
              <a:rPr lang="en-US" dirty="0"/>
              <a:t>observation: "Paris"</a:t>
            </a:r>
          </a:p>
          <a:p>
            <a:r>
              <a:rPr lang="en-US" dirty="0"/>
              <a:t>thought: "I have found the answer. I will now output it to the user in a clear sentence."</a:t>
            </a:r>
          </a:p>
          <a:p>
            <a:r>
              <a:rPr lang="en-US" dirty="0"/>
              <a:t>action:</a:t>
            </a:r>
          </a:p>
          <a:p>
            <a:r>
              <a:rPr lang="en-US" dirty="0"/>
              <a:t>  tool: "</a:t>
            </a:r>
            <a:r>
              <a:rPr lang="en-US" dirty="0" err="1"/>
              <a:t>final_answer</a:t>
            </a:r>
            <a:r>
              <a:rPr lang="en-US" dirty="0"/>
              <a:t>"</a:t>
            </a:r>
          </a:p>
          <a:p>
            <a:r>
              <a:rPr lang="en-US" dirty="0"/>
              <a:t>  </a:t>
            </a:r>
            <a:r>
              <a:rPr lang="en-US" dirty="0" err="1"/>
              <a:t>tool_input</a:t>
            </a:r>
            <a:r>
              <a:rPr lang="en-US" dirty="0"/>
              <a:t>: "The capital of France is Paris."</a:t>
            </a:r>
            <a:endParaRPr lang="en-IN" dirty="0"/>
          </a:p>
          <a:p>
            <a:endParaRPr lang="en-IN" dirty="0"/>
          </a:p>
        </p:txBody>
      </p:sp>
      <p:sp>
        <p:nvSpPr>
          <p:cNvPr id="4" name="Slide Number Placeholder 3"/>
          <p:cNvSpPr>
            <a:spLocks noGrp="1"/>
          </p:cNvSpPr>
          <p:nvPr>
            <p:ph type="sldNum" sz="quarter" idx="5"/>
          </p:nvPr>
        </p:nvSpPr>
        <p:spPr/>
        <p:txBody>
          <a:bodyPr/>
          <a:lstStyle/>
          <a:p>
            <a:fld id="{13C13DAE-7D43-44A3-B2A4-952B411B52E8}" type="slidenum">
              <a:rPr lang="en-IN" smtClean="0"/>
              <a:t>2</a:t>
            </a:fld>
            <a:endParaRPr lang="en-IN"/>
          </a:p>
        </p:txBody>
      </p:sp>
    </p:spTree>
    <p:extLst>
      <p:ext uri="{BB962C8B-B14F-4D97-AF65-F5344CB8AC3E}">
        <p14:creationId xmlns:p14="http://schemas.microsoft.com/office/powerpoint/2010/main" val="1162525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DA2FC-FE4C-12E1-B7D5-2243885113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3037FF-FE3E-F1DF-BF7E-D05E7C4047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DC0D6A2-5E34-FC31-5B3D-27770F228DC8}"/>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5" name="Footer Placeholder 4">
            <a:extLst>
              <a:ext uri="{FF2B5EF4-FFF2-40B4-BE49-F238E27FC236}">
                <a16:creationId xmlns:a16="http://schemas.microsoft.com/office/drawing/2014/main" id="{71215518-CB70-AE42-A3A7-DB903DADBD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26DE1F-7A26-9312-AB64-7E801777D55A}"/>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140926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5E6D9-C34E-DD39-E290-D115ECC8B95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988E1A-92DB-2F2E-E614-A68F968A22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6C15A2-A35C-D875-1176-1E9E4668ABF3}"/>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5" name="Footer Placeholder 4">
            <a:extLst>
              <a:ext uri="{FF2B5EF4-FFF2-40B4-BE49-F238E27FC236}">
                <a16:creationId xmlns:a16="http://schemas.microsoft.com/office/drawing/2014/main" id="{81CB6164-E0AA-1156-EA80-129F63652B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E58E0F-B716-19C4-858A-D523312543FE}"/>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1246764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05654-D2FC-A9B8-6B8B-46FEAC2814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B67B553-A50D-E2D7-C20B-2E3E223275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A4D2CD-C13B-F7EB-890E-804A023622E1}"/>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5" name="Footer Placeholder 4">
            <a:extLst>
              <a:ext uri="{FF2B5EF4-FFF2-40B4-BE49-F238E27FC236}">
                <a16:creationId xmlns:a16="http://schemas.microsoft.com/office/drawing/2014/main" id="{8B43D775-5A6D-3EDF-F0ED-A1A0BFC4D6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C4A95C-E4D9-A0A0-B714-B201E913538D}"/>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391600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AD5E6-BAA6-4AFB-ECDD-32749C5F8B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A5A91C-F99F-B101-FA62-24D113EA8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587CF5-BF81-6EBD-1F99-14A6C0A4C3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AF939BD-C3E6-EF5D-16B3-78D82F9337DF}"/>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6" name="Footer Placeholder 5">
            <a:extLst>
              <a:ext uri="{FF2B5EF4-FFF2-40B4-BE49-F238E27FC236}">
                <a16:creationId xmlns:a16="http://schemas.microsoft.com/office/drawing/2014/main" id="{9D2CACD3-9181-668E-FD01-644AF919A7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DDCA6F-53B2-EE86-2042-26C4F2EF8D84}"/>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2759695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94B59-8DBF-B7C6-5E4A-AABDC02F08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569FE0-A6C4-85EA-568D-B18C247935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692907-EAEC-4C0C-C3E6-72B86B5EDE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5EC5FAC-E0A5-A29D-B884-7BE0FF9D9A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74A2E4-093B-8353-0716-AA7BEA461A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373B5F-1C29-9EAD-5670-A5BD8D95D553}"/>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8" name="Footer Placeholder 7">
            <a:extLst>
              <a:ext uri="{FF2B5EF4-FFF2-40B4-BE49-F238E27FC236}">
                <a16:creationId xmlns:a16="http://schemas.microsoft.com/office/drawing/2014/main" id="{AC4615FA-4802-AB3F-1309-6A0F0189BB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B3D3D0-9BA1-463E-5D02-14A7C03F8878}"/>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3303963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A88D0-BCB7-548F-1187-EE548900D9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132CD84-B12B-99ED-637F-E3DE4F38E40C}"/>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4" name="Footer Placeholder 3">
            <a:extLst>
              <a:ext uri="{FF2B5EF4-FFF2-40B4-BE49-F238E27FC236}">
                <a16:creationId xmlns:a16="http://schemas.microsoft.com/office/drawing/2014/main" id="{5994352F-7962-0F93-899B-7BEEAC311F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174DDD-D777-FB02-3998-1EA100E54216}"/>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2294462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71FA70-716F-6854-8C98-F7E64E1626DC}"/>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3" name="Footer Placeholder 2">
            <a:extLst>
              <a:ext uri="{FF2B5EF4-FFF2-40B4-BE49-F238E27FC236}">
                <a16:creationId xmlns:a16="http://schemas.microsoft.com/office/drawing/2014/main" id="{A72B5D07-C5B5-D907-DEF7-EF68C860BB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33E2BE-D413-28FB-8A15-331BB741F2EE}"/>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8572351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96AF8-0E11-8C88-519E-434E2ED0FA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637CE65-30A7-4591-78FA-4ACDA6C050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CD27BDC-040B-C65B-6BE2-3143B2C91C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3D92C6-54E3-0D1D-F058-4A011CCA96F0}"/>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6" name="Footer Placeholder 5">
            <a:extLst>
              <a:ext uri="{FF2B5EF4-FFF2-40B4-BE49-F238E27FC236}">
                <a16:creationId xmlns:a16="http://schemas.microsoft.com/office/drawing/2014/main" id="{22B13591-8C69-FE09-470C-3204744976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2F2E22-E389-C3E1-9CD7-7934963B1A2F}"/>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2187686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35F0-563B-7649-AD41-9B602C2CAA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999C817-1E81-05F9-73C5-9A06636EF9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0B6F8F-DB8E-6D39-FED7-42AA81E007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3608DF-F3B5-D92C-9D92-B1A944762F89}"/>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6" name="Footer Placeholder 5">
            <a:extLst>
              <a:ext uri="{FF2B5EF4-FFF2-40B4-BE49-F238E27FC236}">
                <a16:creationId xmlns:a16="http://schemas.microsoft.com/office/drawing/2014/main" id="{69A84CE4-476B-66BB-0A89-D0D9F2D0AD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2EA0F9-70DE-AA52-2936-63E8029D1CB3}"/>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1060356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B40D7-8337-15DF-6AAC-8E1071CCA1C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7F47AF-2A36-0A9D-9254-E5EF82A60F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3A8270-A0D3-6746-7112-C785BFFB7380}"/>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5" name="Footer Placeholder 4">
            <a:extLst>
              <a:ext uri="{FF2B5EF4-FFF2-40B4-BE49-F238E27FC236}">
                <a16:creationId xmlns:a16="http://schemas.microsoft.com/office/drawing/2014/main" id="{B2E7AE2F-8751-223A-1347-93582F3C87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407404-9D0F-77E0-98E0-3B488D4859A5}"/>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201727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E85DA5-B6C0-D50B-9D2B-F0356B60F4E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7852D0-C3DF-94BA-1936-9818662285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CF4FAC-78E4-FA20-A512-1044119D4E2D}"/>
              </a:ext>
            </a:extLst>
          </p:cNvPr>
          <p:cNvSpPr>
            <a:spLocks noGrp="1"/>
          </p:cNvSpPr>
          <p:nvPr>
            <p:ph type="dt" sz="half" idx="10"/>
          </p:nvPr>
        </p:nvSpPr>
        <p:spPr/>
        <p:txBody>
          <a:bodyPr/>
          <a:lstStyle/>
          <a:p>
            <a:fld id="{FC9A3163-73F3-4CCE-9A4A-61849FC3D8A0}" type="datetimeFigureOut">
              <a:rPr lang="en-IN" smtClean="0"/>
              <a:t>03-07-2025</a:t>
            </a:fld>
            <a:endParaRPr lang="en-IN"/>
          </a:p>
        </p:txBody>
      </p:sp>
      <p:sp>
        <p:nvSpPr>
          <p:cNvPr id="5" name="Footer Placeholder 4">
            <a:extLst>
              <a:ext uri="{FF2B5EF4-FFF2-40B4-BE49-F238E27FC236}">
                <a16:creationId xmlns:a16="http://schemas.microsoft.com/office/drawing/2014/main" id="{12F29140-9370-FC1A-F7E9-5609869B30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802B4C-8602-5125-58A3-F6A942B49D1B}"/>
              </a:ext>
            </a:extLst>
          </p:cNvPr>
          <p:cNvSpPr>
            <a:spLocks noGrp="1"/>
          </p:cNvSpPr>
          <p:nvPr>
            <p:ph type="sldNum" sz="quarter" idx="12"/>
          </p:nvPr>
        </p:nvSpPr>
        <p:spPr/>
        <p:txBody>
          <a:bodyPr/>
          <a:lstStyle/>
          <a:p>
            <a:fld id="{18A2CEC6-0169-4A45-B021-8E1BC7B17319}" type="slidenum">
              <a:rPr lang="en-IN" smtClean="0"/>
              <a:t>‹#›</a:t>
            </a:fld>
            <a:endParaRPr lang="en-IN"/>
          </a:p>
        </p:txBody>
      </p:sp>
    </p:spTree>
    <p:extLst>
      <p:ext uri="{BB962C8B-B14F-4D97-AF65-F5344CB8AC3E}">
        <p14:creationId xmlns:p14="http://schemas.microsoft.com/office/powerpoint/2010/main" val="58637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FB00AF-781C-F689-2443-A6C16C3621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7637AF-8932-E1FC-DF65-7BF40E55AF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EEC573-99ED-1D6B-AFCF-141F527F76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9A3163-73F3-4CCE-9A4A-61849FC3D8A0}" type="datetimeFigureOut">
              <a:rPr lang="en-IN" smtClean="0"/>
              <a:t>03-07-2025</a:t>
            </a:fld>
            <a:endParaRPr lang="en-IN"/>
          </a:p>
        </p:txBody>
      </p:sp>
      <p:sp>
        <p:nvSpPr>
          <p:cNvPr id="5" name="Footer Placeholder 4">
            <a:extLst>
              <a:ext uri="{FF2B5EF4-FFF2-40B4-BE49-F238E27FC236}">
                <a16:creationId xmlns:a16="http://schemas.microsoft.com/office/drawing/2014/main" id="{F6A0B0C2-FC64-B8D1-4B9C-D1F5E95D8D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126725B-474A-49CA-1AFF-CC0D8D25E4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A2CEC6-0169-4A45-B021-8E1BC7B17319}" type="slidenum">
              <a:rPr lang="en-IN" smtClean="0"/>
              <a:t>‹#›</a:t>
            </a:fld>
            <a:endParaRPr lang="en-IN"/>
          </a:p>
        </p:txBody>
      </p:sp>
    </p:spTree>
    <p:extLst>
      <p:ext uri="{BB962C8B-B14F-4D97-AF65-F5344CB8AC3E}">
        <p14:creationId xmlns:p14="http://schemas.microsoft.com/office/powerpoint/2010/main" val="4220954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D6B20-4728-868E-7FB2-944E78759AC7}"/>
              </a:ext>
            </a:extLst>
          </p:cNvPr>
          <p:cNvSpPr>
            <a:spLocks noGrp="1"/>
          </p:cNvSpPr>
          <p:nvPr>
            <p:ph type="title"/>
          </p:nvPr>
        </p:nvSpPr>
        <p:spPr/>
        <p:txBody>
          <a:bodyPr/>
          <a:lstStyle/>
          <a:p>
            <a:r>
              <a:rPr lang="en-IN" dirty="0"/>
              <a:t>Component Evaluation</a:t>
            </a:r>
          </a:p>
        </p:txBody>
      </p:sp>
      <p:sp>
        <p:nvSpPr>
          <p:cNvPr id="5" name="TextBox 4">
            <a:extLst>
              <a:ext uri="{FF2B5EF4-FFF2-40B4-BE49-F238E27FC236}">
                <a16:creationId xmlns:a16="http://schemas.microsoft.com/office/drawing/2014/main" id="{37FB4137-5E31-30D8-AB04-02402E70339A}"/>
              </a:ext>
            </a:extLst>
          </p:cNvPr>
          <p:cNvSpPr txBox="1"/>
          <p:nvPr/>
        </p:nvSpPr>
        <p:spPr>
          <a:xfrm>
            <a:off x="838199" y="1488874"/>
            <a:ext cx="10979989" cy="1200329"/>
          </a:xfrm>
          <a:prstGeom prst="rect">
            <a:avLst/>
          </a:prstGeom>
          <a:noFill/>
        </p:spPr>
        <p:txBody>
          <a:bodyPr wrap="square">
            <a:spAutoFit/>
          </a:bodyPr>
          <a:lstStyle/>
          <a:p>
            <a:r>
              <a:rPr lang="en-US" b="0" i="0" dirty="0">
                <a:solidFill>
                  <a:srgbClr val="4B5563"/>
                </a:solidFill>
                <a:effectLst/>
                <a:latin typeface="ui-sans-serif"/>
              </a:rPr>
              <a:t>Before running a full road test, a mechanic inspects the engine, brakes, and transmission individually. Similarly, before testing an entire agent system, it's crucial to evaluate its individual components in isolation. This 'unit testing' approach helps pinpoint weaknesses early, making the whole system more robust. We primarily evaluate four key areas: the model's reasoning, its planning ability, its tool use, and its memory.</a:t>
            </a:r>
            <a:endParaRPr lang="en-IN" dirty="0"/>
          </a:p>
        </p:txBody>
      </p:sp>
      <p:pic>
        <p:nvPicPr>
          <p:cNvPr id="7" name="Picture 6">
            <a:extLst>
              <a:ext uri="{FF2B5EF4-FFF2-40B4-BE49-F238E27FC236}">
                <a16:creationId xmlns:a16="http://schemas.microsoft.com/office/drawing/2014/main" id="{EE66AF8C-263B-E4BB-6959-68F077D25F57}"/>
              </a:ext>
            </a:extLst>
          </p:cNvPr>
          <p:cNvPicPr>
            <a:picLocks noChangeAspect="1"/>
          </p:cNvPicPr>
          <p:nvPr/>
        </p:nvPicPr>
        <p:blipFill>
          <a:blip r:embed="rId3"/>
          <a:stretch>
            <a:fillRect/>
          </a:stretch>
        </p:blipFill>
        <p:spPr>
          <a:xfrm>
            <a:off x="2830514" y="2689203"/>
            <a:ext cx="7658156" cy="2114565"/>
          </a:xfrm>
          <a:prstGeom prst="rect">
            <a:avLst/>
          </a:prstGeom>
        </p:spPr>
      </p:pic>
    </p:spTree>
    <p:extLst>
      <p:ext uri="{BB962C8B-B14F-4D97-AF65-F5344CB8AC3E}">
        <p14:creationId xmlns:p14="http://schemas.microsoft.com/office/powerpoint/2010/main" val="1771778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96DFE-5F91-C981-8F01-32C15DC49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972B3-D595-9C3A-5651-2F044036CC10}"/>
              </a:ext>
            </a:extLst>
          </p:cNvPr>
          <p:cNvSpPr>
            <a:spLocks noGrp="1"/>
          </p:cNvSpPr>
          <p:nvPr>
            <p:ph type="title"/>
          </p:nvPr>
        </p:nvSpPr>
        <p:spPr/>
        <p:txBody>
          <a:bodyPr/>
          <a:lstStyle/>
          <a:p>
            <a:r>
              <a:rPr lang="en-US" dirty="0"/>
              <a:t>1. Evaluating Learning &amp; Reasoning (The Core Model)</a:t>
            </a:r>
            <a:endParaRPr lang="en-IN" dirty="0"/>
          </a:p>
        </p:txBody>
      </p:sp>
      <p:sp>
        <p:nvSpPr>
          <p:cNvPr id="4" name="TextBox 3">
            <a:extLst>
              <a:ext uri="{FF2B5EF4-FFF2-40B4-BE49-F238E27FC236}">
                <a16:creationId xmlns:a16="http://schemas.microsoft.com/office/drawing/2014/main" id="{5F6EBDA2-0AFC-9312-D049-A79BDE07EA05}"/>
              </a:ext>
            </a:extLst>
          </p:cNvPr>
          <p:cNvSpPr txBox="1"/>
          <p:nvPr/>
        </p:nvSpPr>
        <p:spPr>
          <a:xfrm>
            <a:off x="838200" y="1633124"/>
            <a:ext cx="10692442" cy="923330"/>
          </a:xfrm>
          <a:prstGeom prst="rect">
            <a:avLst/>
          </a:prstGeom>
          <a:noFill/>
        </p:spPr>
        <p:txBody>
          <a:bodyPr wrap="square">
            <a:spAutoFit/>
          </a:bodyPr>
          <a:lstStyle/>
          <a:p>
            <a:r>
              <a:rPr lang="en-US" b="0" i="0" dirty="0">
                <a:solidFill>
                  <a:srgbClr val="4B5563"/>
                </a:solidFill>
                <a:effectLst/>
                <a:latin typeface="ui-sans-serif"/>
              </a:rPr>
              <a:t>This is the most fundamental test: does the agent's 'brain' work? We assess the core Large Language Model's ability to reason, follow complex instructions, and generate the internal 'thoughts' or chain-of-thought steps that precede an action. A good agent doesn't just pick the right tool; it understands *why* it's the right tool.</a:t>
            </a:r>
            <a:endParaRPr lang="en-IN" dirty="0"/>
          </a:p>
        </p:txBody>
      </p:sp>
      <p:sp>
        <p:nvSpPr>
          <p:cNvPr id="8" name="TextBox 7">
            <a:extLst>
              <a:ext uri="{FF2B5EF4-FFF2-40B4-BE49-F238E27FC236}">
                <a16:creationId xmlns:a16="http://schemas.microsoft.com/office/drawing/2014/main" id="{8D7A9B6B-FCA1-8289-A685-389148452777}"/>
              </a:ext>
            </a:extLst>
          </p:cNvPr>
          <p:cNvSpPr txBox="1"/>
          <p:nvPr/>
        </p:nvSpPr>
        <p:spPr>
          <a:xfrm>
            <a:off x="879894" y="2856446"/>
            <a:ext cx="9874370" cy="1592744"/>
          </a:xfrm>
          <a:prstGeom prst="rect">
            <a:avLst/>
          </a:prstGeom>
          <a:noFill/>
        </p:spPr>
        <p:txBody>
          <a:bodyPr wrap="square">
            <a:spAutoFit/>
          </a:bodyPr>
          <a:lstStyle/>
          <a:p>
            <a:pPr algn="l">
              <a:buNone/>
            </a:pPr>
            <a:r>
              <a:rPr lang="en-US" b="1" i="0" dirty="0">
                <a:solidFill>
                  <a:srgbClr val="0F766E"/>
                </a:solidFill>
                <a:effectLst/>
                <a:latin typeface="ui-sans-serif"/>
              </a:rPr>
              <a:t>What to look for in Agent 'Thoughts'</a:t>
            </a:r>
          </a:p>
          <a:p>
            <a:pPr marL="285750" indent="-285750" algn="l">
              <a:buFont typeface="Arial" panose="020B0604020202020204" pitchFamily="34" charset="0"/>
              <a:buChar char="•"/>
            </a:pPr>
            <a:r>
              <a:rPr lang="en-US" b="1" i="0" dirty="0">
                <a:solidFill>
                  <a:srgbClr val="4B5563"/>
                </a:solidFill>
                <a:effectLst/>
                <a:latin typeface="ui-sans-serif"/>
              </a:rPr>
              <a:t>Logical Consistency:</a:t>
            </a:r>
            <a:r>
              <a:rPr lang="en-US" b="0" i="0" dirty="0">
                <a:solidFill>
                  <a:srgbClr val="4B5563"/>
                </a:solidFill>
                <a:effectLst/>
                <a:latin typeface="ui-sans-serif"/>
              </a:rPr>
              <a:t> Is the reasoning sound, or does it make logical leaps?</a:t>
            </a:r>
          </a:p>
          <a:p>
            <a:pPr marL="285750" indent="-285750" algn="l">
              <a:spcBef>
                <a:spcPts val="263"/>
              </a:spcBef>
              <a:buFont typeface="Arial" panose="020B0604020202020204" pitchFamily="34" charset="0"/>
              <a:buChar char="•"/>
            </a:pPr>
            <a:r>
              <a:rPr lang="en-US" b="1" i="0" dirty="0">
                <a:solidFill>
                  <a:srgbClr val="4B5563"/>
                </a:solidFill>
                <a:effectLst/>
                <a:latin typeface="ui-sans-serif"/>
              </a:rPr>
              <a:t>Intent Interpretation:</a:t>
            </a:r>
            <a:r>
              <a:rPr lang="en-US" b="0" i="0" dirty="0">
                <a:solidFill>
                  <a:srgbClr val="4B5563"/>
                </a:solidFill>
                <a:effectLst/>
                <a:latin typeface="ui-sans-serif"/>
              </a:rPr>
              <a:t> Did it correctly understand the user's goal?</a:t>
            </a:r>
          </a:p>
          <a:p>
            <a:pPr marL="285750" indent="-285750" algn="l">
              <a:spcBef>
                <a:spcPts val="263"/>
              </a:spcBef>
              <a:buFont typeface="Arial" panose="020B0604020202020204" pitchFamily="34" charset="0"/>
              <a:buChar char="•"/>
            </a:pPr>
            <a:r>
              <a:rPr lang="en-US" b="1" i="0" dirty="0">
                <a:solidFill>
                  <a:srgbClr val="4B5563"/>
                </a:solidFill>
                <a:effectLst/>
                <a:latin typeface="ui-sans-serif"/>
              </a:rPr>
              <a:t>Constraint Adherence:</a:t>
            </a:r>
            <a:r>
              <a:rPr lang="en-US" b="0" i="0" dirty="0">
                <a:solidFill>
                  <a:srgbClr val="4B5563"/>
                </a:solidFill>
                <a:effectLst/>
                <a:latin typeface="ui-sans-serif"/>
              </a:rPr>
              <a:t> Did it follow all explicit instructions and constraints?</a:t>
            </a:r>
          </a:p>
          <a:p>
            <a:pPr marL="285750" indent="-285750" algn="l">
              <a:spcBef>
                <a:spcPts val="263"/>
              </a:spcBef>
              <a:buFont typeface="Arial" panose="020B0604020202020204" pitchFamily="34" charset="0"/>
              <a:buChar char="•"/>
            </a:pPr>
            <a:r>
              <a:rPr lang="en-US" b="1" i="0" dirty="0">
                <a:solidFill>
                  <a:srgbClr val="4B5563"/>
                </a:solidFill>
                <a:effectLst/>
                <a:latin typeface="ui-sans-serif"/>
              </a:rPr>
              <a:t>Knowledge Application:</a:t>
            </a:r>
            <a:r>
              <a:rPr lang="en-US" b="0" i="0" dirty="0">
                <a:solidFill>
                  <a:srgbClr val="4B5563"/>
                </a:solidFill>
                <a:effectLst/>
                <a:latin typeface="ui-sans-serif"/>
              </a:rPr>
              <a:t> Did it correctly apply its knowledge to the problem?</a:t>
            </a:r>
          </a:p>
        </p:txBody>
      </p:sp>
      <p:sp>
        <p:nvSpPr>
          <p:cNvPr id="10" name="TextBox 9">
            <a:extLst>
              <a:ext uri="{FF2B5EF4-FFF2-40B4-BE49-F238E27FC236}">
                <a16:creationId xmlns:a16="http://schemas.microsoft.com/office/drawing/2014/main" id="{56E9E6D5-7BC5-C822-5682-C28F376AD407}"/>
              </a:ext>
            </a:extLst>
          </p:cNvPr>
          <p:cNvSpPr txBox="1"/>
          <p:nvPr/>
        </p:nvSpPr>
        <p:spPr>
          <a:xfrm>
            <a:off x="770626" y="4749182"/>
            <a:ext cx="10692442" cy="923330"/>
          </a:xfrm>
          <a:prstGeom prst="rect">
            <a:avLst/>
          </a:prstGeom>
          <a:noFill/>
        </p:spPr>
        <p:txBody>
          <a:bodyPr wrap="square">
            <a:spAutoFit/>
          </a:bodyPr>
          <a:lstStyle/>
          <a:p>
            <a:r>
              <a:rPr lang="en-US" b="0" i="0" dirty="0">
                <a:solidFill>
                  <a:srgbClr val="4B5563"/>
                </a:solidFill>
                <a:effectLst/>
                <a:latin typeface="ui-sans-serif"/>
              </a:rPr>
              <a:t>Evaluation at this level is often qualitative. It involves reviewing agent logs to check the model's reasoning, as shown below. For more scalable feedback, an 'LLM-as-a-Judge' pattern can be used to score the coherence of the agent's thought process.</a:t>
            </a:r>
            <a:endParaRPr lang="en-IN" dirty="0"/>
          </a:p>
        </p:txBody>
      </p:sp>
    </p:spTree>
    <p:extLst>
      <p:ext uri="{BB962C8B-B14F-4D97-AF65-F5344CB8AC3E}">
        <p14:creationId xmlns:p14="http://schemas.microsoft.com/office/powerpoint/2010/main" val="1984528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DB091-8EA1-0709-EFC8-1366498BDA7F}"/>
              </a:ext>
            </a:extLst>
          </p:cNvPr>
          <p:cNvSpPr>
            <a:spLocks noGrp="1"/>
          </p:cNvSpPr>
          <p:nvPr>
            <p:ph type="title"/>
          </p:nvPr>
        </p:nvSpPr>
        <p:spPr/>
        <p:txBody>
          <a:bodyPr/>
          <a:lstStyle/>
          <a:p>
            <a:r>
              <a:rPr lang="en-IN" dirty="0"/>
              <a:t>2. Evaluating Planning</a:t>
            </a:r>
          </a:p>
        </p:txBody>
      </p:sp>
      <p:sp>
        <p:nvSpPr>
          <p:cNvPr id="5" name="TextBox 4">
            <a:extLst>
              <a:ext uri="{FF2B5EF4-FFF2-40B4-BE49-F238E27FC236}">
                <a16:creationId xmlns:a16="http://schemas.microsoft.com/office/drawing/2014/main" id="{116926A2-CD3B-E566-3779-288A1AA0CAF5}"/>
              </a:ext>
            </a:extLst>
          </p:cNvPr>
          <p:cNvSpPr txBox="1"/>
          <p:nvPr/>
        </p:nvSpPr>
        <p:spPr>
          <a:xfrm>
            <a:off x="717177" y="1447684"/>
            <a:ext cx="11002682" cy="923330"/>
          </a:xfrm>
          <a:prstGeom prst="rect">
            <a:avLst/>
          </a:prstGeom>
          <a:noFill/>
        </p:spPr>
        <p:txBody>
          <a:bodyPr wrap="square">
            <a:spAutoFit/>
          </a:bodyPr>
          <a:lstStyle/>
          <a:p>
            <a:r>
              <a:rPr lang="en-US" b="0" i="0" dirty="0">
                <a:solidFill>
                  <a:srgbClr val="4B5563"/>
                </a:solidFill>
                <a:effectLst/>
                <a:latin typeface="ui-sans-serif"/>
              </a:rPr>
              <a:t>Once the agent has reasoned about a goal, its planning module transforms that goal into a sequence of concrete, actionable steps (e.g., a series of tool calls). We can assess the quality of this plan by comparing the agent's chosen tool calls against a known-good 'golden' plan. This interactive simulator demonstrates key planning metrics.</a:t>
            </a:r>
            <a:endParaRPr lang="en-IN" dirty="0"/>
          </a:p>
        </p:txBody>
      </p:sp>
    </p:spTree>
    <p:extLst>
      <p:ext uri="{BB962C8B-B14F-4D97-AF65-F5344CB8AC3E}">
        <p14:creationId xmlns:p14="http://schemas.microsoft.com/office/powerpoint/2010/main" val="1779702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D527AA-4EF5-5693-2ED9-96393EC49153}"/>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dirty="0">
                <a:solidFill>
                  <a:schemeClr val="tx1"/>
                </a:solidFill>
                <a:latin typeface="+mj-lt"/>
                <a:ea typeface="+mj-ea"/>
                <a:cs typeface="+mj-cs"/>
              </a:rPr>
              <a:t>3. Evaluating Tool Use</a:t>
            </a:r>
          </a:p>
        </p:txBody>
      </p:sp>
      <p:sp>
        <p:nvSpPr>
          <p:cNvPr id="5" name="TextBox 4">
            <a:extLst>
              <a:ext uri="{FF2B5EF4-FFF2-40B4-BE49-F238E27FC236}">
                <a16:creationId xmlns:a16="http://schemas.microsoft.com/office/drawing/2014/main" id="{08C53B66-60A3-B59F-0A5F-9DA218626F72}"/>
              </a:ext>
            </a:extLst>
          </p:cNvPr>
          <p:cNvSpPr txBox="1"/>
          <p:nvPr/>
        </p:nvSpPr>
        <p:spPr>
          <a:xfrm>
            <a:off x="612648" y="2584058"/>
            <a:ext cx="4621553" cy="3159018"/>
          </a:xfrm>
          <a:prstGeom prst="rect">
            <a:avLst/>
          </a:prstGeom>
        </p:spPr>
        <p:txBody>
          <a:bodyPr vert="horz" lIns="91440" tIns="45720" rIns="91440" bIns="45720" rtlCol="0">
            <a:normAutofit/>
          </a:bodyPr>
          <a:lstStyle/>
          <a:p>
            <a:pPr indent="-228600">
              <a:lnSpc>
                <a:spcPct val="110000"/>
              </a:lnSpc>
              <a:buFont typeface="Arial" panose="020B0604020202020204" pitchFamily="34" charset="0"/>
              <a:buChar char="•"/>
            </a:pPr>
            <a:r>
              <a:rPr lang="en-US" sz="1300" b="0" i="0">
                <a:effectLst/>
              </a:rPr>
              <a:t>While 'Planning' evaluates whether the agent chose the *right* tool for the job, 'Tool Use' evaluation verifies that the tool *itself* executes correctly and reliably. This is closer to traditional software testing, where we write unit tests for individual functions to ensure they are robust.</a:t>
            </a:r>
          </a:p>
          <a:p>
            <a:pPr marL="285750" indent="-228600">
              <a:lnSpc>
                <a:spcPct val="110000"/>
              </a:lnSpc>
              <a:buFont typeface="Arial" panose="020B0604020202020204" pitchFamily="34" charset="0"/>
              <a:buChar char="•"/>
            </a:pPr>
            <a:r>
              <a:rPr lang="en-US" sz="1300" b="1" i="0">
                <a:effectLst/>
              </a:rPr>
              <a:t>Execution Success:</a:t>
            </a:r>
            <a:r>
              <a:rPr lang="en-US" sz="1300" b="0" i="0">
                <a:effectLst/>
              </a:rPr>
              <a:t> Does the tool run without crashing or raising unhandled exceptions?</a:t>
            </a:r>
          </a:p>
          <a:p>
            <a:pPr marL="285750" indent="-228600">
              <a:lnSpc>
                <a:spcPct val="110000"/>
              </a:lnSpc>
              <a:spcBef>
                <a:spcPts val="525"/>
              </a:spcBef>
              <a:buFont typeface="Arial" panose="020B0604020202020204" pitchFamily="34" charset="0"/>
              <a:buChar char="•"/>
            </a:pPr>
            <a:r>
              <a:rPr lang="en-US" sz="1300" b="1" i="0">
                <a:effectLst/>
              </a:rPr>
              <a:t>Output Correctness:</a:t>
            </a:r>
            <a:r>
              <a:rPr lang="en-US" sz="1300" b="0" i="0">
                <a:effectLst/>
              </a:rPr>
              <a:t> Does the tool return the expected data in the correct format?</a:t>
            </a:r>
          </a:p>
          <a:p>
            <a:pPr marL="285750" indent="-228600">
              <a:lnSpc>
                <a:spcPct val="110000"/>
              </a:lnSpc>
              <a:spcBef>
                <a:spcPts val="525"/>
              </a:spcBef>
              <a:buFont typeface="Arial" panose="020B0604020202020204" pitchFamily="34" charset="0"/>
              <a:buChar char="•"/>
            </a:pPr>
            <a:r>
              <a:rPr lang="en-US" sz="1300" b="1" i="0">
                <a:effectLst/>
              </a:rPr>
              <a:t>Error Handling:</a:t>
            </a:r>
            <a:r>
              <a:rPr lang="en-US" sz="1300" b="0" i="0">
                <a:effectLst/>
              </a:rPr>
              <a:t> How does the tool behave with invalid or malformed inputs? It should fail gracefully, not crash.</a:t>
            </a:r>
          </a:p>
          <a:p>
            <a:pPr marL="285750" indent="-228600">
              <a:lnSpc>
                <a:spcPct val="110000"/>
              </a:lnSpc>
              <a:spcBef>
                <a:spcPts val="525"/>
              </a:spcBef>
              <a:buFont typeface="Arial" panose="020B0604020202020204" pitchFamily="34" charset="0"/>
              <a:buChar char="•"/>
            </a:pPr>
            <a:r>
              <a:rPr lang="en-US" sz="1300" b="1" i="0">
                <a:effectLst/>
              </a:rPr>
              <a:t>Latency:</a:t>
            </a:r>
            <a:r>
              <a:rPr lang="en-US" sz="1300" b="0" i="0">
                <a:effectLst/>
              </a:rPr>
              <a:t> Does the tool execute within an acceptable time frame?</a:t>
            </a:r>
          </a:p>
        </p:txBody>
      </p:sp>
      <p:pic>
        <p:nvPicPr>
          <p:cNvPr id="7" name="Picture 6" descr="A screenshot of a computer program&#10;&#10;AI-generated content may be incorrect.">
            <a:extLst>
              <a:ext uri="{FF2B5EF4-FFF2-40B4-BE49-F238E27FC236}">
                <a16:creationId xmlns:a16="http://schemas.microsoft.com/office/drawing/2014/main" id="{189AD04F-CC92-DD01-F8A6-135DE7E05EBB}"/>
              </a:ext>
            </a:extLst>
          </p:cNvPr>
          <p:cNvPicPr>
            <a:picLocks noChangeAspect="1"/>
          </p:cNvPicPr>
          <p:nvPr/>
        </p:nvPicPr>
        <p:blipFill>
          <a:blip r:embed="rId2"/>
          <a:stretch>
            <a:fillRect/>
          </a:stretch>
        </p:blipFill>
        <p:spPr>
          <a:xfrm>
            <a:off x="6053161" y="1114923"/>
            <a:ext cx="5113980" cy="4628153"/>
          </a:xfrm>
          <a:prstGeom prst="rect">
            <a:avLst/>
          </a:prstGeom>
        </p:spPr>
      </p:pic>
    </p:spTree>
    <p:extLst>
      <p:ext uri="{BB962C8B-B14F-4D97-AF65-F5344CB8AC3E}">
        <p14:creationId xmlns:p14="http://schemas.microsoft.com/office/powerpoint/2010/main" val="2391358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F96802-FED9-E265-FE1F-F6847ACC8F4B}"/>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3600" b="1" kern="1200">
                <a:solidFill>
                  <a:schemeClr val="tx1"/>
                </a:solidFill>
                <a:latin typeface="+mj-lt"/>
                <a:ea typeface="+mj-ea"/>
                <a:cs typeface="+mj-cs"/>
              </a:rPr>
              <a:t>4. Evaluating Memory</a:t>
            </a:r>
          </a:p>
        </p:txBody>
      </p:sp>
      <p:sp>
        <p:nvSpPr>
          <p:cNvPr id="5" name="TextBox 4">
            <a:extLst>
              <a:ext uri="{FF2B5EF4-FFF2-40B4-BE49-F238E27FC236}">
                <a16:creationId xmlns:a16="http://schemas.microsoft.com/office/drawing/2014/main" id="{428A1C0D-DB1C-C040-B47B-363EC6F0F8F3}"/>
              </a:ext>
            </a:extLst>
          </p:cNvPr>
          <p:cNvSpPr txBox="1"/>
          <p:nvPr/>
        </p:nvSpPr>
        <p:spPr>
          <a:xfrm>
            <a:off x="612648" y="2584058"/>
            <a:ext cx="4621553" cy="3159018"/>
          </a:xfrm>
          <a:prstGeom prst="rect">
            <a:avLst/>
          </a:prstGeom>
        </p:spPr>
        <p:txBody>
          <a:bodyPr vert="horz" lIns="91440" tIns="45720" rIns="91440" bIns="45720" rtlCol="0">
            <a:normAutofit/>
          </a:bodyPr>
          <a:lstStyle/>
          <a:p>
            <a:pPr indent="-228600">
              <a:lnSpc>
                <a:spcPct val="120000"/>
              </a:lnSpc>
              <a:spcAft>
                <a:spcPts val="600"/>
              </a:spcAft>
              <a:buFont typeface="Arial" panose="020B0604020202020204" pitchFamily="34" charset="0"/>
              <a:buChar char="•"/>
            </a:pPr>
            <a:r>
              <a:rPr lang="en-US" dirty="0"/>
              <a:t>For agents that handle multi-turn conversations or long-running tasks, memory is essential for providing context and continuity. Memory tests should verify that data is stored and retrieved accurately and that irrelevant data is ignored to avoid confusion. This simulator demonstrates a simple memory retrieval evaluation.</a:t>
            </a:r>
            <a:endParaRPr lang="en-US"/>
          </a:p>
        </p:txBody>
      </p:sp>
      <p:pic>
        <p:nvPicPr>
          <p:cNvPr id="7" name="Picture 6" descr="A screenshot of a computer&#10;&#10;AI-generated content may be incorrect.">
            <a:extLst>
              <a:ext uri="{FF2B5EF4-FFF2-40B4-BE49-F238E27FC236}">
                <a16:creationId xmlns:a16="http://schemas.microsoft.com/office/drawing/2014/main" id="{E42D945E-8AA3-7A6F-EC7C-71829D5A9B89}"/>
              </a:ext>
            </a:extLst>
          </p:cNvPr>
          <p:cNvPicPr>
            <a:picLocks noChangeAspect="1"/>
          </p:cNvPicPr>
          <p:nvPr/>
        </p:nvPicPr>
        <p:blipFill>
          <a:blip r:embed="rId2"/>
          <a:stretch>
            <a:fillRect/>
          </a:stretch>
        </p:blipFill>
        <p:spPr>
          <a:xfrm>
            <a:off x="5691261" y="1137671"/>
            <a:ext cx="5837780" cy="4582657"/>
          </a:xfrm>
          <a:prstGeom prst="rect">
            <a:avLst/>
          </a:prstGeom>
        </p:spPr>
      </p:pic>
    </p:spTree>
    <p:extLst>
      <p:ext uri="{BB962C8B-B14F-4D97-AF65-F5344CB8AC3E}">
        <p14:creationId xmlns:p14="http://schemas.microsoft.com/office/powerpoint/2010/main" val="4253483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AB534-77E5-FFEB-2B95-C15AF9AF6C37}"/>
              </a:ext>
            </a:extLst>
          </p:cNvPr>
          <p:cNvSpPr>
            <a:spLocks noGrp="1"/>
          </p:cNvSpPr>
          <p:nvPr>
            <p:ph type="title"/>
          </p:nvPr>
        </p:nvSpPr>
        <p:spPr/>
        <p:txBody>
          <a:bodyPr/>
          <a:lstStyle/>
          <a:p>
            <a:r>
              <a:rPr lang="en-US" dirty="0"/>
              <a:t>5. Evaluating Trajectory: Putting It All Together</a:t>
            </a:r>
            <a:endParaRPr lang="en-IN" dirty="0"/>
          </a:p>
        </p:txBody>
      </p:sp>
      <p:sp>
        <p:nvSpPr>
          <p:cNvPr id="5" name="TextBox 4">
            <a:extLst>
              <a:ext uri="{FF2B5EF4-FFF2-40B4-BE49-F238E27FC236}">
                <a16:creationId xmlns:a16="http://schemas.microsoft.com/office/drawing/2014/main" id="{88436CC3-2532-81FE-3A22-F7BDAA25D4E6}"/>
              </a:ext>
            </a:extLst>
          </p:cNvPr>
          <p:cNvSpPr txBox="1"/>
          <p:nvPr/>
        </p:nvSpPr>
        <p:spPr>
          <a:xfrm>
            <a:off x="1171389" y="1690688"/>
            <a:ext cx="9944847" cy="3331681"/>
          </a:xfrm>
          <a:prstGeom prst="rect">
            <a:avLst/>
          </a:prstGeom>
          <a:noFill/>
        </p:spPr>
        <p:txBody>
          <a:bodyPr wrap="square">
            <a:spAutoFit/>
          </a:bodyPr>
          <a:lstStyle/>
          <a:p>
            <a:pPr algn="l">
              <a:buNone/>
            </a:pPr>
            <a:r>
              <a:rPr lang="en-US" b="0" i="0" dirty="0">
                <a:solidFill>
                  <a:srgbClr val="4B5563"/>
                </a:solidFill>
                <a:effectLst/>
                <a:latin typeface="ui-sans-serif"/>
              </a:rPr>
              <a:t>The agent's 'trajectory' is the full sequence of its thoughts and actions. Evaluating the trajectory is a composite test that assesses how well learning, planning, and tool use work together. By comparing the agent's actual trajectory to an ideal one, we can find inefficiencies or errors in the overall reasoning process.</a:t>
            </a:r>
          </a:p>
          <a:p>
            <a:pPr marL="285750" indent="-285750" algn="l">
              <a:buFont typeface="Arial" panose="020B0604020202020204" pitchFamily="34" charset="0"/>
              <a:buChar char="•"/>
            </a:pPr>
            <a:r>
              <a:rPr lang="en-US" b="1" i="0" dirty="0">
                <a:solidFill>
                  <a:srgbClr val="1F2937"/>
                </a:solidFill>
                <a:effectLst/>
                <a:latin typeface="ui-sans-serif"/>
              </a:rPr>
              <a:t>Exact Match:</a:t>
            </a:r>
            <a:r>
              <a:rPr lang="en-US" b="0" i="0" dirty="0">
                <a:solidFill>
                  <a:srgbClr val="4B5563"/>
                </a:solidFill>
                <a:effectLst/>
                <a:latin typeface="ui-sans-serif"/>
              </a:rPr>
              <a:t> Requires a perfect match to the ideal trajectory. Best for high-stakes, predictable workflows.</a:t>
            </a:r>
          </a:p>
          <a:p>
            <a:pPr marL="285750" indent="-285750" algn="l">
              <a:spcBef>
                <a:spcPts val="525"/>
              </a:spcBef>
              <a:buFont typeface="Arial" panose="020B0604020202020204" pitchFamily="34" charset="0"/>
              <a:buChar char="•"/>
            </a:pPr>
            <a:r>
              <a:rPr lang="en-US" b="1" i="0" dirty="0">
                <a:solidFill>
                  <a:srgbClr val="1F2937"/>
                </a:solidFill>
                <a:effectLst/>
                <a:latin typeface="ui-sans-serif"/>
              </a:rPr>
              <a:t>In-Order Match:</a:t>
            </a:r>
            <a:r>
              <a:rPr lang="en-US" b="0" i="0" dirty="0">
                <a:solidFill>
                  <a:srgbClr val="4B5563"/>
                </a:solidFill>
                <a:effectLst/>
                <a:latin typeface="ui-sans-serif"/>
              </a:rPr>
              <a:t> Requires the correct actions in the correct order but allows for extra, non-essential actions.</a:t>
            </a:r>
          </a:p>
          <a:p>
            <a:pPr marL="285750" indent="-285750" algn="l">
              <a:spcBef>
                <a:spcPts val="525"/>
              </a:spcBef>
              <a:buFont typeface="Arial" panose="020B0604020202020204" pitchFamily="34" charset="0"/>
              <a:buChar char="•"/>
            </a:pPr>
            <a:r>
              <a:rPr lang="en-US" b="1" i="0" dirty="0">
                <a:solidFill>
                  <a:srgbClr val="1F2937"/>
                </a:solidFill>
                <a:effectLst/>
                <a:latin typeface="ui-sans-serif"/>
              </a:rPr>
              <a:t>Any-Order Match:</a:t>
            </a:r>
            <a:r>
              <a:rPr lang="en-US" b="0" i="0" dirty="0">
                <a:solidFill>
                  <a:srgbClr val="4B5563"/>
                </a:solidFill>
                <a:effectLst/>
                <a:latin typeface="ui-sans-serif"/>
              </a:rPr>
              <a:t> Requires the correct actions in any order, allowing for more flexibility.</a:t>
            </a:r>
          </a:p>
          <a:p>
            <a:pPr marL="285750" indent="-285750" algn="l">
              <a:spcBef>
                <a:spcPts val="525"/>
              </a:spcBef>
              <a:buFont typeface="Arial" panose="020B0604020202020204" pitchFamily="34" charset="0"/>
              <a:buChar char="•"/>
            </a:pPr>
            <a:r>
              <a:rPr lang="en-US" b="1" i="0" dirty="0">
                <a:solidFill>
                  <a:srgbClr val="1F2937"/>
                </a:solidFill>
                <a:effectLst/>
                <a:latin typeface="ui-sans-serif"/>
              </a:rPr>
              <a:t>Precision &amp; Recall:</a:t>
            </a:r>
            <a:r>
              <a:rPr lang="en-US" b="0" i="0" dirty="0">
                <a:solidFill>
                  <a:srgbClr val="4B5563"/>
                </a:solidFill>
                <a:effectLst/>
                <a:latin typeface="ui-sans-serif"/>
              </a:rPr>
              <a:t> Measures the relevance of the predicted actions and how many of the essential actions were correctly identified.</a:t>
            </a:r>
          </a:p>
        </p:txBody>
      </p:sp>
    </p:spTree>
    <p:extLst>
      <p:ext uri="{BB962C8B-B14F-4D97-AF65-F5344CB8AC3E}">
        <p14:creationId xmlns:p14="http://schemas.microsoft.com/office/powerpoint/2010/main" val="3791984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C028D1F0-F5F3-AD96-E729-100DCA206F61}"/>
              </a:ext>
            </a:extLst>
          </p:cNvPr>
          <p:cNvGraphicFramePr>
            <a:graphicFrameLocks noGrp="1"/>
          </p:cNvGraphicFramePr>
          <p:nvPr>
            <p:extLst>
              <p:ext uri="{D42A27DB-BD31-4B8C-83A1-F6EECF244321}">
                <p14:modId xmlns:p14="http://schemas.microsoft.com/office/powerpoint/2010/main" val="2985534254"/>
              </p:ext>
            </p:extLst>
          </p:nvPr>
        </p:nvGraphicFramePr>
        <p:xfrm>
          <a:off x="836461" y="882470"/>
          <a:ext cx="10481396" cy="4824258"/>
        </p:xfrm>
        <a:graphic>
          <a:graphicData uri="http://schemas.openxmlformats.org/drawingml/2006/table">
            <a:tbl>
              <a:tblPr/>
              <a:tblGrid>
                <a:gridCol w="2620349">
                  <a:extLst>
                    <a:ext uri="{9D8B030D-6E8A-4147-A177-3AD203B41FA5}">
                      <a16:colId xmlns:a16="http://schemas.microsoft.com/office/drawing/2014/main" val="3772641327"/>
                    </a:ext>
                  </a:extLst>
                </a:gridCol>
                <a:gridCol w="2620349">
                  <a:extLst>
                    <a:ext uri="{9D8B030D-6E8A-4147-A177-3AD203B41FA5}">
                      <a16:colId xmlns:a16="http://schemas.microsoft.com/office/drawing/2014/main" val="1037081305"/>
                    </a:ext>
                  </a:extLst>
                </a:gridCol>
                <a:gridCol w="2620349">
                  <a:extLst>
                    <a:ext uri="{9D8B030D-6E8A-4147-A177-3AD203B41FA5}">
                      <a16:colId xmlns:a16="http://schemas.microsoft.com/office/drawing/2014/main" val="3137855659"/>
                    </a:ext>
                  </a:extLst>
                </a:gridCol>
                <a:gridCol w="2620349">
                  <a:extLst>
                    <a:ext uri="{9D8B030D-6E8A-4147-A177-3AD203B41FA5}">
                      <a16:colId xmlns:a16="http://schemas.microsoft.com/office/drawing/2014/main" val="1922994252"/>
                    </a:ext>
                  </a:extLst>
                </a:gridCol>
              </a:tblGrid>
              <a:tr h="253828">
                <a:tc>
                  <a:txBody>
                    <a:bodyPr/>
                    <a:lstStyle/>
                    <a:p>
                      <a:pPr>
                        <a:buNone/>
                      </a:pPr>
                      <a:r>
                        <a:rPr lang="en-IN" sz="1200" b="1" dirty="0">
                          <a:solidFill>
                            <a:schemeClr val="bg1"/>
                          </a:solidFill>
                          <a:latin typeface="Arial" panose="020B0604020202020204" pitchFamily="34" charset="0"/>
                          <a:cs typeface="Arial" panose="020B0604020202020204" pitchFamily="34" charset="0"/>
                        </a:rPr>
                        <a:t>Evaluation Component</a:t>
                      </a:r>
                    </a:p>
                  </a:txBody>
                  <a:tcPr marL="36261" marR="36261" marT="18131" marB="18131" anchor="ctr">
                    <a:lnL>
                      <a:noFill/>
                    </a:lnL>
                    <a:lnR>
                      <a:noFill/>
                    </a:lnR>
                    <a:lnT>
                      <a:noFill/>
                    </a:lnT>
                    <a:lnB>
                      <a:noFill/>
                    </a:lnB>
                    <a:solidFill>
                      <a:schemeClr val="accent1"/>
                    </a:solidFill>
                  </a:tcPr>
                </a:tc>
                <a:tc>
                  <a:txBody>
                    <a:bodyPr/>
                    <a:lstStyle/>
                    <a:p>
                      <a:pPr>
                        <a:buNone/>
                      </a:pPr>
                      <a:r>
                        <a:rPr lang="en-IN" sz="1200" b="1" dirty="0">
                          <a:solidFill>
                            <a:schemeClr val="bg1"/>
                          </a:solidFill>
                          <a:latin typeface="Arial" panose="020B0604020202020204" pitchFamily="34" charset="0"/>
                          <a:cs typeface="Arial" panose="020B0604020202020204" pitchFamily="34" charset="0"/>
                        </a:rPr>
                        <a:t>Focus Area</a:t>
                      </a:r>
                    </a:p>
                  </a:txBody>
                  <a:tcPr marL="36261" marR="36261" marT="18131" marB="18131" anchor="ctr">
                    <a:lnL>
                      <a:noFill/>
                    </a:lnL>
                    <a:lnR>
                      <a:noFill/>
                    </a:lnR>
                    <a:lnT>
                      <a:noFill/>
                    </a:lnT>
                    <a:lnB>
                      <a:noFill/>
                    </a:lnB>
                    <a:solidFill>
                      <a:schemeClr val="accent1"/>
                    </a:solidFill>
                  </a:tcPr>
                </a:tc>
                <a:tc>
                  <a:txBody>
                    <a:bodyPr/>
                    <a:lstStyle/>
                    <a:p>
                      <a:pPr>
                        <a:buNone/>
                      </a:pPr>
                      <a:r>
                        <a:rPr lang="en-IN" sz="1200" b="1" dirty="0">
                          <a:solidFill>
                            <a:schemeClr val="bg1"/>
                          </a:solidFill>
                          <a:latin typeface="Arial" panose="020B0604020202020204" pitchFamily="34" charset="0"/>
                          <a:cs typeface="Arial" panose="020B0604020202020204" pitchFamily="34" charset="0"/>
                        </a:rPr>
                        <a:t>Evaluation Methods &amp; Metrics</a:t>
                      </a:r>
                    </a:p>
                  </a:txBody>
                  <a:tcPr marL="36261" marR="36261" marT="18131" marB="18131" anchor="ctr">
                    <a:lnL>
                      <a:noFill/>
                    </a:lnL>
                    <a:lnR>
                      <a:noFill/>
                    </a:lnR>
                    <a:lnT>
                      <a:noFill/>
                    </a:lnT>
                    <a:lnB>
                      <a:noFill/>
                    </a:lnB>
                    <a:solidFill>
                      <a:schemeClr val="accent1"/>
                    </a:solidFill>
                  </a:tcPr>
                </a:tc>
                <a:tc>
                  <a:txBody>
                    <a:bodyPr/>
                    <a:lstStyle/>
                    <a:p>
                      <a:pPr>
                        <a:buNone/>
                      </a:pPr>
                      <a:r>
                        <a:rPr lang="en-IN" sz="1200" b="1" dirty="0">
                          <a:solidFill>
                            <a:schemeClr val="bg1"/>
                          </a:solidFill>
                          <a:latin typeface="Arial" panose="020B0604020202020204" pitchFamily="34" charset="0"/>
                          <a:cs typeface="Arial" panose="020B0604020202020204" pitchFamily="34" charset="0"/>
                        </a:rPr>
                        <a:t>Example/Illustration</a:t>
                      </a:r>
                    </a:p>
                  </a:txBody>
                  <a:tcPr marL="36261" marR="36261" marT="18131" marB="18131" anchor="ctr">
                    <a:lnL>
                      <a:noFill/>
                    </a:lnL>
                    <a:lnR>
                      <a:noFill/>
                    </a:lnR>
                    <a:lnT>
                      <a:noFill/>
                    </a:lnT>
                    <a:lnB>
                      <a:noFill/>
                    </a:lnB>
                    <a:solidFill>
                      <a:schemeClr val="accent1"/>
                    </a:solidFill>
                  </a:tcPr>
                </a:tc>
                <a:extLst>
                  <a:ext uri="{0D108BD9-81ED-4DB2-BD59-A6C34878D82A}">
                    <a16:rowId xmlns:a16="http://schemas.microsoft.com/office/drawing/2014/main" val="991639244"/>
                  </a:ext>
                </a:extLst>
              </a:tr>
              <a:tr h="1232879">
                <a:tc>
                  <a:txBody>
                    <a:bodyPr/>
                    <a:lstStyle/>
                    <a:p>
                      <a:pPr>
                        <a:buNone/>
                      </a:pPr>
                      <a:r>
                        <a:rPr lang="en-IN" sz="1200" b="1">
                          <a:latin typeface="Arial" panose="020B0604020202020204" pitchFamily="34" charset="0"/>
                          <a:cs typeface="Arial" panose="020B0604020202020204" pitchFamily="34" charset="0"/>
                        </a:rPr>
                        <a:t>Trajectory</a:t>
                      </a:r>
                      <a:endParaRPr lang="en-IN"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Sequence of actions executed by the agent</a:t>
                      </a: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Exact Match</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(perfectly matches ideal actions)</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In-Order Match</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(correct actions in correct order, allows extra actions)</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Any-Order Match</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(correct actions, any order)</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Precision &amp; Recall</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(measures relevant and essential actions identified)</a:t>
                      </a:r>
                      <a:endParaRPr lang="en-US"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Ideal vs. Predicted tool-call sequence (e.g., searching databases, calling APIs)</a:t>
                      </a:r>
                    </a:p>
                  </a:txBody>
                  <a:tcPr marL="36261" marR="36261" marT="18131" marB="18131" anchor="ctr">
                    <a:lnL>
                      <a:noFill/>
                    </a:lnL>
                    <a:lnR>
                      <a:noFill/>
                    </a:lnR>
                    <a:lnT>
                      <a:noFill/>
                    </a:lnT>
                    <a:lnB>
                      <a:noFill/>
                    </a:lnB>
                    <a:noFill/>
                  </a:tcPr>
                </a:tc>
                <a:extLst>
                  <a:ext uri="{0D108BD9-81ED-4DB2-BD59-A6C34878D82A}">
                    <a16:rowId xmlns:a16="http://schemas.microsoft.com/office/drawing/2014/main" val="3865534273"/>
                  </a:ext>
                </a:extLst>
              </a:tr>
              <a:tr h="580178">
                <a:tc>
                  <a:txBody>
                    <a:bodyPr/>
                    <a:lstStyle/>
                    <a:p>
                      <a:pPr>
                        <a:buNone/>
                      </a:pPr>
                      <a:r>
                        <a:rPr lang="en-IN" sz="1200" b="1">
                          <a:latin typeface="Arial" panose="020B0604020202020204" pitchFamily="34" charset="0"/>
                          <a:cs typeface="Arial" panose="020B0604020202020204" pitchFamily="34" charset="0"/>
                        </a:rPr>
                        <a:t>Learning</a:t>
                      </a:r>
                      <a:r>
                        <a:rPr lang="en-IN" sz="1200">
                          <a:latin typeface="Arial" panose="020B0604020202020204" pitchFamily="34" charset="0"/>
                          <a:cs typeface="Arial" panose="020B0604020202020204" pitchFamily="34" charset="0"/>
                        </a:rPr>
                        <a:t> </a:t>
                      </a:r>
                      <a:r>
                        <a:rPr lang="en-IN" sz="1200" i="1">
                          <a:latin typeface="Arial" panose="020B0604020202020204" pitchFamily="34" charset="0"/>
                          <a:cs typeface="Arial" panose="020B0604020202020204" pitchFamily="34" charset="0"/>
                        </a:rPr>
                        <a:t>(Core Model)</a:t>
                      </a:r>
                      <a:endParaRPr lang="en-IN"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Model reasoning, understanding, and internal thought processes</a:t>
                      </a: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Qualitative Evaluation</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(manual log review)</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LLM-as-a-Judge</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(scalable scoring of coherence, logic)</a:t>
                      </a:r>
                      <a:endParaRPr lang="en-US"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Reviewing agent logs:thought → action → observation → final_answer</a:t>
                      </a:r>
                    </a:p>
                  </a:txBody>
                  <a:tcPr marL="36261" marR="36261" marT="18131" marB="18131" anchor="ctr">
                    <a:lnL>
                      <a:noFill/>
                    </a:lnL>
                    <a:lnR>
                      <a:noFill/>
                    </a:lnR>
                    <a:lnT>
                      <a:noFill/>
                    </a:lnT>
                    <a:lnB>
                      <a:noFill/>
                    </a:lnB>
                    <a:noFill/>
                  </a:tcPr>
                </a:tc>
                <a:extLst>
                  <a:ext uri="{0D108BD9-81ED-4DB2-BD59-A6C34878D82A}">
                    <a16:rowId xmlns:a16="http://schemas.microsoft.com/office/drawing/2014/main" val="973446591"/>
                  </a:ext>
                </a:extLst>
              </a:tr>
              <a:tr h="580178">
                <a:tc>
                  <a:txBody>
                    <a:bodyPr/>
                    <a:lstStyle/>
                    <a:p>
                      <a:pPr>
                        <a:buNone/>
                      </a:pPr>
                      <a:r>
                        <a:rPr lang="en-IN" sz="1200" b="1">
                          <a:latin typeface="Arial" panose="020B0604020202020204" pitchFamily="34" charset="0"/>
                          <a:cs typeface="Arial" panose="020B0604020202020204" pitchFamily="34" charset="0"/>
                        </a:rPr>
                        <a:t>Planning</a:t>
                      </a:r>
                      <a:endParaRPr lang="en-IN"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Quality of agent's chosen tools/actions based on a given goal</a:t>
                      </a: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Precision</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(correctness of predicted tools/actions)</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Recall</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(coverage of essential tools/actions)</a:t>
                      </a:r>
                      <a:endParaRPr lang="en-US"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Simulator comparing predicted vs. expected JSON tool calls (e.g., search_flights, search_hotels)</a:t>
                      </a:r>
                    </a:p>
                  </a:txBody>
                  <a:tcPr marL="36261" marR="36261" marT="18131" marB="18131" anchor="ctr">
                    <a:lnL>
                      <a:noFill/>
                    </a:lnL>
                    <a:lnR>
                      <a:noFill/>
                    </a:lnR>
                    <a:lnT>
                      <a:noFill/>
                    </a:lnT>
                    <a:lnB>
                      <a:noFill/>
                    </a:lnB>
                    <a:noFill/>
                  </a:tcPr>
                </a:tc>
                <a:extLst>
                  <a:ext uri="{0D108BD9-81ED-4DB2-BD59-A6C34878D82A}">
                    <a16:rowId xmlns:a16="http://schemas.microsoft.com/office/drawing/2014/main" val="102726328"/>
                  </a:ext>
                </a:extLst>
              </a:tr>
              <a:tr h="1015312">
                <a:tc>
                  <a:txBody>
                    <a:bodyPr/>
                    <a:lstStyle/>
                    <a:p>
                      <a:pPr>
                        <a:buNone/>
                      </a:pPr>
                      <a:r>
                        <a:rPr lang="en-IN" sz="1200" b="1">
                          <a:latin typeface="Arial" panose="020B0604020202020204" pitchFamily="34" charset="0"/>
                          <a:cs typeface="Arial" panose="020B0604020202020204" pitchFamily="34" charset="0"/>
                        </a:rPr>
                        <a:t>Tool Use</a:t>
                      </a:r>
                      <a:endParaRPr lang="en-IN"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Reliability and correctness of individual tool execution</a:t>
                      </a: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Execution Success</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(no crashes/errors)</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Output Correctness</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(expected data &amp; format)</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Error Handling</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(graceful failures on invalid input)</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Latency</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(acceptable execution time)</a:t>
                      </a:r>
                      <a:endParaRPr lang="en-US"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Unit tests for individual tool execution (e.g., get_weather(location="London"))</a:t>
                      </a:r>
                    </a:p>
                  </a:txBody>
                  <a:tcPr marL="36261" marR="36261" marT="18131" marB="18131" anchor="ctr">
                    <a:lnL>
                      <a:noFill/>
                    </a:lnL>
                    <a:lnR>
                      <a:noFill/>
                    </a:lnR>
                    <a:lnT>
                      <a:noFill/>
                    </a:lnT>
                    <a:lnB>
                      <a:noFill/>
                    </a:lnB>
                    <a:noFill/>
                  </a:tcPr>
                </a:tc>
                <a:extLst>
                  <a:ext uri="{0D108BD9-81ED-4DB2-BD59-A6C34878D82A}">
                    <a16:rowId xmlns:a16="http://schemas.microsoft.com/office/drawing/2014/main" val="215133400"/>
                  </a:ext>
                </a:extLst>
              </a:tr>
              <a:tr h="688962">
                <a:tc>
                  <a:txBody>
                    <a:bodyPr/>
                    <a:lstStyle/>
                    <a:p>
                      <a:pPr>
                        <a:buNone/>
                      </a:pPr>
                      <a:r>
                        <a:rPr lang="en-IN" sz="1200" b="1">
                          <a:latin typeface="Arial" panose="020B0604020202020204" pitchFamily="34" charset="0"/>
                          <a:cs typeface="Arial" panose="020B0604020202020204" pitchFamily="34" charset="0"/>
                        </a:rPr>
                        <a:t>Memory</a:t>
                      </a:r>
                      <a:endParaRPr lang="en-IN"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IN" sz="1200">
                          <a:latin typeface="Arial" panose="020B0604020202020204" pitchFamily="34" charset="0"/>
                          <a:cs typeface="Arial" panose="020B0604020202020204" pitchFamily="34" charset="0"/>
                        </a:rPr>
                        <a:t>Accurate data storage, retrieval, and ignoring irrelevant information</a:t>
                      </a:r>
                    </a:p>
                  </a:txBody>
                  <a:tcPr marL="36261" marR="36261" marT="18131" marB="18131" anchor="ctr">
                    <a:lnL>
                      <a:noFill/>
                    </a:lnL>
                    <a:lnR>
                      <a:noFill/>
                    </a:lnR>
                    <a:lnT>
                      <a:noFill/>
                    </a:lnT>
                    <a:lnB>
                      <a:noFill/>
                    </a:lnB>
                    <a:noFill/>
                  </a:tcPr>
                </a:tc>
                <a:tc>
                  <a:txBody>
                    <a:bodyPr/>
                    <a:lstStyle/>
                    <a:p>
                      <a:pPr>
                        <a:buNone/>
                      </a:pP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Retrieval Accuracy</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(correctness in stored data retrieval)</a:t>
                      </a:r>
                      <a:r>
                        <a:rPr lang="en-US" sz="1200">
                          <a:latin typeface="Arial" panose="020B0604020202020204" pitchFamily="34" charset="0"/>
                          <a:cs typeface="Arial" panose="020B0604020202020204" pitchFamily="34" charset="0"/>
                        </a:rPr>
                        <a:t>- </a:t>
                      </a:r>
                      <a:r>
                        <a:rPr lang="en-US" sz="1200" b="1">
                          <a:latin typeface="Arial" panose="020B0604020202020204" pitchFamily="34" charset="0"/>
                          <a:cs typeface="Arial" panose="020B0604020202020204" pitchFamily="34" charset="0"/>
                        </a:rPr>
                        <a:t>Precision &amp; Recall</a:t>
                      </a:r>
                      <a:r>
                        <a:rPr lang="en-US" sz="1200">
                          <a:latin typeface="Arial" panose="020B0604020202020204" pitchFamily="34" charset="0"/>
                          <a:cs typeface="Arial" panose="020B0604020202020204" pitchFamily="34" charset="0"/>
                        </a:rPr>
                        <a:t> </a:t>
                      </a:r>
                      <a:r>
                        <a:rPr lang="en-US" sz="1200" i="1">
                          <a:latin typeface="Arial" panose="020B0604020202020204" pitchFamily="34" charset="0"/>
                          <a:cs typeface="Arial" panose="020B0604020202020204" pitchFamily="34" charset="0"/>
                        </a:rPr>
                        <a:t>(hits, misses, and irrelevant data retrieval)</a:t>
                      </a:r>
                      <a:endParaRPr lang="en-US" sz="1200">
                        <a:latin typeface="Arial" panose="020B0604020202020204" pitchFamily="34" charset="0"/>
                        <a:cs typeface="Arial" panose="020B0604020202020204" pitchFamily="34" charset="0"/>
                      </a:endParaRPr>
                    </a:p>
                  </a:txBody>
                  <a:tcPr marL="36261" marR="36261" marT="18131" marB="18131" anchor="ctr">
                    <a:lnL>
                      <a:noFill/>
                    </a:lnL>
                    <a:lnR>
                      <a:noFill/>
                    </a:lnR>
                    <a:lnT>
                      <a:noFill/>
                    </a:lnT>
                    <a:lnB>
                      <a:noFill/>
                    </a:lnB>
                    <a:noFill/>
                  </a:tcPr>
                </a:tc>
                <a:tc>
                  <a:txBody>
                    <a:bodyPr/>
                    <a:lstStyle/>
                    <a:p>
                      <a:pPr>
                        <a:buNone/>
                      </a:pPr>
                      <a:r>
                        <a:rPr lang="en-US" sz="1200" dirty="0">
                          <a:latin typeface="Arial" panose="020B0604020202020204" pitchFamily="34" charset="0"/>
                          <a:cs typeface="Arial" panose="020B0604020202020204" pitchFamily="34" charset="0"/>
                        </a:rPr>
                        <a:t>Memory Retrieval Simulator (e.g., querying "cancel order refund," expecting document retrieval: doc-orders, doc-returns)</a:t>
                      </a:r>
                    </a:p>
                  </a:txBody>
                  <a:tcPr marL="36261" marR="36261" marT="18131" marB="18131" anchor="ctr">
                    <a:lnL>
                      <a:noFill/>
                    </a:lnL>
                    <a:lnR>
                      <a:noFill/>
                    </a:lnR>
                    <a:lnT>
                      <a:noFill/>
                    </a:lnT>
                    <a:lnB>
                      <a:noFill/>
                    </a:lnB>
                    <a:noFill/>
                  </a:tcPr>
                </a:tc>
                <a:extLst>
                  <a:ext uri="{0D108BD9-81ED-4DB2-BD59-A6C34878D82A}">
                    <a16:rowId xmlns:a16="http://schemas.microsoft.com/office/drawing/2014/main" val="2474980581"/>
                  </a:ext>
                </a:extLst>
              </a:tr>
            </a:tbl>
          </a:graphicData>
        </a:graphic>
      </p:graphicFrame>
    </p:spTree>
    <p:extLst>
      <p:ext uri="{BB962C8B-B14F-4D97-AF65-F5344CB8AC3E}">
        <p14:creationId xmlns:p14="http://schemas.microsoft.com/office/powerpoint/2010/main" val="2474855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1036</Words>
  <Application>Microsoft Office PowerPoint</Application>
  <PresentationFormat>Widescreen</PresentationFormat>
  <Paragraphs>61</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ui-sans-serif</vt:lpstr>
      <vt:lpstr>Office Theme</vt:lpstr>
      <vt:lpstr>Component Evaluation</vt:lpstr>
      <vt:lpstr>1. Evaluating Learning &amp; Reasoning (The Core Model)</vt:lpstr>
      <vt:lpstr>2. Evaluating Planning</vt:lpstr>
      <vt:lpstr>3. Evaluating Tool Use</vt:lpstr>
      <vt:lpstr>4. Evaluating Memory</vt:lpstr>
      <vt:lpstr>5. Evaluating Trajectory: Putting It All Together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Karthikeyan Nallakamachi</dc:creator>
  <cp:lastModifiedBy>Karthikeyan Nallakamachi</cp:lastModifiedBy>
  <cp:revision>2</cp:revision>
  <dcterms:created xsi:type="dcterms:W3CDTF">2025-07-03T07:17:39Z</dcterms:created>
  <dcterms:modified xsi:type="dcterms:W3CDTF">2025-07-03T07:42:48Z</dcterms:modified>
</cp:coreProperties>
</file>