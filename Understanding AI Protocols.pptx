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83" r:id="rId3"/>
    <p:sldId id="282" r:id="rId4"/>
    <p:sldId id="284" r:id="rId5"/>
    <p:sldId id="257" r:id="rId6"/>
    <p:sldId id="261" r:id="rId7"/>
    <p:sldId id="258" r:id="rId8"/>
    <p:sldId id="259" r:id="rId9"/>
    <p:sldId id="272" r:id="rId10"/>
    <p:sldId id="263" r:id="rId11"/>
    <p:sldId id="269" r:id="rId12"/>
    <p:sldId id="270" r:id="rId13"/>
    <p:sldId id="264" r:id="rId14"/>
    <p:sldId id="271" r:id="rId15"/>
    <p:sldId id="273" r:id="rId16"/>
    <p:sldId id="274" r:id="rId17"/>
    <p:sldId id="276" r:id="rId18"/>
    <p:sldId id="275" r:id="rId19"/>
    <p:sldId id="260" r:id="rId20"/>
    <p:sldId id="262" r:id="rId21"/>
    <p:sldId id="277" r:id="rId22"/>
    <p:sldId id="278" r:id="rId23"/>
    <p:sldId id="279" r:id="rId24"/>
    <p:sldId id="280" r:id="rId25"/>
    <p:sldId id="285"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A479C0-CEC5-4CF4-9785-43973BBCFCB5}">
          <p14:sldIdLst>
            <p14:sldId id="256"/>
            <p14:sldId id="283"/>
            <p14:sldId id="282"/>
            <p14:sldId id="284"/>
            <p14:sldId id="257"/>
            <p14:sldId id="261"/>
          </p14:sldIdLst>
        </p14:section>
        <p14:section name="Function Calling" id="{326747F7-E950-4298-BDD9-BFD5CDD4D2CE}">
          <p14:sldIdLst>
            <p14:sldId id="258"/>
            <p14:sldId id="259"/>
            <p14:sldId id="272"/>
            <p14:sldId id="263"/>
          </p14:sldIdLst>
        </p14:section>
        <p14:section name="MCP" id="{E60E103E-7479-4CEA-9225-6920DE117AC0}">
          <p14:sldIdLst>
            <p14:sldId id="269"/>
            <p14:sldId id="270"/>
            <p14:sldId id="264"/>
            <p14:sldId id="271"/>
          </p14:sldIdLst>
        </p14:section>
        <p14:section name="A2A" id="{F93012EF-DA4B-4780-B165-E6EA1AE69D05}">
          <p14:sldIdLst>
            <p14:sldId id="273"/>
            <p14:sldId id="274"/>
            <p14:sldId id="276"/>
            <p14:sldId id="275"/>
          </p14:sldIdLst>
        </p14:section>
        <p14:section name="How They Work Together" id="{3AF47764-20EE-4581-B6AE-FFC1A193DA4E}">
          <p14:sldIdLst>
            <p14:sldId id="260"/>
            <p14:sldId id="262"/>
            <p14:sldId id="277"/>
            <p14:sldId id="278"/>
            <p14:sldId id="279"/>
            <p14:sldId id="280"/>
            <p14:sldId id="285"/>
            <p14:sldId id="28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42" autoAdjust="0"/>
    <p:restoredTop sz="94852" autoAdjust="0"/>
  </p:normalViewPr>
  <p:slideViewPr>
    <p:cSldViewPr snapToGrid="0">
      <p:cViewPr varScale="1">
        <p:scale>
          <a:sx n="83" d="100"/>
          <a:sy n="83" d="100"/>
        </p:scale>
        <p:origin x="759"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70BFA-89D7-4945-BAAB-8C8E64995675}" type="datetimeFigureOut">
              <a:rPr lang="en-IN" smtClean="0"/>
              <a:t>13-06-2025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9C90F-BA4F-4C12-A769-84EF88D2D721}" type="slidenum">
              <a:rPr lang="en-IN" smtClean="0"/>
              <a:t>‹#›</a:t>
            </a:fld>
            <a:endParaRPr lang="en-IN"/>
          </a:p>
        </p:txBody>
      </p:sp>
    </p:spTree>
    <p:extLst>
      <p:ext uri="{BB962C8B-B14F-4D97-AF65-F5344CB8AC3E}">
        <p14:creationId xmlns:p14="http://schemas.microsoft.com/office/powerpoint/2010/main" val="4261012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F9C90F-BA4F-4C12-A769-84EF88D2D721}" type="slidenum">
              <a:rPr lang="en-IN" smtClean="0"/>
              <a:t>13</a:t>
            </a:fld>
            <a:endParaRPr lang="en-IN"/>
          </a:p>
        </p:txBody>
      </p:sp>
    </p:spTree>
    <p:extLst>
      <p:ext uri="{BB962C8B-B14F-4D97-AF65-F5344CB8AC3E}">
        <p14:creationId xmlns:p14="http://schemas.microsoft.com/office/powerpoint/2010/main" val="2624119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8B7BF-21E0-CA09-F2AB-5538ED214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D4044-DE74-9EA1-2A89-D7A677A12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796BB-4872-C65E-32CC-AA06572D1183}"/>
              </a:ext>
            </a:extLst>
          </p:cNvPr>
          <p:cNvSpPr>
            <a:spLocks noGrp="1"/>
          </p:cNvSpPr>
          <p:nvPr>
            <p:ph type="body" idx="1"/>
          </p:nvPr>
        </p:nvSpPr>
        <p:spPr/>
        <p:txBody>
          <a:bodyPr/>
          <a:lstStyle/>
          <a:p>
            <a:r>
              <a:rPr lang="en-US" b="1" dirty="0"/>
              <a:t>Dynamic Treasury Management &amp; Liquidity Optimization</a:t>
            </a:r>
            <a:endParaRPr lang="en-US" dirty="0"/>
          </a:p>
          <a:p>
            <a:r>
              <a:rPr lang="en-US" b="1" dirty="0"/>
              <a:t>Scenario:</a:t>
            </a:r>
            <a:r>
              <a:rPr lang="en-US" dirty="0"/>
              <a:t> A bank needs to manage its internal liquidity, optimize cash flows across various accounts and currencies, and fulfill regulatory reserve requirements in real-time.</a:t>
            </a:r>
          </a:p>
          <a:p>
            <a:r>
              <a:rPr lang="en-US" b="1" dirty="0"/>
              <a:t>Agent to Agent Protocol for:</a:t>
            </a:r>
            <a:r>
              <a:rPr lang="en-US" dirty="0"/>
              <a:t> Automated and intelligent management of a bank's treasury operations, including cash positioning, funding, and investment.</a:t>
            </a:r>
          </a:p>
          <a:p>
            <a:r>
              <a:rPr lang="en-US" b="1" dirty="0"/>
              <a:t>Application:</a:t>
            </a:r>
            <a:endParaRPr lang="en-US" dirty="0"/>
          </a:p>
          <a:p>
            <a:pPr lvl="1"/>
            <a:r>
              <a:rPr lang="en-US" b="1" dirty="0"/>
              <a:t>Multi-Agent System (MAS) Components:</a:t>
            </a:r>
            <a:r>
              <a:rPr lang="en-US" dirty="0"/>
              <a:t> </a:t>
            </a:r>
          </a:p>
          <a:p>
            <a:pPr lvl="2"/>
            <a:r>
              <a:rPr lang="en-US" b="1" dirty="0"/>
              <a:t>Cash Position Agent:</a:t>
            </a:r>
            <a:r>
              <a:rPr lang="en-US" dirty="0"/>
              <a:t> Tracks real-time balances across all internal and external accounts.</a:t>
            </a:r>
          </a:p>
          <a:p>
            <a:pPr lvl="2"/>
            <a:r>
              <a:rPr lang="en-US" b="1" dirty="0"/>
              <a:t>Funding Agent:</a:t>
            </a:r>
            <a:r>
              <a:rPr lang="en-US" dirty="0"/>
              <a:t> Identifies funding needs or surpluses.</a:t>
            </a:r>
          </a:p>
          <a:p>
            <a:pPr lvl="2"/>
            <a:r>
              <a:rPr lang="en-US" b="1" dirty="0"/>
              <a:t>Investment Agent:</a:t>
            </a:r>
            <a:r>
              <a:rPr lang="en-US" dirty="0"/>
              <a:t> Seeks short-term investment opportunities for surplus cash.</a:t>
            </a:r>
          </a:p>
          <a:p>
            <a:pPr lvl="2"/>
            <a:r>
              <a:rPr lang="en-US" b="1" dirty="0"/>
              <a:t>Borrowing Agent:</a:t>
            </a:r>
            <a:r>
              <a:rPr lang="en-US" dirty="0"/>
              <a:t> Identifies borrowing opportunities when liquidity is tight.</a:t>
            </a:r>
          </a:p>
          <a:p>
            <a:pPr lvl="2"/>
            <a:r>
              <a:rPr lang="en-US" b="1" dirty="0"/>
              <a:t>Regulatory Reserve Agent:</a:t>
            </a:r>
            <a:r>
              <a:rPr lang="en-US" dirty="0"/>
              <a:t> Monitors compliance with central bank reserve requirements.</a:t>
            </a:r>
          </a:p>
          <a:p>
            <a:pPr lvl="2"/>
            <a:r>
              <a:rPr lang="en-US" b="1" dirty="0"/>
              <a:t>Risk Management Agent:</a:t>
            </a:r>
            <a:r>
              <a:rPr lang="en-US" dirty="0"/>
              <a:t> Assesses financial risks (interest rate, FX, credit).</a:t>
            </a:r>
          </a:p>
          <a:p>
            <a:pPr lvl="2"/>
            <a:r>
              <a:rPr lang="en-US" b="1" dirty="0"/>
              <a:t>Forecasting Agent:</a:t>
            </a:r>
            <a:r>
              <a:rPr lang="en-US" dirty="0"/>
              <a:t> Predicts future cash flows.</a:t>
            </a:r>
          </a:p>
          <a:p>
            <a:r>
              <a:rPr lang="en-US" b="1" dirty="0"/>
              <a:t>Benefit:</a:t>
            </a:r>
            <a:endParaRPr lang="en-US" dirty="0"/>
          </a:p>
          <a:p>
            <a:pPr lvl="1"/>
            <a:r>
              <a:rPr lang="en-US" b="1" dirty="0"/>
              <a:t>Optimized Liquidity:</a:t>
            </a:r>
            <a:r>
              <a:rPr lang="en-US" dirty="0"/>
              <a:t> Ensures the bank always has sufficient funds while minimizing idle cash, improving capital efficiency.</a:t>
            </a:r>
          </a:p>
          <a:p>
            <a:pPr lvl="1"/>
            <a:r>
              <a:rPr lang="en-US" b="1" dirty="0"/>
              <a:t>Reduced Funding Costs:</a:t>
            </a:r>
            <a:r>
              <a:rPr lang="en-US" dirty="0"/>
              <a:t> Automatically identifies the cheapest sources of funds and the best investment opportunities.</a:t>
            </a:r>
          </a:p>
          <a:p>
            <a:pPr lvl="1"/>
            <a:r>
              <a:rPr lang="en-US" b="1" dirty="0"/>
              <a:t>Enhanced Compliance:</a:t>
            </a:r>
            <a:r>
              <a:rPr lang="en-US" dirty="0"/>
              <a:t> Real-time monitoring and adjustment ensure adherence to central bank reserve requirements.</a:t>
            </a:r>
          </a:p>
          <a:p>
            <a:pPr lvl="1"/>
            <a:r>
              <a:rPr lang="en-US" b="1" dirty="0"/>
              <a:t>Improved Risk Management:</a:t>
            </a:r>
            <a:r>
              <a:rPr lang="en-US" dirty="0"/>
              <a:t> Proactive identification and mitigation of liquidity and market risks.</a:t>
            </a:r>
          </a:p>
          <a:p>
            <a:pPr lvl="1"/>
            <a:r>
              <a:rPr lang="en-US" b="1" dirty="0"/>
              <a:t>24/7 Operations:</a:t>
            </a:r>
            <a:r>
              <a:rPr lang="en-US" dirty="0"/>
              <a:t> Automated agents can operate continuously, reacting to market changes and internal needs outside of human working hours.</a:t>
            </a:r>
          </a:p>
          <a:p>
            <a:endParaRPr lang="en-IN" dirty="0"/>
          </a:p>
        </p:txBody>
      </p:sp>
      <p:sp>
        <p:nvSpPr>
          <p:cNvPr id="4" name="Slide Number Placeholder 3">
            <a:extLst>
              <a:ext uri="{FF2B5EF4-FFF2-40B4-BE49-F238E27FC236}">
                <a16:creationId xmlns:a16="http://schemas.microsoft.com/office/drawing/2014/main" id="{1C3E3DBA-F7AF-6660-05D5-22CC227B55CF}"/>
              </a:ext>
            </a:extLst>
          </p:cNvPr>
          <p:cNvSpPr>
            <a:spLocks noGrp="1"/>
          </p:cNvSpPr>
          <p:nvPr>
            <p:ph type="sldNum" sz="quarter" idx="5"/>
          </p:nvPr>
        </p:nvSpPr>
        <p:spPr/>
        <p:txBody>
          <a:bodyPr/>
          <a:lstStyle/>
          <a:p>
            <a:fld id="{86F9C90F-BA4F-4C12-A769-84EF88D2D721}" type="slidenum">
              <a:rPr lang="en-IN" smtClean="0"/>
              <a:t>17</a:t>
            </a:fld>
            <a:endParaRPr lang="en-IN"/>
          </a:p>
        </p:txBody>
      </p:sp>
    </p:spTree>
    <p:extLst>
      <p:ext uri="{BB962C8B-B14F-4D97-AF65-F5344CB8AC3E}">
        <p14:creationId xmlns:p14="http://schemas.microsoft.com/office/powerpoint/2010/main" val="192191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751-F24E-FD86-2A76-EDA55B908A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F7CDFA7-E001-93BB-82D6-3328A66B6E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E9698C-4139-8EDD-3395-F5E386A3557D}"/>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5" name="Footer Placeholder 4">
            <a:extLst>
              <a:ext uri="{FF2B5EF4-FFF2-40B4-BE49-F238E27FC236}">
                <a16:creationId xmlns:a16="http://schemas.microsoft.com/office/drawing/2014/main" id="{93A6199B-3B8F-05B9-A902-34E77BBCB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9D17C8-4C2C-557D-B75C-C52761377722}"/>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4281630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20E6-CB52-1B9C-BF11-47D3C9FE9A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A339F6-3E06-2103-8618-F9D905840F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B326A2-92EF-2246-DEBD-7800DE5CFC3C}"/>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5" name="Footer Placeholder 4">
            <a:extLst>
              <a:ext uri="{FF2B5EF4-FFF2-40B4-BE49-F238E27FC236}">
                <a16:creationId xmlns:a16="http://schemas.microsoft.com/office/drawing/2014/main" id="{ADB64813-1BC1-E535-6856-D6C22DAE5B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A0C320-3ABB-C02E-D421-24069088D250}"/>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2925031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CE620-4E0A-8856-92A7-FAD22D9EF8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1EB8C2-3345-5D74-CEEC-96324DC302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30071E-28A8-7F14-F5B8-03DF97D9550A}"/>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5" name="Footer Placeholder 4">
            <a:extLst>
              <a:ext uri="{FF2B5EF4-FFF2-40B4-BE49-F238E27FC236}">
                <a16:creationId xmlns:a16="http://schemas.microsoft.com/office/drawing/2014/main" id="{81919801-5602-3BFA-50EE-EF2E0F9C3E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B68509-CC16-8578-3376-79A54BBF5D72}"/>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28929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2862-8B4B-8BAA-2FAA-2DF3BB17F2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C06604-6E16-09C5-A2CA-8DE16AB6FF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1BD0C0-1DD8-8332-2FBC-17B975FD61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29FC6E6-AC1B-5906-7DFA-583613DBA28E}"/>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6" name="Footer Placeholder 5">
            <a:extLst>
              <a:ext uri="{FF2B5EF4-FFF2-40B4-BE49-F238E27FC236}">
                <a16:creationId xmlns:a16="http://schemas.microsoft.com/office/drawing/2014/main" id="{E4971964-300F-9CB3-4122-81FDFDE51C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BB2083-FBEF-4167-384B-61414B51C75B}"/>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827270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3390-EAE8-AB4A-7941-7BF08B8A13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E65793-BF28-2782-ADE1-4BFC9793AA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029CF3-8A54-D8FE-7A53-4516126014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9AC49F-5759-2E55-A05A-911FA192EB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47C54B-9FE6-803D-7FD2-1F4DFCED0D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8E5151-2EC8-BCE2-CF17-96EFD9DBDE40}"/>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8" name="Footer Placeholder 7">
            <a:extLst>
              <a:ext uri="{FF2B5EF4-FFF2-40B4-BE49-F238E27FC236}">
                <a16:creationId xmlns:a16="http://schemas.microsoft.com/office/drawing/2014/main" id="{27CA204A-0AFE-62CF-BDCC-506C5BBADB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84242A-E46F-423A-3650-7E4DA5FD4F20}"/>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063905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E29B-D49D-D815-8E09-D2A5548304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7C5173-08D0-4EFE-DD45-E038DAB7570E}"/>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4" name="Footer Placeholder 3">
            <a:extLst>
              <a:ext uri="{FF2B5EF4-FFF2-40B4-BE49-F238E27FC236}">
                <a16:creationId xmlns:a16="http://schemas.microsoft.com/office/drawing/2014/main" id="{8AE7908B-A514-1EEB-4563-2672665B69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56C733-FB14-D5C8-9DFA-B8C407E5CB01}"/>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450020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DF442D-AE69-96C9-3EC5-57299971FD67}"/>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3" name="Footer Placeholder 2">
            <a:extLst>
              <a:ext uri="{FF2B5EF4-FFF2-40B4-BE49-F238E27FC236}">
                <a16:creationId xmlns:a16="http://schemas.microsoft.com/office/drawing/2014/main" id="{6643849C-1179-3F3B-3264-FF5B216213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476A69-C706-E0AB-4CE5-91B78FBA30FF}"/>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61703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20B5-81C2-508F-E981-722173B44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996158-E4E3-38E7-14A3-1BA5206F2A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DCC742-B3F1-B413-F36F-74DEE0012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EB3E09-AC39-7148-0A68-118C7F1412A3}"/>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6" name="Footer Placeholder 5">
            <a:extLst>
              <a:ext uri="{FF2B5EF4-FFF2-40B4-BE49-F238E27FC236}">
                <a16:creationId xmlns:a16="http://schemas.microsoft.com/office/drawing/2014/main" id="{AF4BA17F-EEBF-A0F8-D19D-ADF2FA8433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726438-FD2E-7B13-8B24-67437AEF430C}"/>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29983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A1B2-7DDA-CF97-E918-3037AD24D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C43AB0A-9791-001C-5CCE-E62DEA85F1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5A064E-6132-9601-49EE-51AC254FE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DF3E0E-AC45-5F24-C7C5-FC6422EDFBE3}"/>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6" name="Footer Placeholder 5">
            <a:extLst>
              <a:ext uri="{FF2B5EF4-FFF2-40B4-BE49-F238E27FC236}">
                <a16:creationId xmlns:a16="http://schemas.microsoft.com/office/drawing/2014/main" id="{9CEEC14B-D487-CFF4-F203-C74C980721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755DE3-5101-E002-1789-7D8C986EF9B3}"/>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944058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9124A-DEFF-17AE-2876-19471D5966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3476D5-8ABE-7B36-655B-82857F50D8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994453-8C51-7884-A73E-933A7B1601E5}"/>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5" name="Footer Placeholder 4">
            <a:extLst>
              <a:ext uri="{FF2B5EF4-FFF2-40B4-BE49-F238E27FC236}">
                <a16:creationId xmlns:a16="http://schemas.microsoft.com/office/drawing/2014/main" id="{6A132AEB-3C0F-4536-7BF9-1BDE6E8731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568092-A38F-A0A0-7716-D8C768C26106}"/>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634509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DE9C6E-30E9-9B75-C77E-4C41168668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3A61FA-EDC0-AAE8-14D0-DCE5057E00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4EC01B-6146-A3C4-6F13-81D48D2257C2}"/>
              </a:ext>
            </a:extLst>
          </p:cNvPr>
          <p:cNvSpPr>
            <a:spLocks noGrp="1"/>
          </p:cNvSpPr>
          <p:nvPr>
            <p:ph type="dt" sz="half" idx="10"/>
          </p:nvPr>
        </p:nvSpPr>
        <p:spPr/>
        <p:txBody>
          <a:bodyPr/>
          <a:lstStyle/>
          <a:p>
            <a:fld id="{A7077BA1-69D0-4E5B-93F6-2E41D23A0E57}" type="datetimeFigureOut">
              <a:rPr lang="en-IN" smtClean="0"/>
              <a:t>12-06-2025</a:t>
            </a:fld>
            <a:endParaRPr lang="en-IN"/>
          </a:p>
        </p:txBody>
      </p:sp>
      <p:sp>
        <p:nvSpPr>
          <p:cNvPr id="5" name="Footer Placeholder 4">
            <a:extLst>
              <a:ext uri="{FF2B5EF4-FFF2-40B4-BE49-F238E27FC236}">
                <a16:creationId xmlns:a16="http://schemas.microsoft.com/office/drawing/2014/main" id="{6146F508-030A-AF29-9FC3-DDEE1E61FE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4867FC-FF43-E909-6DCA-52AEEBD67B92}"/>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45138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594BD-F30B-92C0-DC87-9F45524DF8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341C84-100C-E140-F229-0769ED9404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AFF2D-E96E-DC19-C0D4-9D0B38AE83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077BA1-69D0-4E5B-93F6-2E41D23A0E57}" type="datetimeFigureOut">
              <a:rPr lang="en-IN" smtClean="0"/>
              <a:t>12-06-2025</a:t>
            </a:fld>
            <a:endParaRPr lang="en-IN"/>
          </a:p>
        </p:txBody>
      </p:sp>
      <p:sp>
        <p:nvSpPr>
          <p:cNvPr id="5" name="Footer Placeholder 4">
            <a:extLst>
              <a:ext uri="{FF2B5EF4-FFF2-40B4-BE49-F238E27FC236}">
                <a16:creationId xmlns:a16="http://schemas.microsoft.com/office/drawing/2014/main" id="{9D84FCBF-2637-D5E6-7DD0-82AC2C302F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8ED758F-2B0A-CAEF-A8F3-878C47FD98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425C80-91FF-4348-AE6D-3264C6ECE949}" type="slidenum">
              <a:rPr lang="en-IN" smtClean="0"/>
              <a:t>‹#›</a:t>
            </a:fld>
            <a:endParaRPr lang="en-IN"/>
          </a:p>
        </p:txBody>
      </p:sp>
    </p:spTree>
    <p:extLst>
      <p:ext uri="{BB962C8B-B14F-4D97-AF65-F5344CB8AC3E}">
        <p14:creationId xmlns:p14="http://schemas.microsoft.com/office/powerpoint/2010/main" val="2392482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rxiv.org/pdf/2504.16736"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rxiv.org/pdf/2504.16736"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zilliz.com/blog/function-calling-vs-mcp-vs-a2a-developers-guide-to-ai-agent-protocol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huggingface.co/spaces/Abhaykoul/AI-Protocol-Guide" TargetMode="External"/><Relationship Id="rId2" Type="http://schemas.openxmlformats.org/officeDocument/2006/relationships/hyperlink" Target="https://arxiv.org/abs/2504.16736" TargetMode="External"/><Relationship Id="rId1" Type="http://schemas.openxmlformats.org/officeDocument/2006/relationships/slideLayout" Target="../slideLayouts/slideLayout2.xml"/><Relationship Id="rId5" Type="http://schemas.openxmlformats.org/officeDocument/2006/relationships/hyperlink" Target="https://akka.io/blog/mcp-a2a-acp-what-does-it-all-mean" TargetMode="External"/><Relationship Id="rId4" Type="http://schemas.openxmlformats.org/officeDocument/2006/relationships/hyperlink" Target="https://zilliz.com/blog/function-calling-vs-mcp-vs-a2a-developers-guide-to-ai-agent-protoco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3688E-2D66-0E74-ECF3-9B6CDF1FA8C4}"/>
              </a:ext>
            </a:extLst>
          </p:cNvPr>
          <p:cNvSpPr>
            <a:spLocks noGrp="1"/>
          </p:cNvSpPr>
          <p:nvPr>
            <p:ph type="ctrTitle"/>
          </p:nvPr>
        </p:nvSpPr>
        <p:spPr>
          <a:xfrm>
            <a:off x="592347" y="1122363"/>
            <a:ext cx="11237344" cy="2387600"/>
          </a:xfrm>
        </p:spPr>
        <p:txBody>
          <a:bodyPr>
            <a:normAutofit/>
          </a:bodyPr>
          <a:lstStyle/>
          <a:p>
            <a:r>
              <a:rPr lang="en-US" b="1" dirty="0"/>
              <a:t>Introduction to AI Agent protocols</a:t>
            </a:r>
            <a:endParaRPr lang="en-IN" dirty="0"/>
          </a:p>
        </p:txBody>
      </p:sp>
      <p:sp>
        <p:nvSpPr>
          <p:cNvPr id="3" name="Subtitle 2">
            <a:extLst>
              <a:ext uri="{FF2B5EF4-FFF2-40B4-BE49-F238E27FC236}">
                <a16:creationId xmlns:a16="http://schemas.microsoft.com/office/drawing/2014/main" id="{E5F85968-63AE-7F44-10BD-422EA2D50423}"/>
              </a:ext>
            </a:extLst>
          </p:cNvPr>
          <p:cNvSpPr>
            <a:spLocks noGrp="1"/>
          </p:cNvSpPr>
          <p:nvPr>
            <p:ph type="subTitle" idx="1"/>
          </p:nvPr>
        </p:nvSpPr>
        <p:spPr>
          <a:xfrm>
            <a:off x="592347" y="3602038"/>
            <a:ext cx="11082067" cy="561645"/>
          </a:xfrm>
        </p:spPr>
        <p:txBody>
          <a:bodyPr/>
          <a:lstStyle/>
          <a:p>
            <a:r>
              <a:rPr lang="en-US" dirty="0"/>
              <a:t>Discover how modern AI systems communicate and interact with the external world</a:t>
            </a:r>
            <a:endParaRPr lang="en-IN" dirty="0"/>
          </a:p>
        </p:txBody>
      </p:sp>
    </p:spTree>
    <p:extLst>
      <p:ext uri="{BB962C8B-B14F-4D97-AF65-F5344CB8AC3E}">
        <p14:creationId xmlns:p14="http://schemas.microsoft.com/office/powerpoint/2010/main" val="3123387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BF6C220B-125F-8AF5-FB35-E3E59FA26527}"/>
              </a:ext>
            </a:extLst>
          </p:cNvPr>
          <p:cNvPicPr>
            <a:picLocks noGrp="1" noChangeAspect="1"/>
          </p:cNvPicPr>
          <p:nvPr>
            <p:ph idx="1"/>
          </p:nvPr>
        </p:nvPicPr>
        <p:blipFill>
          <a:blip r:embed="rId2"/>
          <a:stretch>
            <a:fillRect/>
          </a:stretch>
        </p:blipFill>
        <p:spPr>
          <a:xfrm>
            <a:off x="643467" y="1043515"/>
            <a:ext cx="10905066" cy="4701677"/>
          </a:xfrm>
          <a:prstGeom prst="rect">
            <a:avLst/>
          </a:prstGeom>
        </p:spPr>
      </p:pic>
      <p:sp>
        <p:nvSpPr>
          <p:cNvPr id="6" name="Title 1">
            <a:extLst>
              <a:ext uri="{FF2B5EF4-FFF2-40B4-BE49-F238E27FC236}">
                <a16:creationId xmlns:a16="http://schemas.microsoft.com/office/drawing/2014/main" id="{72F686EE-D2B3-FC91-08F0-315B94791D41}"/>
              </a:ext>
            </a:extLst>
          </p:cNvPr>
          <p:cNvSpPr>
            <a:spLocks noGrp="1"/>
          </p:cNvSpPr>
          <p:nvPr>
            <p:ph type="title"/>
          </p:nvPr>
        </p:nvSpPr>
        <p:spPr>
          <a:xfrm>
            <a:off x="159589" y="231951"/>
            <a:ext cx="11601090" cy="805132"/>
          </a:xfrm>
        </p:spPr>
        <p:txBody>
          <a:bodyPr>
            <a:normAutofit/>
          </a:bodyPr>
          <a:lstStyle/>
          <a:p>
            <a:r>
              <a:rPr lang="en-US" dirty="0">
                <a:latin typeface="Arial" panose="020B0604020202020204" pitchFamily="34" charset="0"/>
                <a:cs typeface="Arial" panose="020B0604020202020204" pitchFamily="34" charset="0"/>
              </a:rPr>
              <a:t>AI Domain Development TimeLine</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C3BECAF-82CD-AD19-8C6C-A152D3F11F8F}"/>
              </a:ext>
            </a:extLst>
          </p:cNvPr>
          <p:cNvSpPr txBox="1"/>
          <p:nvPr/>
        </p:nvSpPr>
        <p:spPr>
          <a:xfrm>
            <a:off x="643467" y="6069251"/>
            <a:ext cx="2733135" cy="369332"/>
          </a:xfrm>
          <a:prstGeom prst="rect">
            <a:avLst/>
          </a:prstGeom>
          <a:noFill/>
        </p:spPr>
        <p:txBody>
          <a:bodyPr wrap="square">
            <a:spAutoFit/>
          </a:bodyPr>
          <a:lstStyle/>
          <a:p>
            <a:r>
              <a:rPr lang="en-IN" dirty="0">
                <a:hlinkClick r:id="rId3"/>
              </a:rPr>
              <a:t>2504.16736</a:t>
            </a:r>
            <a:endParaRPr lang="en-IN" dirty="0"/>
          </a:p>
        </p:txBody>
      </p:sp>
    </p:spTree>
    <p:extLst>
      <p:ext uri="{BB962C8B-B14F-4D97-AF65-F5344CB8AC3E}">
        <p14:creationId xmlns:p14="http://schemas.microsoft.com/office/powerpoint/2010/main" val="3142865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computer network&#10;&#10;AI-generated content may be incorrect.">
            <a:extLst>
              <a:ext uri="{FF2B5EF4-FFF2-40B4-BE49-F238E27FC236}">
                <a16:creationId xmlns:a16="http://schemas.microsoft.com/office/drawing/2014/main" id="{1BCA388F-6E54-4E5B-2EA3-06D5C619709A}"/>
              </a:ext>
            </a:extLst>
          </p:cNvPr>
          <p:cNvPicPr>
            <a:picLocks noGrp="1" noChangeAspect="1"/>
          </p:cNvPicPr>
          <p:nvPr>
            <p:ph idx="1"/>
          </p:nvPr>
        </p:nvPicPr>
        <p:blipFill>
          <a:blip r:embed="rId2"/>
          <a:stretch>
            <a:fillRect/>
          </a:stretch>
        </p:blipFill>
        <p:spPr>
          <a:xfrm>
            <a:off x="5776839" y="2653355"/>
            <a:ext cx="6098857" cy="2653002"/>
          </a:xfrm>
          <a:prstGeom prst="rect">
            <a:avLst/>
          </a:prstGeom>
        </p:spPr>
      </p:pic>
      <p:sp>
        <p:nvSpPr>
          <p:cNvPr id="6" name="Title 1">
            <a:extLst>
              <a:ext uri="{FF2B5EF4-FFF2-40B4-BE49-F238E27FC236}">
                <a16:creationId xmlns:a16="http://schemas.microsoft.com/office/drawing/2014/main" id="{0F504510-BBBE-A11C-7E2C-10A0BAF870F3}"/>
              </a:ext>
            </a:extLst>
          </p:cNvPr>
          <p:cNvSpPr>
            <a:spLocks noGrp="1"/>
          </p:cNvSpPr>
          <p:nvPr>
            <p:ph type="title"/>
          </p:nvPr>
        </p:nvSpPr>
        <p:spPr>
          <a:xfrm>
            <a:off x="159589" y="231951"/>
            <a:ext cx="10515600" cy="805132"/>
          </a:xfrm>
        </p:spPr>
        <p:txBody>
          <a:bodyPr/>
          <a:lstStyle/>
          <a:p>
            <a:r>
              <a:rPr lang="en-US" dirty="0">
                <a:latin typeface="Arial" panose="020B0604020202020204" pitchFamily="34" charset="0"/>
                <a:cs typeface="Arial" panose="020B0604020202020204" pitchFamily="34" charset="0"/>
              </a:rPr>
              <a:t>Agent Internet Ecosystem</a:t>
            </a:r>
            <a:endParaRPr lang="en-IN"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61A6885-9C70-9C45-938A-971B39BB526B}"/>
              </a:ext>
            </a:extLst>
          </p:cNvPr>
          <p:cNvSpPr txBox="1"/>
          <p:nvPr/>
        </p:nvSpPr>
        <p:spPr>
          <a:xfrm>
            <a:off x="5834349" y="2182486"/>
            <a:ext cx="5893261"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 layered architecture of the Agent Internet Ecosystem</a:t>
            </a:r>
            <a:endParaRPr lang="en-IN"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BDAE85F2-1F5B-57BE-692B-BEDEE7A214E4}"/>
              </a:ext>
            </a:extLst>
          </p:cNvPr>
          <p:cNvSpPr txBox="1"/>
          <p:nvPr/>
        </p:nvSpPr>
        <p:spPr>
          <a:xfrm>
            <a:off x="10333008" y="5121793"/>
            <a:ext cx="1473679" cy="369332"/>
          </a:xfrm>
          <a:prstGeom prst="rect">
            <a:avLst/>
          </a:prstGeom>
          <a:noFill/>
        </p:spPr>
        <p:txBody>
          <a:bodyPr wrap="square">
            <a:spAutoFit/>
          </a:bodyPr>
          <a:lstStyle/>
          <a:p>
            <a:r>
              <a:rPr lang="en-IN" dirty="0">
                <a:hlinkClick r:id="rId3"/>
              </a:rPr>
              <a:t>2504.16736</a:t>
            </a:r>
            <a:endParaRPr lang="en-IN" dirty="0"/>
          </a:p>
        </p:txBody>
      </p:sp>
      <p:sp>
        <p:nvSpPr>
          <p:cNvPr id="16" name="TextBox 15">
            <a:extLst>
              <a:ext uri="{FF2B5EF4-FFF2-40B4-BE49-F238E27FC236}">
                <a16:creationId xmlns:a16="http://schemas.microsoft.com/office/drawing/2014/main" id="{5FB42F00-001B-F37F-6181-CD0B8A92E193}"/>
              </a:ext>
            </a:extLst>
          </p:cNvPr>
          <p:cNvSpPr txBox="1"/>
          <p:nvPr/>
        </p:nvSpPr>
        <p:spPr>
          <a:xfrm>
            <a:off x="401167" y="2883393"/>
            <a:ext cx="4613655" cy="2062103"/>
          </a:xfrm>
          <a:prstGeom prst="rect">
            <a:avLst/>
          </a:prstGeom>
          <a:solidFill>
            <a:schemeClr val="accent4">
              <a:lumMod val="20000"/>
              <a:lumOff val="80000"/>
            </a:schemeClr>
          </a:solidFill>
        </p:spPr>
        <p:txBody>
          <a:bodyPr wrap="square">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While LLMs primarily focus on text generation based on input prompts, agents are designed to function autonomously within real-world environments.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 response to the rapidly evolving demands of LLM agents, a variety of agent protocols have emerged.</a:t>
            </a:r>
            <a:endParaRPr lang="en-IN" sz="16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D5442DCA-66A3-A914-FA4C-47A10590DC6E}"/>
              </a:ext>
            </a:extLst>
          </p:cNvPr>
          <p:cNvSpPr txBox="1"/>
          <p:nvPr/>
        </p:nvSpPr>
        <p:spPr>
          <a:xfrm>
            <a:off x="217097" y="991973"/>
            <a:ext cx="11716109" cy="523220"/>
          </a:xfrm>
          <a:prstGeom prst="rect">
            <a:avLst/>
          </a:prstGeom>
          <a:noFill/>
        </p:spPr>
        <p:txBody>
          <a:bodyPr wrap="square">
            <a:spAutoFit/>
          </a:bodyPr>
          <a:lstStyle/>
          <a:p>
            <a:pPr marL="0" indent="0">
              <a:buNone/>
            </a:pPr>
            <a:r>
              <a:rPr lang="en-US" sz="1400" dirty="0">
                <a:latin typeface="Arial" panose="020B0604020202020204" pitchFamily="34" charset="0"/>
                <a:cs typeface="Arial" panose="020B0604020202020204" pitchFamily="34" charset="0"/>
              </a:rPr>
              <a:t>You've likely used AI systems like ChatGPT, Gemini or Claude, but have you ever wondered why they're limited to just conversation or may be image generation? Why can't they take meaningful actions in the real world? </a:t>
            </a:r>
          </a:p>
        </p:txBody>
      </p:sp>
      <p:sp>
        <p:nvSpPr>
          <p:cNvPr id="21" name="TextBox 20">
            <a:extLst>
              <a:ext uri="{FF2B5EF4-FFF2-40B4-BE49-F238E27FC236}">
                <a16:creationId xmlns:a16="http://schemas.microsoft.com/office/drawing/2014/main" id="{C4C4F577-3CB0-195A-AED8-D2DA665C43F7}"/>
              </a:ext>
            </a:extLst>
          </p:cNvPr>
          <p:cNvSpPr txBox="1"/>
          <p:nvPr/>
        </p:nvSpPr>
        <p:spPr>
          <a:xfrm>
            <a:off x="207033" y="1511344"/>
            <a:ext cx="11520577"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fundamental limitation of traditional Large Language Models (LLMs) has been their inability to interact with the outside world - they can generate impressive text or image but can't directly impact their environment.</a:t>
            </a:r>
            <a:endParaRPr lang="en-IN" sz="1400" dirty="0"/>
          </a:p>
        </p:txBody>
      </p:sp>
      <p:sp>
        <p:nvSpPr>
          <p:cNvPr id="17" name="TextBox 16">
            <a:extLst>
              <a:ext uri="{FF2B5EF4-FFF2-40B4-BE49-F238E27FC236}">
                <a16:creationId xmlns:a16="http://schemas.microsoft.com/office/drawing/2014/main" id="{3971CC8C-7A84-4761-E683-3A85981C6FA6}"/>
              </a:ext>
            </a:extLst>
          </p:cNvPr>
          <p:cNvSpPr txBox="1"/>
          <p:nvPr/>
        </p:nvSpPr>
        <p:spPr>
          <a:xfrm>
            <a:off x="355119" y="5641164"/>
            <a:ext cx="11520577" cy="984885"/>
          </a:xfrm>
          <a:prstGeom prst="rect">
            <a:avLst/>
          </a:prstGeom>
          <a:solidFill>
            <a:schemeClr val="tx2">
              <a:lumMod val="10000"/>
              <a:lumOff val="90000"/>
            </a:schemeClr>
          </a:solid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Why This Matters</a:t>
            </a:r>
          </a:p>
          <a:p>
            <a:pPr algn="l"/>
            <a:r>
              <a:rPr lang="en-US" sz="1400" b="0" i="0" dirty="0">
                <a:solidFill>
                  <a:srgbClr val="000000"/>
                </a:solidFill>
                <a:effectLst/>
                <a:latin typeface="Arial" panose="020B0604020202020204" pitchFamily="34" charset="0"/>
                <a:cs typeface="Arial" panose="020B0604020202020204" pitchFamily="34" charset="0"/>
              </a:rPr>
              <a:t>These protocols aren't just technical specifications—they're the foundation of a new era in AI capability. As they mature and become widely adopted, we'll see AI systems that can seamlessly integrate with our digital infrastructure, access the information they need, and collaborate with specialized systems to accomplish complex tasks that no single AI could handle alone.</a:t>
            </a:r>
          </a:p>
        </p:txBody>
      </p:sp>
    </p:spTree>
    <p:extLst>
      <p:ext uri="{BB962C8B-B14F-4D97-AF65-F5344CB8AC3E}">
        <p14:creationId xmlns:p14="http://schemas.microsoft.com/office/powerpoint/2010/main" val="958086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company&#10;&#10;AI-generated content may be incorrect.">
            <a:extLst>
              <a:ext uri="{FF2B5EF4-FFF2-40B4-BE49-F238E27FC236}">
                <a16:creationId xmlns:a16="http://schemas.microsoft.com/office/drawing/2014/main" id="{A7044301-CE79-EEAD-3128-58336EE3DB66}"/>
              </a:ext>
            </a:extLst>
          </p:cNvPr>
          <p:cNvPicPr>
            <a:picLocks noGrp="1" noChangeAspect="1"/>
          </p:cNvPicPr>
          <p:nvPr>
            <p:ph idx="1"/>
          </p:nvPr>
        </p:nvPicPr>
        <p:blipFill>
          <a:blip r:embed="rId2"/>
          <a:stretch>
            <a:fillRect/>
          </a:stretch>
        </p:blipFill>
        <p:spPr>
          <a:xfrm>
            <a:off x="4388656" y="1310236"/>
            <a:ext cx="7308763" cy="4823783"/>
          </a:xfrm>
          <a:prstGeom prst="rect">
            <a:avLst/>
          </a:prstGeom>
        </p:spPr>
      </p:pic>
      <p:sp>
        <p:nvSpPr>
          <p:cNvPr id="6" name="Title 1">
            <a:extLst>
              <a:ext uri="{FF2B5EF4-FFF2-40B4-BE49-F238E27FC236}">
                <a16:creationId xmlns:a16="http://schemas.microsoft.com/office/drawing/2014/main" id="{F3CABDAC-220C-64DF-10D5-7C10DB7D7631}"/>
              </a:ext>
            </a:extLst>
          </p:cNvPr>
          <p:cNvSpPr>
            <a:spLocks noGrp="1"/>
          </p:cNvSpPr>
          <p:nvPr>
            <p:ph type="title"/>
          </p:nvPr>
        </p:nvSpPr>
        <p:spPr>
          <a:xfrm>
            <a:off x="159589" y="231951"/>
            <a:ext cx="10515600" cy="805132"/>
          </a:xfrm>
        </p:spPr>
        <p:txBody>
          <a:bodyPr/>
          <a:lstStyle/>
          <a:p>
            <a:r>
              <a:rPr lang="en-US" dirty="0">
                <a:latin typeface="Arial" panose="020B0604020202020204" pitchFamily="34" charset="0"/>
                <a:cs typeface="Arial" panose="020B0604020202020204" pitchFamily="34" charset="0"/>
              </a:rPr>
              <a:t>Classification of various agent protocols </a:t>
            </a:r>
            <a:endParaRPr lang="en-IN"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D08C653-DDEC-E0B5-4D29-C95AD6E07B53}"/>
              </a:ext>
            </a:extLst>
          </p:cNvPr>
          <p:cNvSpPr txBox="1"/>
          <p:nvPr/>
        </p:nvSpPr>
        <p:spPr>
          <a:xfrm>
            <a:off x="159589" y="1099585"/>
            <a:ext cx="4468858" cy="2062103"/>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Protocols can be grouped in two ways: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First, based on their focus—either on the context they operate in (context-oriented) or on communication between agents (inter-agent).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Second, based on how they are used—either for general purposes or tailored for specific domains.</a:t>
            </a:r>
            <a:endParaRPr lang="en-IN" sz="16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63BC9716-D5A3-901D-7B84-8026656B17D6}"/>
              </a:ext>
            </a:extLst>
          </p:cNvPr>
          <p:cNvSpPr txBox="1"/>
          <p:nvPr/>
        </p:nvSpPr>
        <p:spPr>
          <a:xfrm>
            <a:off x="188718" y="4001836"/>
            <a:ext cx="8879457" cy="2062103"/>
          </a:xfrm>
          <a:prstGeom prst="rect">
            <a:avLst/>
          </a:prstGeom>
          <a:noFill/>
        </p:spPr>
        <p:txBody>
          <a:bodyPr wrap="square">
            <a:spAutoFit/>
          </a:bodyPr>
          <a:lstStyle/>
          <a:p>
            <a:pPr algn="l">
              <a:buNone/>
            </a:pPr>
            <a:r>
              <a:rPr lang="en-US" sz="1600" b="1" i="0" dirty="0">
                <a:solidFill>
                  <a:srgbClr val="37352F"/>
                </a:solidFill>
                <a:effectLst/>
                <a:latin typeface="Arial" panose="020B0604020202020204" pitchFamily="34" charset="0"/>
                <a:cs typeface="Arial" panose="020B0604020202020204" pitchFamily="34" charset="0"/>
              </a:rPr>
              <a:t>Most protocols aim to enable agents to:</a:t>
            </a:r>
          </a:p>
          <a:p>
            <a:pPr marL="742950" lvl="1" indent="-285750">
              <a:buFont typeface="Arial" panose="020B0604020202020204" pitchFamily="34" charset="0"/>
              <a:buChar char="•"/>
            </a:pPr>
            <a:r>
              <a:rPr lang="en-US" sz="1600" b="0" i="0" dirty="0">
                <a:solidFill>
                  <a:srgbClr val="37352F"/>
                </a:solidFill>
                <a:effectLst/>
                <a:latin typeface="Arial" panose="020B0604020202020204" pitchFamily="34" charset="0"/>
                <a:cs typeface="Arial" panose="020B0604020202020204" pitchFamily="34" charset="0"/>
              </a:rPr>
              <a:t>Discover other agents</a:t>
            </a:r>
          </a:p>
          <a:p>
            <a:pPr marL="742950" lvl="1" indent="-285750">
              <a:buFont typeface="Arial" panose="020B0604020202020204" pitchFamily="34" charset="0"/>
              <a:buChar char="•"/>
            </a:pPr>
            <a:r>
              <a:rPr lang="en-US" sz="1600" b="0" i="0" dirty="0">
                <a:solidFill>
                  <a:srgbClr val="37352F"/>
                </a:solidFill>
                <a:effectLst/>
                <a:latin typeface="Arial" panose="020B0604020202020204" pitchFamily="34" charset="0"/>
                <a:cs typeface="Arial" panose="020B0604020202020204" pitchFamily="34" charset="0"/>
              </a:rPr>
              <a:t>Authenticate</a:t>
            </a:r>
          </a:p>
          <a:p>
            <a:pPr marL="742950" lvl="1" indent="-285750">
              <a:buFont typeface="Arial" panose="020B0604020202020204" pitchFamily="34" charset="0"/>
              <a:buChar char="•"/>
            </a:pPr>
            <a:r>
              <a:rPr lang="en-US" sz="1600" b="0" i="0" dirty="0">
                <a:solidFill>
                  <a:srgbClr val="37352F"/>
                </a:solidFill>
                <a:effectLst/>
                <a:latin typeface="Arial" panose="020B0604020202020204" pitchFamily="34" charset="0"/>
                <a:cs typeface="Arial" panose="020B0604020202020204" pitchFamily="34" charset="0"/>
              </a:rPr>
              <a:t>Communicate</a:t>
            </a:r>
          </a:p>
          <a:p>
            <a:pPr marL="742950" lvl="1" indent="-285750">
              <a:buFont typeface="Arial" panose="020B0604020202020204" pitchFamily="34" charset="0"/>
              <a:buChar char="•"/>
            </a:pPr>
            <a:r>
              <a:rPr lang="en-US" sz="1600" b="0" i="0" dirty="0">
                <a:solidFill>
                  <a:srgbClr val="37352F"/>
                </a:solidFill>
                <a:effectLst/>
                <a:latin typeface="Arial" panose="020B0604020202020204" pitchFamily="34" charset="0"/>
                <a:cs typeface="Arial" panose="020B0604020202020204" pitchFamily="34" charset="0"/>
              </a:rPr>
              <a:t>Form coalitions</a:t>
            </a:r>
          </a:p>
          <a:p>
            <a:pPr marL="742950" lvl="1" indent="-285750">
              <a:buFont typeface="Arial" panose="020B0604020202020204" pitchFamily="34" charset="0"/>
              <a:buChar char="•"/>
            </a:pPr>
            <a:r>
              <a:rPr lang="en-US" sz="1600" b="0" i="0" dirty="0">
                <a:solidFill>
                  <a:srgbClr val="37352F"/>
                </a:solidFill>
                <a:effectLst/>
                <a:latin typeface="Arial" panose="020B0604020202020204" pitchFamily="34" charset="0"/>
                <a:cs typeface="Arial" panose="020B0604020202020204" pitchFamily="34" charset="0"/>
              </a:rPr>
              <a:t>Negotiate and debate</a:t>
            </a:r>
          </a:p>
          <a:p>
            <a:pPr marL="742950" lvl="1" indent="-285750">
              <a:buFont typeface="Arial" panose="020B0604020202020204" pitchFamily="34" charset="0"/>
              <a:buChar char="•"/>
            </a:pPr>
            <a:r>
              <a:rPr lang="en-US" sz="1600" b="0" i="0" dirty="0">
                <a:solidFill>
                  <a:srgbClr val="37352F"/>
                </a:solidFill>
                <a:effectLst/>
                <a:latin typeface="Arial" panose="020B0604020202020204" pitchFamily="34" charset="0"/>
                <a:cs typeface="Arial" panose="020B0604020202020204" pitchFamily="34" charset="0"/>
              </a:rPr>
              <a:t>Create autonomous software</a:t>
            </a:r>
          </a:p>
          <a:p>
            <a:pPr algn="l"/>
            <a:r>
              <a:rPr lang="en-US" sz="1600" b="0" i="0" dirty="0">
                <a:solidFill>
                  <a:srgbClr val="37352F"/>
                </a:solidFill>
                <a:effectLst/>
                <a:latin typeface="Arial" panose="020B0604020202020204" pitchFamily="34" charset="0"/>
                <a:cs typeface="Arial" panose="020B0604020202020204" pitchFamily="34" charset="0"/>
              </a:rPr>
              <a:t>The exception is MCP, which doesn't necessarily prioritize agent-to-agent communication.</a:t>
            </a:r>
          </a:p>
        </p:txBody>
      </p:sp>
    </p:spTree>
    <p:extLst>
      <p:ext uri="{BB962C8B-B14F-4D97-AF65-F5344CB8AC3E}">
        <p14:creationId xmlns:p14="http://schemas.microsoft.com/office/powerpoint/2010/main" val="919381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1119F-666E-3900-F74C-92112118142C}"/>
              </a:ext>
            </a:extLst>
          </p:cNvPr>
          <p:cNvSpPr>
            <a:spLocks noGrp="1"/>
          </p:cNvSpPr>
          <p:nvPr>
            <p:ph type="title"/>
          </p:nvPr>
        </p:nvSpPr>
        <p:spPr>
          <a:xfrm>
            <a:off x="159589" y="231951"/>
            <a:ext cx="10515600" cy="805132"/>
          </a:xfrm>
        </p:spPr>
        <p:txBody>
          <a:bodyPr/>
          <a:lstStyle/>
          <a:p>
            <a:r>
              <a:rPr lang="en-US" dirty="0">
                <a:latin typeface="Arial" panose="020B0604020202020204" pitchFamily="34" charset="0"/>
                <a:cs typeface="Arial" panose="020B0604020202020204" pitchFamily="34" charset="0"/>
              </a:rPr>
              <a:t>How AI Gets Its Superpowers</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1802CB5-1026-10B3-87E9-F6B7CA06D77C}"/>
              </a:ext>
            </a:extLst>
          </p:cNvPr>
          <p:cNvSpPr>
            <a:spLocks noGrp="1"/>
          </p:cNvSpPr>
          <p:nvPr>
            <p:ph idx="1"/>
          </p:nvPr>
        </p:nvSpPr>
        <p:spPr>
          <a:xfrm>
            <a:off x="356649" y="1129955"/>
            <a:ext cx="11077758" cy="301665"/>
          </a:xfrm>
        </p:spPr>
        <p:txBody>
          <a:bodyPr>
            <a:noAutofit/>
          </a:bodyPr>
          <a:lstStyle/>
          <a:p>
            <a:pPr marL="0" indent="0">
              <a:buNone/>
            </a:pPr>
            <a:r>
              <a:rPr lang="en-US" sz="1600" dirty="0">
                <a:latin typeface="Arial" panose="020B0604020202020204" pitchFamily="34" charset="0"/>
                <a:cs typeface="Arial" panose="020B0604020202020204" pitchFamily="34" charset="0"/>
              </a:rPr>
              <a:t>Among the various emerging protocols, the major three are:</a:t>
            </a:r>
            <a:endParaRPr lang="en-IN" sz="16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A8487F31-19D7-08B6-7A69-6939CA9E8CBC}"/>
              </a:ext>
            </a:extLst>
          </p:cNvPr>
          <p:cNvSpPr txBox="1"/>
          <p:nvPr/>
        </p:nvSpPr>
        <p:spPr>
          <a:xfrm>
            <a:off x="4086856" y="1805538"/>
            <a:ext cx="3519577" cy="1908215"/>
          </a:xfrm>
          <a:prstGeom prst="rect">
            <a:avLst/>
          </a:prstGeom>
          <a:solidFill>
            <a:schemeClr val="accent5">
              <a:lumMod val="20000"/>
              <a:lumOff val="80000"/>
            </a:schemeClr>
          </a:solidFill>
        </p:spPr>
        <p:txBody>
          <a:bodyPr wrap="square">
            <a:spAutoFit/>
          </a:bodyPr>
          <a:lstStyle/>
          <a:p>
            <a:r>
              <a:rPr lang="en-IN" b="1" dirty="0">
                <a:solidFill>
                  <a:srgbClr val="000000"/>
                </a:solidFill>
                <a:latin typeface="Arial" panose="020B0604020202020204" pitchFamily="34" charset="0"/>
                <a:cs typeface="Arial" panose="020B0604020202020204" pitchFamily="34" charset="0"/>
              </a:rPr>
              <a:t>MCP - </a:t>
            </a:r>
            <a:r>
              <a:rPr lang="en-US" b="1" i="0" dirty="0">
                <a:solidFill>
                  <a:srgbClr val="000000"/>
                </a:solidFill>
                <a:effectLst/>
                <a:latin typeface="Arial" panose="020B0604020202020204" pitchFamily="34" charset="0"/>
                <a:cs typeface="Arial" panose="020B0604020202020204" pitchFamily="34" charset="0"/>
              </a:rPr>
              <a:t>Model Context Protocol (</a:t>
            </a:r>
            <a:r>
              <a:rPr lang="en-IN" b="1" dirty="0">
                <a:solidFill>
                  <a:srgbClr val="000000"/>
                </a:solidFill>
                <a:latin typeface="Arial" panose="020B0604020202020204" pitchFamily="34" charset="0"/>
                <a:cs typeface="Arial" panose="020B0604020202020204" pitchFamily="34" charset="0"/>
              </a:rPr>
              <a:t>Data Access)</a:t>
            </a:r>
            <a:endParaRPr lang="en-US" b="1" i="0" dirty="0">
              <a:solidFill>
                <a:srgbClr val="000000"/>
              </a:solidFill>
              <a:effectLst/>
              <a:latin typeface="Arial" panose="020B0604020202020204" pitchFamily="34" charset="0"/>
              <a:cs typeface="Arial" panose="020B0604020202020204" pitchFamily="34" charset="0"/>
            </a:endParaRPr>
          </a:p>
          <a:p>
            <a:pPr algn="l"/>
            <a:r>
              <a:rPr lang="en-US" sz="1600" b="0" i="0" dirty="0">
                <a:solidFill>
                  <a:srgbClr val="374151"/>
                </a:solidFill>
                <a:effectLst/>
                <a:latin typeface="Arial" panose="020B0604020202020204" pitchFamily="34" charset="0"/>
                <a:cs typeface="Arial" panose="020B0604020202020204" pitchFamily="34" charset="0"/>
              </a:rPr>
              <a:t>Connecting AI to data sources - Standardizing how AI systems access and interact with information repositories and external knowledge.</a:t>
            </a:r>
          </a:p>
          <a:p>
            <a:pPr algn="l"/>
            <a:endParaRPr lang="en-US" b="0" i="0" dirty="0">
              <a:solidFill>
                <a:srgbClr val="374151"/>
              </a:solidFill>
              <a:effectLst/>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CB3FCED-D034-3900-7E35-4DD6232F62A4}"/>
              </a:ext>
            </a:extLst>
          </p:cNvPr>
          <p:cNvSpPr txBox="1"/>
          <p:nvPr/>
        </p:nvSpPr>
        <p:spPr>
          <a:xfrm>
            <a:off x="7719298" y="1781869"/>
            <a:ext cx="3715109" cy="1877437"/>
          </a:xfrm>
          <a:prstGeom prst="rect">
            <a:avLst/>
          </a:prstGeom>
          <a:solidFill>
            <a:schemeClr val="accent6">
              <a:lumMod val="20000"/>
              <a:lumOff val="80000"/>
            </a:schemeClr>
          </a:solidFill>
        </p:spPr>
        <p:txBody>
          <a:bodyPr wrap="square">
            <a:spAutoFit/>
          </a:bodyPr>
          <a:lstStyle/>
          <a:p>
            <a:r>
              <a:rPr lang="en-US" b="1" i="0" dirty="0">
                <a:solidFill>
                  <a:srgbClr val="000000"/>
                </a:solidFill>
                <a:effectLst/>
                <a:latin typeface="Arial" panose="020B0604020202020204" pitchFamily="34" charset="0"/>
                <a:cs typeface="Arial" panose="020B0604020202020204" pitchFamily="34" charset="0"/>
              </a:rPr>
              <a:t>A2A - Agent-to-Agent</a:t>
            </a:r>
            <a:r>
              <a:rPr lang="en-US" b="1" dirty="0">
                <a:solidFill>
                  <a:srgbClr val="000000"/>
                </a:solidFill>
                <a:latin typeface="Arial" panose="020B0604020202020204" pitchFamily="34" charset="0"/>
                <a:cs typeface="Arial" panose="020B0604020202020204" pitchFamily="34" charset="0"/>
              </a:rPr>
              <a:t> (</a:t>
            </a:r>
            <a:r>
              <a:rPr lang="en-IN" b="1" dirty="0">
                <a:solidFill>
                  <a:srgbClr val="000000"/>
                </a:solidFill>
                <a:latin typeface="Arial" panose="020B0604020202020204" pitchFamily="34" charset="0"/>
                <a:cs typeface="Arial" panose="020B0604020202020204" pitchFamily="34" charset="0"/>
              </a:rPr>
              <a:t>Collaboration)</a:t>
            </a:r>
            <a:endParaRPr lang="en-US" b="1" i="0" dirty="0">
              <a:solidFill>
                <a:srgbClr val="000000"/>
              </a:solidFill>
              <a:effectLst/>
              <a:latin typeface="Arial" panose="020B0604020202020204" pitchFamily="34" charset="0"/>
              <a:cs typeface="Arial" panose="020B0604020202020204" pitchFamily="34" charset="0"/>
            </a:endParaRPr>
          </a:p>
          <a:p>
            <a:pPr algn="l"/>
            <a:r>
              <a:rPr lang="en-US" sz="1600" b="0" i="0" dirty="0">
                <a:solidFill>
                  <a:srgbClr val="374151"/>
                </a:solidFill>
                <a:effectLst/>
                <a:latin typeface="Arial" panose="020B0604020202020204" pitchFamily="34" charset="0"/>
                <a:cs typeface="Arial" panose="020B0604020202020204" pitchFamily="34" charset="0"/>
              </a:rPr>
              <a:t>Enabling AI collaboration - Creating a standardized way for different AI systems to communicate and work together regardless of their underlying frameworks.</a:t>
            </a:r>
          </a:p>
        </p:txBody>
      </p:sp>
      <p:sp>
        <p:nvSpPr>
          <p:cNvPr id="15" name="TextBox 14">
            <a:extLst>
              <a:ext uri="{FF2B5EF4-FFF2-40B4-BE49-F238E27FC236}">
                <a16:creationId xmlns:a16="http://schemas.microsoft.com/office/drawing/2014/main" id="{F8271D42-D18B-941F-AE1E-8A3541D71C3B}"/>
              </a:ext>
            </a:extLst>
          </p:cNvPr>
          <p:cNvSpPr txBox="1"/>
          <p:nvPr/>
        </p:nvSpPr>
        <p:spPr>
          <a:xfrm>
            <a:off x="460169" y="1811215"/>
            <a:ext cx="3519577" cy="1877437"/>
          </a:xfrm>
          <a:prstGeom prst="rect">
            <a:avLst/>
          </a:prstGeom>
          <a:solidFill>
            <a:schemeClr val="accent4">
              <a:lumMod val="20000"/>
              <a:lumOff val="80000"/>
            </a:schemeClr>
          </a:solidFill>
        </p:spPr>
        <p:txBody>
          <a:bodyPr wrap="square">
            <a:spAutoFit/>
          </a:bodyPr>
          <a:lstStyle/>
          <a:p>
            <a:r>
              <a:rPr lang="en-US" b="1" i="0" dirty="0">
                <a:solidFill>
                  <a:srgbClr val="000000"/>
                </a:solidFill>
                <a:effectLst/>
                <a:latin typeface="Arial" panose="020B0604020202020204" pitchFamily="34" charset="0"/>
                <a:cs typeface="Arial" panose="020B0604020202020204" pitchFamily="34" charset="0"/>
              </a:rPr>
              <a:t>Function Calling (Interaction)</a:t>
            </a:r>
          </a:p>
          <a:p>
            <a:pPr algn="l"/>
            <a:r>
              <a:rPr lang="en-US" sz="1600" b="0" i="0" dirty="0">
                <a:solidFill>
                  <a:srgbClr val="374151"/>
                </a:solidFill>
                <a:effectLst/>
                <a:latin typeface="Arial" panose="020B0604020202020204" pitchFamily="34" charset="0"/>
                <a:cs typeface="Arial" panose="020B0604020202020204" pitchFamily="34" charset="0"/>
              </a:rPr>
              <a:t>Teaching AI to use tools - Enabling models to recognize when to use external tools and APIs, and how to structure the necessary parameters.</a:t>
            </a:r>
          </a:p>
          <a:p>
            <a:pPr algn="l"/>
            <a:endParaRPr lang="en-US" sz="1600" b="0" i="0" dirty="0">
              <a:solidFill>
                <a:srgbClr val="374151"/>
              </a:solidFill>
              <a:effectLst/>
              <a:latin typeface="Arial" panose="020B0604020202020204" pitchFamily="34" charset="0"/>
              <a:cs typeface="Arial" panose="020B0604020202020204" pitchFamily="34" charset="0"/>
            </a:endParaRPr>
          </a:p>
          <a:p>
            <a:pPr algn="l"/>
            <a:endParaRPr lang="en-US" b="0" i="0" dirty="0">
              <a:solidFill>
                <a:srgbClr val="374151"/>
              </a:solidFill>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D17DD18-81F3-DCEE-4108-E29C65DCA659}"/>
              </a:ext>
            </a:extLst>
          </p:cNvPr>
          <p:cNvSpPr txBox="1"/>
          <p:nvPr/>
        </p:nvSpPr>
        <p:spPr>
          <a:xfrm>
            <a:off x="454418" y="5043895"/>
            <a:ext cx="10979989" cy="861774"/>
          </a:xfrm>
          <a:prstGeom prst="rect">
            <a:avLst/>
          </a:prstGeom>
          <a:solidFill>
            <a:schemeClr val="tx2">
              <a:lumMod val="10000"/>
              <a:lumOff val="90000"/>
            </a:schemeClr>
          </a:solidFill>
        </p:spPr>
        <p:txBody>
          <a:bodyPr wrap="square">
            <a:spAutoFit/>
          </a:bodyPr>
          <a:lstStyle/>
          <a:p>
            <a:pPr algn="l">
              <a:buNone/>
            </a:pPr>
            <a:r>
              <a:rPr lang="en-US" b="1" i="0" dirty="0">
                <a:solidFill>
                  <a:srgbClr val="000000"/>
                </a:solidFill>
                <a:effectLst/>
                <a:latin typeface="Segoe UI" panose="020B0502040204020203" pitchFamily="34" charset="0"/>
              </a:rPr>
              <a:t>Why This Matters</a:t>
            </a:r>
          </a:p>
          <a:p>
            <a:pPr algn="l"/>
            <a:r>
              <a:rPr lang="en-US" sz="1600" b="0" i="0" dirty="0">
                <a:solidFill>
                  <a:srgbClr val="000000"/>
                </a:solidFill>
                <a:effectLst/>
                <a:latin typeface="Segoe UI" panose="020B0502040204020203" pitchFamily="34" charset="0"/>
              </a:rPr>
              <a:t>Through these three technologies, AI systems are evolving from mere "smart chatbots" into genuine digital assistants capable of taking meaningful action in the world. </a:t>
            </a:r>
          </a:p>
        </p:txBody>
      </p:sp>
      <p:sp>
        <p:nvSpPr>
          <p:cNvPr id="19" name="TextBox 18">
            <a:extLst>
              <a:ext uri="{FF2B5EF4-FFF2-40B4-BE49-F238E27FC236}">
                <a16:creationId xmlns:a16="http://schemas.microsoft.com/office/drawing/2014/main" id="{C0585517-1089-E5F8-1046-D2FEE86BB9F6}"/>
              </a:ext>
            </a:extLst>
          </p:cNvPr>
          <p:cNvSpPr txBox="1"/>
          <p:nvPr/>
        </p:nvSpPr>
        <p:spPr>
          <a:xfrm>
            <a:off x="454418" y="3944060"/>
            <a:ext cx="11077757"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These protocols represent the critical evolution from isolated models to interconnected, capable assistants that can understand, access information, and collaborate to solve complex problems.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573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B792-5FAF-15E3-6D7D-D61C725E4FA1}"/>
              </a:ext>
            </a:extLst>
          </p:cNvPr>
          <p:cNvSpPr>
            <a:spLocks noGrp="1"/>
          </p:cNvSpPr>
          <p:nvPr>
            <p:ph type="title"/>
          </p:nvPr>
        </p:nvSpPr>
        <p:spPr>
          <a:xfrm>
            <a:off x="494581" y="365125"/>
            <a:ext cx="10859219" cy="1325563"/>
          </a:xfrm>
        </p:spPr>
        <p:txBody>
          <a:bodyPr/>
          <a:lstStyle/>
          <a:p>
            <a:r>
              <a:rPr lang="en-US" dirty="0"/>
              <a:t>Quick Comparison: Function Calling vs MCP vs A2A</a:t>
            </a:r>
            <a:endParaRPr lang="en-IN" dirty="0"/>
          </a:p>
        </p:txBody>
      </p:sp>
      <p:graphicFrame>
        <p:nvGraphicFramePr>
          <p:cNvPr id="5" name="Table 4">
            <a:extLst>
              <a:ext uri="{FF2B5EF4-FFF2-40B4-BE49-F238E27FC236}">
                <a16:creationId xmlns:a16="http://schemas.microsoft.com/office/drawing/2014/main" id="{D2E138D2-BEF3-7F34-451C-7C0DC83333C3}"/>
              </a:ext>
            </a:extLst>
          </p:cNvPr>
          <p:cNvGraphicFramePr>
            <a:graphicFrameLocks noGrp="1"/>
          </p:cNvGraphicFramePr>
          <p:nvPr>
            <p:extLst>
              <p:ext uri="{D42A27DB-BD31-4B8C-83A1-F6EECF244321}">
                <p14:modId xmlns:p14="http://schemas.microsoft.com/office/powerpoint/2010/main" val="2684801721"/>
              </p:ext>
            </p:extLst>
          </p:nvPr>
        </p:nvGraphicFramePr>
        <p:xfrm>
          <a:off x="838200" y="1857829"/>
          <a:ext cx="10439400" cy="4351339"/>
        </p:xfrm>
        <a:graphic>
          <a:graphicData uri="http://schemas.openxmlformats.org/drawingml/2006/table">
            <a:tbl>
              <a:tblPr>
                <a:tableStyleId>{9D7B26C5-4107-4FEC-AEDC-1716B250A1EF}</a:tableStyleId>
              </a:tblPr>
              <a:tblGrid>
                <a:gridCol w="2609850">
                  <a:extLst>
                    <a:ext uri="{9D8B030D-6E8A-4147-A177-3AD203B41FA5}">
                      <a16:colId xmlns:a16="http://schemas.microsoft.com/office/drawing/2014/main" val="1653801935"/>
                    </a:ext>
                  </a:extLst>
                </a:gridCol>
                <a:gridCol w="2609850">
                  <a:extLst>
                    <a:ext uri="{9D8B030D-6E8A-4147-A177-3AD203B41FA5}">
                      <a16:colId xmlns:a16="http://schemas.microsoft.com/office/drawing/2014/main" val="4142075811"/>
                    </a:ext>
                  </a:extLst>
                </a:gridCol>
                <a:gridCol w="2609850">
                  <a:extLst>
                    <a:ext uri="{9D8B030D-6E8A-4147-A177-3AD203B41FA5}">
                      <a16:colId xmlns:a16="http://schemas.microsoft.com/office/drawing/2014/main" val="1158418775"/>
                    </a:ext>
                  </a:extLst>
                </a:gridCol>
                <a:gridCol w="2609850">
                  <a:extLst>
                    <a:ext uri="{9D8B030D-6E8A-4147-A177-3AD203B41FA5}">
                      <a16:colId xmlns:a16="http://schemas.microsoft.com/office/drawing/2014/main" val="3596780228"/>
                    </a:ext>
                  </a:extLst>
                </a:gridCol>
              </a:tblGrid>
              <a:tr h="488472">
                <a:tc>
                  <a:txBody>
                    <a:bodyPr/>
                    <a:lstStyle/>
                    <a:p>
                      <a:pPr algn="l" fontAlgn="base">
                        <a:lnSpc>
                          <a:spcPts val="1500"/>
                        </a:lnSpc>
                      </a:pPr>
                      <a:endParaRPr lang="en-IN" sz="1400" b="0" dirty="0">
                        <a:effectLst/>
                        <a:latin typeface="Arial" panose="020B0604020202020204" pitchFamily="34" charset="0"/>
                        <a:cs typeface="Arial" panose="020B0604020202020204" pitchFamily="34" charset="0"/>
                      </a:endParaRP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ase">
                        <a:lnSpc>
                          <a:spcPts val="1500"/>
                        </a:lnSpc>
                      </a:pPr>
                      <a:r>
                        <a:rPr lang="en-IN" sz="1400" b="0" dirty="0">
                          <a:effectLst/>
                          <a:latin typeface="Arial" panose="020B0604020202020204" pitchFamily="34" charset="0"/>
                          <a:cs typeface="Arial" panose="020B0604020202020204" pitchFamily="34" charset="0"/>
                        </a:rPr>
                        <a:t>Function Calling</a:t>
                      </a: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ase">
                        <a:lnSpc>
                          <a:spcPts val="1500"/>
                        </a:lnSpc>
                      </a:pPr>
                      <a:r>
                        <a:rPr lang="en-IN" sz="1400" b="0" dirty="0">
                          <a:effectLst/>
                          <a:latin typeface="Arial" panose="020B0604020202020204" pitchFamily="34" charset="0"/>
                          <a:cs typeface="Arial" panose="020B0604020202020204" pitchFamily="34" charset="0"/>
                        </a:rPr>
                        <a:t>MCP</a:t>
                      </a: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ase">
                        <a:lnSpc>
                          <a:spcPts val="1500"/>
                        </a:lnSpc>
                      </a:pPr>
                      <a:r>
                        <a:rPr lang="en-IN" sz="1400" b="0" dirty="0">
                          <a:effectLst/>
                          <a:latin typeface="Arial" panose="020B0604020202020204" pitchFamily="34" charset="0"/>
                          <a:cs typeface="Arial" panose="020B0604020202020204" pitchFamily="34" charset="0"/>
                        </a:rPr>
                        <a:t>A2A</a:t>
                      </a: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84838876"/>
                  </a:ext>
                </a:extLst>
              </a:tr>
              <a:tr h="836179">
                <a:tc>
                  <a:txBody>
                    <a:bodyPr/>
                    <a:lstStyle/>
                    <a:p>
                      <a:pPr fontAlgn="base">
                        <a:lnSpc>
                          <a:spcPts val="1200"/>
                        </a:lnSpc>
                      </a:pPr>
                      <a:r>
                        <a:rPr lang="en-IN" sz="1400" b="0">
                          <a:effectLst/>
                          <a:latin typeface="Arial" panose="020B0604020202020204" pitchFamily="34" charset="0"/>
                          <a:cs typeface="Arial" panose="020B0604020202020204" pitchFamily="34" charset="0"/>
                        </a:rPr>
                        <a:t>What it solves</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fontAlgn="base">
                        <a:lnSpc>
                          <a:spcPts val="1200"/>
                        </a:lnSpc>
                      </a:pPr>
                      <a:r>
                        <a:rPr lang="en-IN" sz="1400" b="0" dirty="0">
                          <a:effectLst/>
                          <a:latin typeface="Arial" panose="020B0604020202020204" pitchFamily="34" charset="0"/>
                          <a:cs typeface="Arial" panose="020B0604020202020204" pitchFamily="34" charset="0"/>
                        </a:rPr>
                        <a:t>Model → API calls</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fontAlgn="base">
                        <a:lnSpc>
                          <a:spcPts val="1200"/>
                        </a:lnSpc>
                      </a:pPr>
                      <a:r>
                        <a:rPr lang="en-IN" sz="1400" b="0" dirty="0">
                          <a:effectLst/>
                          <a:latin typeface="Arial" panose="020B0604020202020204" pitchFamily="34" charset="0"/>
                          <a:cs typeface="Arial" panose="020B0604020202020204" pitchFamily="34" charset="0"/>
                        </a:rPr>
                        <a:t>Model → Tools access, standardized</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fontAlgn="base">
                        <a:lnSpc>
                          <a:spcPts val="1200"/>
                        </a:lnSpc>
                      </a:pPr>
                      <a:r>
                        <a:rPr lang="en-IN" sz="1400" b="0" dirty="0">
                          <a:effectLst/>
                          <a:latin typeface="Arial" panose="020B0604020202020204" pitchFamily="34" charset="0"/>
                          <a:cs typeface="Arial" panose="020B0604020202020204" pitchFamily="34" charset="0"/>
                        </a:rPr>
                        <a:t>Agent → Agent collaboration</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3047560442"/>
                  </a:ext>
                </a:extLst>
              </a:tr>
              <a:tr h="836179">
                <a:tc>
                  <a:txBody>
                    <a:bodyPr/>
                    <a:lstStyle/>
                    <a:p>
                      <a:pPr fontAlgn="base">
                        <a:lnSpc>
                          <a:spcPts val="1200"/>
                        </a:lnSpc>
                      </a:pPr>
                      <a:r>
                        <a:rPr lang="en-IN" sz="1400" b="0">
                          <a:effectLst/>
                          <a:latin typeface="Arial" panose="020B0604020202020204" pitchFamily="34" charset="0"/>
                          <a:cs typeface="Arial" panose="020B0604020202020204" pitchFamily="34" charset="0"/>
                        </a:rPr>
                        <a:t>Good for</a:t>
                      </a:r>
                    </a:p>
                  </a:txBody>
                  <a:tcPr marL="54542" marR="54542" marT="81813" marB="81813" anchor="ctr">
                    <a:solidFill>
                      <a:schemeClr val="bg1">
                        <a:lumMod val="95000"/>
                      </a:schemeClr>
                    </a:solidFill>
                  </a:tcPr>
                </a:tc>
                <a:tc>
                  <a:txBody>
                    <a:bodyPr/>
                    <a:lstStyle/>
                    <a:p>
                      <a:pPr fontAlgn="base">
                        <a:lnSpc>
                          <a:spcPts val="1200"/>
                        </a:lnSpc>
                      </a:pPr>
                      <a:r>
                        <a:rPr lang="en-IN" sz="1400" b="0">
                          <a:effectLst/>
                          <a:latin typeface="Arial" panose="020B0604020202020204" pitchFamily="34" charset="0"/>
                          <a:cs typeface="Arial" panose="020B0604020202020204" pitchFamily="34" charset="0"/>
                        </a:rPr>
                        <a:t>Simple real-time queries</a:t>
                      </a:r>
                    </a:p>
                  </a:txBody>
                  <a:tcPr marL="54542" marR="54542" marT="81813" marB="81813" anchor="ctr">
                    <a:solidFill>
                      <a:schemeClr val="bg1">
                        <a:lumMod val="95000"/>
                      </a:schemeClr>
                    </a:solidFill>
                  </a:tcPr>
                </a:tc>
                <a:tc>
                  <a:txBody>
                    <a:bodyPr/>
                    <a:lstStyle/>
                    <a:p>
                      <a:pPr fontAlgn="base">
                        <a:lnSpc>
                          <a:spcPts val="1200"/>
                        </a:lnSpc>
                      </a:pPr>
                      <a:r>
                        <a:rPr lang="en-IN" sz="1400" b="0">
                          <a:effectLst/>
                          <a:latin typeface="Arial" panose="020B0604020202020204" pitchFamily="34" charset="0"/>
                          <a:cs typeface="Arial" panose="020B0604020202020204" pitchFamily="34" charset="0"/>
                        </a:rPr>
                        <a:t>Scalable tool ecosystems</a:t>
                      </a:r>
                    </a:p>
                  </a:txBody>
                  <a:tcPr marL="54542" marR="54542" marT="81813" marB="81813" anchor="ctr">
                    <a:solidFill>
                      <a:schemeClr val="bg1">
                        <a:lumMod val="95000"/>
                      </a:schemeClr>
                    </a:solidFill>
                  </a:tcPr>
                </a:tc>
                <a:tc>
                  <a:txBody>
                    <a:bodyPr/>
                    <a:lstStyle/>
                    <a:p>
                      <a:pPr fontAlgn="base">
                        <a:lnSpc>
                          <a:spcPts val="1200"/>
                        </a:lnSpc>
                      </a:pPr>
                      <a:r>
                        <a:rPr lang="en-IN" sz="1400" b="0">
                          <a:effectLst/>
                          <a:latin typeface="Arial" panose="020B0604020202020204" pitchFamily="34" charset="0"/>
                          <a:cs typeface="Arial" panose="020B0604020202020204" pitchFamily="34" charset="0"/>
                        </a:rPr>
                        <a:t>Distributed multi-agent workflows</a:t>
                      </a:r>
                    </a:p>
                  </a:txBody>
                  <a:tcPr marL="54542" marR="54542" marT="81813" marB="81813" anchor="ctr">
                    <a:solidFill>
                      <a:schemeClr val="bg1">
                        <a:lumMod val="95000"/>
                      </a:schemeClr>
                    </a:solidFill>
                  </a:tcPr>
                </a:tc>
                <a:extLst>
                  <a:ext uri="{0D108BD9-81ED-4DB2-BD59-A6C34878D82A}">
                    <a16:rowId xmlns:a16="http://schemas.microsoft.com/office/drawing/2014/main" val="2649080453"/>
                  </a:ext>
                </a:extLst>
              </a:tr>
              <a:tr h="1054348">
                <a:tc>
                  <a:txBody>
                    <a:bodyPr/>
                    <a:lstStyle/>
                    <a:p>
                      <a:pPr fontAlgn="base">
                        <a:lnSpc>
                          <a:spcPts val="1200"/>
                        </a:lnSpc>
                      </a:pPr>
                      <a:r>
                        <a:rPr lang="en-IN" sz="1400" b="0">
                          <a:effectLst/>
                          <a:latin typeface="Arial" panose="020B0604020202020204" pitchFamily="34" charset="0"/>
                          <a:cs typeface="Arial" panose="020B0604020202020204" pitchFamily="34" charset="0"/>
                        </a:rPr>
                        <a:t>Pain points</a:t>
                      </a:r>
                    </a:p>
                  </a:txBody>
                  <a:tcPr marL="54542" marR="54542" marT="81813" marB="81813" anchor="ctr">
                    <a:solidFill>
                      <a:schemeClr val="bg1">
                        <a:lumMod val="95000"/>
                      </a:schemeClr>
                    </a:solidFill>
                  </a:tcPr>
                </a:tc>
                <a:tc>
                  <a:txBody>
                    <a:bodyPr/>
                    <a:lstStyle/>
                    <a:p>
                      <a:pPr fontAlgn="base">
                        <a:lnSpc>
                          <a:spcPts val="1200"/>
                        </a:lnSpc>
                      </a:pPr>
                      <a:r>
                        <a:rPr lang="it-IT" sz="1400" b="0">
                          <a:effectLst/>
                          <a:latin typeface="Arial" panose="020B0604020202020204" pitchFamily="34" charset="0"/>
                          <a:cs typeface="Arial" panose="020B0604020202020204" pitchFamily="34" charset="0"/>
                        </a:rPr>
                        <a:t>No standard, messy multi-model support</a:t>
                      </a:r>
                    </a:p>
                  </a:txBody>
                  <a:tcPr marL="54542" marR="54542" marT="81813" marB="81813"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Need to set up servers</a:t>
                      </a:r>
                    </a:p>
                  </a:txBody>
                  <a:tcPr marL="54542" marR="54542" marT="81813" marB="81813"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Still early days, limited support</a:t>
                      </a:r>
                    </a:p>
                  </a:txBody>
                  <a:tcPr marL="54542" marR="54542" marT="81813" marB="81813" anchor="ctr">
                    <a:solidFill>
                      <a:schemeClr val="bg1">
                        <a:lumMod val="95000"/>
                      </a:schemeClr>
                    </a:solidFill>
                  </a:tcPr>
                </a:tc>
                <a:extLst>
                  <a:ext uri="{0D108BD9-81ED-4DB2-BD59-A6C34878D82A}">
                    <a16:rowId xmlns:a16="http://schemas.microsoft.com/office/drawing/2014/main" val="2804569963"/>
                  </a:ext>
                </a:extLst>
              </a:tr>
              <a:tr h="1136161">
                <a:tc>
                  <a:txBody>
                    <a:bodyPr/>
                    <a:lstStyle/>
                    <a:p>
                      <a:pPr fontAlgn="base">
                        <a:lnSpc>
                          <a:spcPts val="1200"/>
                        </a:lnSpc>
                      </a:pPr>
                      <a:r>
                        <a:rPr lang="en-IN" sz="1400" b="0">
                          <a:effectLst/>
                          <a:latin typeface="Arial" panose="020B0604020202020204" pitchFamily="34" charset="0"/>
                          <a:cs typeface="Arial" panose="020B0604020202020204" pitchFamily="34" charset="0"/>
                        </a:rPr>
                        <a:t>Real-world analogy</a:t>
                      </a:r>
                    </a:p>
                  </a:txBody>
                  <a:tcPr marL="54542" marR="54542" marT="81813" marB="54542"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Teaching your AI to make phone calls</a:t>
                      </a:r>
                    </a:p>
                  </a:txBody>
                  <a:tcPr marL="54542" marR="54542" marT="81813" marB="54542"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Having any smart app access any database/API easily</a:t>
                      </a:r>
                    </a:p>
                  </a:txBody>
                  <a:tcPr marL="54542" marR="54542" marT="81813" marB="54542" anchor="ctr">
                    <a:solidFill>
                      <a:schemeClr val="bg1">
                        <a:lumMod val="95000"/>
                      </a:schemeClr>
                    </a:solidFill>
                  </a:tcPr>
                </a:tc>
                <a:tc>
                  <a:txBody>
                    <a:bodyPr/>
                    <a:lstStyle/>
                    <a:p>
                      <a:pPr fontAlgn="base">
                        <a:lnSpc>
                          <a:spcPts val="1200"/>
                        </a:lnSpc>
                      </a:pPr>
                      <a:r>
                        <a:rPr lang="en-US" sz="1400" b="0" dirty="0">
                          <a:effectLst/>
                          <a:latin typeface="Arial" panose="020B0604020202020204" pitchFamily="34" charset="0"/>
                          <a:cs typeface="Arial" panose="020B0604020202020204" pitchFamily="34" charset="0"/>
                        </a:rPr>
                        <a:t>Having teams of bots working together like coworkers</a:t>
                      </a:r>
                    </a:p>
                  </a:txBody>
                  <a:tcPr marL="54542" marR="54542" marT="81813" marB="54542" anchor="ctr">
                    <a:solidFill>
                      <a:schemeClr val="bg1">
                        <a:lumMod val="95000"/>
                      </a:schemeClr>
                    </a:solidFill>
                  </a:tcPr>
                </a:tc>
                <a:extLst>
                  <a:ext uri="{0D108BD9-81ED-4DB2-BD59-A6C34878D82A}">
                    <a16:rowId xmlns:a16="http://schemas.microsoft.com/office/drawing/2014/main" val="3943160472"/>
                  </a:ext>
                </a:extLst>
              </a:tr>
            </a:tbl>
          </a:graphicData>
        </a:graphic>
      </p:graphicFrame>
      <p:sp>
        <p:nvSpPr>
          <p:cNvPr id="8" name="TextBox 7">
            <a:extLst>
              <a:ext uri="{FF2B5EF4-FFF2-40B4-BE49-F238E27FC236}">
                <a16:creationId xmlns:a16="http://schemas.microsoft.com/office/drawing/2014/main" id="{51DA2BEA-6DFE-DA02-C2E8-9CEE2A6CB18D}"/>
              </a:ext>
            </a:extLst>
          </p:cNvPr>
          <p:cNvSpPr txBox="1"/>
          <p:nvPr/>
        </p:nvSpPr>
        <p:spPr>
          <a:xfrm>
            <a:off x="776378" y="6284727"/>
            <a:ext cx="6096000" cy="276999"/>
          </a:xfrm>
          <a:prstGeom prst="rect">
            <a:avLst/>
          </a:prstGeom>
          <a:noFill/>
        </p:spPr>
        <p:txBody>
          <a:bodyPr wrap="square">
            <a:spAutoFit/>
          </a:bodyPr>
          <a:lstStyle/>
          <a:p>
            <a:r>
              <a:rPr lang="en-IN" sz="1200" dirty="0">
                <a:latin typeface="Arial" panose="020B0604020202020204" pitchFamily="34" charset="0"/>
                <a:cs typeface="Arial" panose="020B0604020202020204" pitchFamily="34" charset="0"/>
                <a:hlinkClick r:id="rId2"/>
              </a:rPr>
              <a:t>Function Calling vs. MCP vs. A2A: Developer’s Guide to AI Agent Protocols - </a:t>
            </a:r>
            <a:r>
              <a:rPr lang="en-IN" sz="1200" dirty="0" err="1">
                <a:latin typeface="Arial" panose="020B0604020202020204" pitchFamily="34" charset="0"/>
                <a:cs typeface="Arial" panose="020B0604020202020204" pitchFamily="34" charset="0"/>
                <a:hlinkClick r:id="rId2"/>
              </a:rPr>
              <a:t>Zilliz</a:t>
            </a:r>
            <a:r>
              <a:rPr lang="en-IN" sz="1200" dirty="0">
                <a:latin typeface="Arial" panose="020B0604020202020204" pitchFamily="34" charset="0"/>
                <a:cs typeface="Arial" panose="020B0604020202020204" pitchFamily="34" charset="0"/>
                <a:hlinkClick r:id="rId2"/>
              </a:rPr>
              <a:t> blog</a:t>
            </a:r>
            <a:endParaRPr lang="en-IN"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7187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4DCD-DDC0-215A-FBE6-88767C6DE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B26A5-259E-C9A0-D45A-73B6A3DF92E9}"/>
              </a:ext>
            </a:extLst>
          </p:cNvPr>
          <p:cNvSpPr>
            <a:spLocks noGrp="1"/>
          </p:cNvSpPr>
          <p:nvPr>
            <p:ph type="title"/>
          </p:nvPr>
        </p:nvSpPr>
        <p:spPr>
          <a:xfrm>
            <a:off x="159589" y="231951"/>
            <a:ext cx="10515600" cy="805132"/>
          </a:xfrm>
        </p:spPr>
        <p:txBody>
          <a:bodyPr>
            <a:normAutofit fontScale="90000"/>
          </a:bodyPr>
          <a:lstStyle/>
          <a:p>
            <a:r>
              <a:rPr lang="en-US" dirty="0">
                <a:latin typeface="Arial" panose="020B0604020202020204" pitchFamily="34" charset="0"/>
                <a:cs typeface="Arial" panose="020B0604020202020204" pitchFamily="34" charset="0"/>
              </a:rPr>
              <a:t>Function Calling: Giving AI Tools to Work With</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D609704-3E5D-D40C-DBF0-62518E136113}"/>
              </a:ext>
            </a:extLst>
          </p:cNvPr>
          <p:cNvSpPr>
            <a:spLocks noGrp="1"/>
          </p:cNvSpPr>
          <p:nvPr>
            <p:ph idx="1"/>
          </p:nvPr>
        </p:nvSpPr>
        <p:spPr>
          <a:xfrm>
            <a:off x="487394" y="992915"/>
            <a:ext cx="10979989" cy="1124609"/>
          </a:xfrm>
        </p:spPr>
        <p:txBody>
          <a:bodyPr>
            <a:noAutofit/>
          </a:bodyPr>
          <a:lstStyle/>
          <a:p>
            <a:pPr marL="0" indent="0">
              <a:buNone/>
            </a:pPr>
            <a:r>
              <a:rPr lang="en-US" sz="1400" dirty="0">
                <a:latin typeface="Arial" panose="020B0604020202020204" pitchFamily="34" charset="0"/>
                <a:cs typeface="Arial" panose="020B0604020202020204" pitchFamily="34" charset="0"/>
              </a:rPr>
              <a:t>Function calling is the ability for an AI model to recognize when it needs to use an external tool or API, and to generate the proper structured arguments for that function call. It's essentially teaching AI when and how to use tools to accomplish tasks beyond simple text generation.</a:t>
            </a:r>
            <a:endParaRPr lang="en-IN"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1C65241-47F6-E8E6-D1E5-247B45ABB254}"/>
              </a:ext>
            </a:extLst>
          </p:cNvPr>
          <p:cNvSpPr txBox="1"/>
          <p:nvPr/>
        </p:nvSpPr>
        <p:spPr>
          <a:xfrm>
            <a:off x="487393" y="1789669"/>
            <a:ext cx="10979989" cy="1600438"/>
          </a:xfrm>
          <a:prstGeom prst="rect">
            <a:avLst/>
          </a:prstGeom>
          <a:solidFill>
            <a:schemeClr val="tx2">
              <a:lumMod val="10000"/>
              <a:lumOff val="90000"/>
            </a:schemeClr>
          </a:solidFill>
        </p:spPr>
        <p:txBody>
          <a:bodyPr wrap="square">
            <a:spAutoFit/>
          </a:bodyPr>
          <a:lstStyle/>
          <a:p>
            <a:r>
              <a:rPr lang="en-US" sz="1400" b="1" dirty="0"/>
              <a:t>Analogy: The New Intern</a:t>
            </a:r>
          </a:p>
          <a:p>
            <a:r>
              <a:rPr lang="en-US" sz="1400" dirty="0"/>
              <a:t>Imagine you've hired a new intern at your office. You've shown them all the available tools - Excel for spreadsheets, Email for communication, the printer for documents, etc. Now, whenever a task comes up, the intern decides which tool is appropriate. If they need to create a report, they use Excel. If they need to send a message, they use Email.</a:t>
            </a:r>
          </a:p>
          <a:p>
            <a:endParaRPr lang="en-US" sz="1400" dirty="0"/>
          </a:p>
          <a:p>
            <a:r>
              <a:rPr lang="en-US" sz="1400" dirty="0"/>
              <a:t>Similarly, with function calling, you tell the AI what functions are available (along with their descriptions and required parameters), and the AI decides when to use them and with what parameters based on the user's request.</a:t>
            </a:r>
          </a:p>
        </p:txBody>
      </p:sp>
      <p:sp>
        <p:nvSpPr>
          <p:cNvPr id="5" name="TextBox 4">
            <a:extLst>
              <a:ext uri="{FF2B5EF4-FFF2-40B4-BE49-F238E27FC236}">
                <a16:creationId xmlns:a16="http://schemas.microsoft.com/office/drawing/2014/main" id="{780331B0-D006-F8FB-29AA-8160CFAFDB62}"/>
              </a:ext>
            </a:extLst>
          </p:cNvPr>
          <p:cNvSpPr txBox="1"/>
          <p:nvPr/>
        </p:nvSpPr>
        <p:spPr>
          <a:xfrm>
            <a:off x="446059" y="3469232"/>
            <a:ext cx="7781924" cy="2392963"/>
          </a:xfrm>
          <a:prstGeom prst="rect">
            <a:avLst/>
          </a:prstGeom>
          <a:noFill/>
        </p:spPr>
        <p:txBody>
          <a:bodyPr wrap="square">
            <a:spAutoFit/>
          </a:bodyPr>
          <a:lstStyle/>
          <a:p>
            <a:pPr algn="l">
              <a:buNone/>
            </a:pPr>
            <a:r>
              <a:rPr lang="en-US" sz="1400" b="1" i="0" dirty="0">
                <a:solidFill>
                  <a:srgbClr val="000000"/>
                </a:solidFill>
                <a:effectLst/>
                <a:latin typeface="Segoe UI" panose="020B0502040204020203" pitchFamily="34" charset="0"/>
              </a:rPr>
              <a:t>How Function Calling Works</a:t>
            </a:r>
          </a:p>
          <a:p>
            <a:pPr algn="l">
              <a:buNone/>
            </a:pPr>
            <a:endParaRPr lang="en-US" sz="1400" b="1" i="0" dirty="0">
              <a:solidFill>
                <a:srgbClr val="000000"/>
              </a:solidFill>
              <a:effectLst/>
              <a:latin typeface="Segoe UI" panose="020B0502040204020203" pitchFamily="34" charset="0"/>
            </a:endParaRPr>
          </a:p>
          <a:p>
            <a:pPr algn="l">
              <a:buFont typeface="+mj-lt"/>
              <a:buAutoNum type="arabicPeriod"/>
            </a:pPr>
            <a:r>
              <a:rPr lang="en-US" sz="1200" b="1" i="0" dirty="0">
                <a:solidFill>
                  <a:srgbClr val="000000"/>
                </a:solidFill>
                <a:effectLst/>
                <a:latin typeface="Segoe UI" panose="020B0502040204020203" pitchFamily="34" charset="0"/>
              </a:rPr>
              <a:t>Define Functions:</a:t>
            </a:r>
            <a:r>
              <a:rPr lang="en-US" sz="1200" b="0" i="0" dirty="0">
                <a:solidFill>
                  <a:srgbClr val="000000"/>
                </a:solidFill>
                <a:effectLst/>
                <a:latin typeface="Segoe UI" panose="020B0502040204020203" pitchFamily="34" charset="0"/>
              </a:rPr>
              <a:t> Developers define available functions with their names, descriptions, and required parameters.</a:t>
            </a:r>
          </a:p>
          <a:p>
            <a:pPr algn="l">
              <a:spcBef>
                <a:spcPts val="900"/>
              </a:spcBef>
              <a:buFont typeface="+mj-lt"/>
              <a:buAutoNum type="arabicPeriod"/>
            </a:pPr>
            <a:r>
              <a:rPr lang="en-US" sz="1200" b="1" i="0" dirty="0">
                <a:solidFill>
                  <a:srgbClr val="000000"/>
                </a:solidFill>
                <a:effectLst/>
                <a:latin typeface="Segoe UI" panose="020B0502040204020203" pitchFamily="34" charset="0"/>
              </a:rPr>
              <a:t>User Input:</a:t>
            </a:r>
            <a:r>
              <a:rPr lang="en-US" sz="1200" b="0" i="0" dirty="0">
                <a:solidFill>
                  <a:srgbClr val="000000"/>
                </a:solidFill>
                <a:effectLst/>
                <a:latin typeface="Segoe UI" panose="020B0502040204020203" pitchFamily="34" charset="0"/>
              </a:rPr>
              <a:t> A user asks a question like "What's the weather in London?"</a:t>
            </a:r>
          </a:p>
          <a:p>
            <a:pPr algn="l">
              <a:spcBef>
                <a:spcPts val="900"/>
              </a:spcBef>
              <a:buFont typeface="+mj-lt"/>
              <a:buAutoNum type="arabicPeriod"/>
            </a:pPr>
            <a:r>
              <a:rPr lang="en-US" sz="1200" b="1" i="0" dirty="0">
                <a:solidFill>
                  <a:srgbClr val="000000"/>
                </a:solidFill>
                <a:effectLst/>
                <a:latin typeface="Segoe UI" panose="020B0502040204020203" pitchFamily="34" charset="0"/>
              </a:rPr>
              <a:t>AI Analysis:</a:t>
            </a:r>
            <a:r>
              <a:rPr lang="en-US" sz="1200" b="0" i="0" dirty="0">
                <a:solidFill>
                  <a:srgbClr val="000000"/>
                </a:solidFill>
                <a:effectLst/>
                <a:latin typeface="Segoe UI" panose="020B0502040204020203" pitchFamily="34" charset="0"/>
              </a:rPr>
              <a:t> The AI recognizes this requires external data and determines the weather function is appropriate.</a:t>
            </a:r>
          </a:p>
          <a:p>
            <a:pPr algn="l">
              <a:spcBef>
                <a:spcPts val="900"/>
              </a:spcBef>
              <a:buFont typeface="+mj-lt"/>
              <a:buAutoNum type="arabicPeriod"/>
            </a:pPr>
            <a:r>
              <a:rPr lang="en-US" sz="1200" b="1" i="0" dirty="0">
                <a:solidFill>
                  <a:srgbClr val="000000"/>
                </a:solidFill>
                <a:effectLst/>
                <a:latin typeface="Segoe UI" panose="020B0502040204020203" pitchFamily="34" charset="0"/>
              </a:rPr>
              <a:t>Parameter Generation:</a:t>
            </a:r>
            <a:r>
              <a:rPr lang="en-US" sz="1200" b="0" i="0" dirty="0">
                <a:solidFill>
                  <a:srgbClr val="000000"/>
                </a:solidFill>
                <a:effectLst/>
                <a:latin typeface="Segoe UI" panose="020B0502040204020203" pitchFamily="34" charset="0"/>
              </a:rPr>
              <a:t> The AI structures the necessary parameters (location="London").</a:t>
            </a:r>
          </a:p>
          <a:p>
            <a:pPr algn="l">
              <a:spcBef>
                <a:spcPts val="900"/>
              </a:spcBef>
              <a:buFont typeface="+mj-lt"/>
              <a:buAutoNum type="arabicPeriod"/>
            </a:pPr>
            <a:r>
              <a:rPr lang="en-US" sz="1200" b="1" i="0" dirty="0">
                <a:solidFill>
                  <a:srgbClr val="000000"/>
                </a:solidFill>
                <a:effectLst/>
                <a:latin typeface="Segoe UI" panose="020B0502040204020203" pitchFamily="34" charset="0"/>
              </a:rPr>
              <a:t>Function Execution:</a:t>
            </a:r>
            <a:r>
              <a:rPr lang="en-US" sz="1200" b="0" i="0" dirty="0">
                <a:solidFill>
                  <a:srgbClr val="000000"/>
                </a:solidFill>
                <a:effectLst/>
                <a:latin typeface="Segoe UI" panose="020B0502040204020203" pitchFamily="34" charset="0"/>
              </a:rPr>
              <a:t> Your system executes the function (calls the weather API).</a:t>
            </a:r>
          </a:p>
          <a:p>
            <a:pPr algn="l">
              <a:spcBef>
                <a:spcPts val="900"/>
              </a:spcBef>
              <a:buFont typeface="+mj-lt"/>
              <a:buAutoNum type="arabicPeriod"/>
            </a:pPr>
            <a:r>
              <a:rPr lang="en-US" sz="1200" b="1" i="0" dirty="0">
                <a:solidFill>
                  <a:srgbClr val="000000"/>
                </a:solidFill>
                <a:effectLst/>
                <a:latin typeface="Segoe UI" panose="020B0502040204020203" pitchFamily="34" charset="0"/>
              </a:rPr>
              <a:t>Response Integration:</a:t>
            </a:r>
            <a:r>
              <a:rPr lang="en-US" sz="1200" b="0" i="0" dirty="0">
                <a:solidFill>
                  <a:srgbClr val="000000"/>
                </a:solidFill>
                <a:effectLst/>
                <a:latin typeface="Segoe UI" panose="020B0502040204020203" pitchFamily="34" charset="0"/>
              </a:rPr>
              <a:t> The AI incorporates the result into a natural, conversational response.</a:t>
            </a:r>
          </a:p>
        </p:txBody>
      </p:sp>
      <p:pic>
        <p:nvPicPr>
          <p:cNvPr id="8" name="Picture 7">
            <a:extLst>
              <a:ext uri="{FF2B5EF4-FFF2-40B4-BE49-F238E27FC236}">
                <a16:creationId xmlns:a16="http://schemas.microsoft.com/office/drawing/2014/main" id="{A37470CF-C84E-C595-13F6-094906925868}"/>
              </a:ext>
            </a:extLst>
          </p:cNvPr>
          <p:cNvPicPr>
            <a:picLocks noChangeAspect="1"/>
          </p:cNvPicPr>
          <p:nvPr/>
        </p:nvPicPr>
        <p:blipFill>
          <a:blip r:embed="rId2"/>
          <a:stretch>
            <a:fillRect/>
          </a:stretch>
        </p:blipFill>
        <p:spPr>
          <a:xfrm>
            <a:off x="8953509" y="3437737"/>
            <a:ext cx="2505092" cy="2610662"/>
          </a:xfrm>
          <a:prstGeom prst="rect">
            <a:avLst/>
          </a:prstGeom>
        </p:spPr>
      </p:pic>
      <p:sp>
        <p:nvSpPr>
          <p:cNvPr id="12" name="TextBox 11">
            <a:extLst>
              <a:ext uri="{FF2B5EF4-FFF2-40B4-BE49-F238E27FC236}">
                <a16:creationId xmlns:a16="http://schemas.microsoft.com/office/drawing/2014/main" id="{62E48252-B5A1-999F-36B6-0226CD97762E}"/>
              </a:ext>
            </a:extLst>
          </p:cNvPr>
          <p:cNvSpPr txBox="1"/>
          <p:nvPr/>
        </p:nvSpPr>
        <p:spPr>
          <a:xfrm>
            <a:off x="429883" y="6048399"/>
            <a:ext cx="11332234" cy="584775"/>
          </a:xfrm>
          <a:prstGeom prst="rect">
            <a:avLst/>
          </a:prstGeom>
          <a:solidFill>
            <a:schemeClr val="bg2">
              <a:lumMod val="90000"/>
            </a:schemeClr>
          </a:solidFill>
        </p:spPr>
        <p:txBody>
          <a:bodyPr wrap="square">
            <a:spAutoFit/>
          </a:bodyPr>
          <a:lstStyle/>
          <a:p>
            <a:r>
              <a:rPr lang="en-US" sz="1600" dirty="0">
                <a:latin typeface="Arial" panose="020B0604020202020204" pitchFamily="34" charset="0"/>
                <a:cs typeface="Arial" panose="020B0604020202020204" pitchFamily="34" charset="0"/>
              </a:rPr>
              <a:t>Function calling was first introduced by OpenAI in June 2023. Since then, it has been widely adopted across the industry and has become a fundamental capability in modern AI systems.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4943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F41E9C9-C6C7-0C4C-3FB5-3527B420FCA7}"/>
              </a:ext>
            </a:extLst>
          </p:cNvPr>
          <p:cNvPicPr>
            <a:picLocks noChangeAspect="1"/>
          </p:cNvPicPr>
          <p:nvPr/>
        </p:nvPicPr>
        <p:blipFill>
          <a:blip r:embed="rId2"/>
          <a:stretch>
            <a:fillRect/>
          </a:stretch>
        </p:blipFill>
        <p:spPr>
          <a:xfrm>
            <a:off x="230038" y="1836316"/>
            <a:ext cx="5965161" cy="3935406"/>
          </a:xfrm>
          <a:prstGeom prst="rect">
            <a:avLst/>
          </a:prstGeom>
        </p:spPr>
      </p:pic>
      <p:sp>
        <p:nvSpPr>
          <p:cNvPr id="15" name="TextBox 14">
            <a:extLst>
              <a:ext uri="{FF2B5EF4-FFF2-40B4-BE49-F238E27FC236}">
                <a16:creationId xmlns:a16="http://schemas.microsoft.com/office/drawing/2014/main" id="{C729CCF7-6595-5A3E-0615-6D0F3B752D4A}"/>
              </a:ext>
            </a:extLst>
          </p:cNvPr>
          <p:cNvSpPr txBox="1"/>
          <p:nvPr/>
        </p:nvSpPr>
        <p:spPr>
          <a:xfrm>
            <a:off x="230038" y="1031184"/>
            <a:ext cx="609600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Functions are defined in JSON Schema format, providing the AI with a clear structure of available tools:</a:t>
            </a:r>
            <a:endParaRPr lang="en-IN"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407E37F-4445-CB79-946B-BCF1586BBE52}"/>
              </a:ext>
            </a:extLst>
          </p:cNvPr>
          <p:cNvSpPr txBox="1"/>
          <p:nvPr/>
        </p:nvSpPr>
        <p:spPr>
          <a:xfrm>
            <a:off x="6446807" y="1031183"/>
            <a:ext cx="5440393" cy="646331"/>
          </a:xfrm>
          <a:prstGeom prst="rect">
            <a:avLst/>
          </a:prstGeom>
          <a:noFill/>
        </p:spPr>
        <p:txBody>
          <a:bodyPr wrap="square">
            <a:spAutoFit/>
          </a:bodyPr>
          <a:lstStyle/>
          <a:p>
            <a:r>
              <a:rPr lang="en-US" b="0" i="0" dirty="0">
                <a:solidFill>
                  <a:srgbClr val="000000"/>
                </a:solidFill>
                <a:effectLst/>
                <a:latin typeface="Arial" panose="020B0604020202020204" pitchFamily="34" charset="0"/>
                <a:cs typeface="Arial" panose="020B0604020202020204" pitchFamily="34" charset="0"/>
              </a:rPr>
              <a:t>When the AI determines a function call is needed, it generates a structured output like this:</a:t>
            </a:r>
            <a:endParaRPr lang="en-IN"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C785D448-D241-6440-8E64-712A5E9F0B03}"/>
              </a:ext>
            </a:extLst>
          </p:cNvPr>
          <p:cNvPicPr>
            <a:picLocks noChangeAspect="1"/>
          </p:cNvPicPr>
          <p:nvPr/>
        </p:nvPicPr>
        <p:blipFill>
          <a:blip r:embed="rId3"/>
          <a:stretch>
            <a:fillRect/>
          </a:stretch>
        </p:blipFill>
        <p:spPr>
          <a:xfrm>
            <a:off x="7692956" y="2637693"/>
            <a:ext cx="3355231" cy="1922805"/>
          </a:xfrm>
          <a:prstGeom prst="rect">
            <a:avLst/>
          </a:prstGeom>
        </p:spPr>
      </p:pic>
      <p:sp>
        <p:nvSpPr>
          <p:cNvPr id="24" name="Title 1">
            <a:extLst>
              <a:ext uri="{FF2B5EF4-FFF2-40B4-BE49-F238E27FC236}">
                <a16:creationId xmlns:a16="http://schemas.microsoft.com/office/drawing/2014/main" id="{F4CE0D20-8D69-FF38-A7DF-7A4A7995FB81}"/>
              </a:ext>
            </a:extLst>
          </p:cNvPr>
          <p:cNvSpPr>
            <a:spLocks noGrp="1"/>
          </p:cNvSpPr>
          <p:nvPr>
            <p:ph type="title"/>
          </p:nvPr>
        </p:nvSpPr>
        <p:spPr>
          <a:xfrm>
            <a:off x="159589" y="231951"/>
            <a:ext cx="10515600" cy="805132"/>
          </a:xfrm>
        </p:spPr>
        <p:txBody>
          <a:bodyPr>
            <a:normAutofit fontScale="90000"/>
          </a:bodyPr>
          <a:lstStyle/>
          <a:p>
            <a:r>
              <a:rPr lang="en-US" dirty="0">
                <a:latin typeface="Arial" panose="020B0604020202020204" pitchFamily="34" charset="0"/>
                <a:cs typeface="Arial" panose="020B0604020202020204" pitchFamily="34" charset="0"/>
              </a:rPr>
              <a:t>Function Calling: Technical Implementation</a:t>
            </a:r>
            <a:endParaRPr lang="en-IN" dirty="0">
              <a:latin typeface="Arial" panose="020B0604020202020204" pitchFamily="34" charset="0"/>
              <a:cs typeface="Arial" panose="020B0604020202020204" pitchFamily="34" charset="0"/>
            </a:endParaRPr>
          </a:p>
        </p:txBody>
      </p:sp>
      <p:sp>
        <p:nvSpPr>
          <p:cNvPr id="25" name="Arrow: Right 24">
            <a:extLst>
              <a:ext uri="{FF2B5EF4-FFF2-40B4-BE49-F238E27FC236}">
                <a16:creationId xmlns:a16="http://schemas.microsoft.com/office/drawing/2014/main" id="{147B1E6E-0407-FE73-2F38-97F6108CCDED}"/>
              </a:ext>
            </a:extLst>
          </p:cNvPr>
          <p:cNvSpPr/>
          <p:nvPr/>
        </p:nvSpPr>
        <p:spPr>
          <a:xfrm>
            <a:off x="6195199" y="3203275"/>
            <a:ext cx="1497757" cy="8051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05702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13BB-5691-6F2F-2FD3-5A66AA563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E3D8B-1752-AECD-5CAA-71899B3C116D}"/>
              </a:ext>
            </a:extLst>
          </p:cNvPr>
          <p:cNvSpPr>
            <a:spLocks noGrp="1"/>
          </p:cNvSpPr>
          <p:nvPr>
            <p:ph type="title"/>
          </p:nvPr>
        </p:nvSpPr>
        <p:spPr>
          <a:xfrm>
            <a:off x="598100" y="365125"/>
            <a:ext cx="10755700" cy="1325563"/>
          </a:xfrm>
        </p:spPr>
        <p:txBody>
          <a:bodyPr/>
          <a:lstStyle/>
          <a:p>
            <a:r>
              <a:rPr lang="en-US" dirty="0">
                <a:latin typeface="Arial" panose="020B0604020202020204" pitchFamily="34" charset="0"/>
                <a:cs typeface="Arial" panose="020B0604020202020204" pitchFamily="34" charset="0"/>
              </a:rPr>
              <a:t>Function Calling: </a:t>
            </a:r>
            <a:r>
              <a:rPr lang="en-IN" dirty="0"/>
              <a:t>Real-World Applications</a:t>
            </a:r>
          </a:p>
        </p:txBody>
      </p:sp>
      <p:sp>
        <p:nvSpPr>
          <p:cNvPr id="12" name="Rectangle 1">
            <a:extLst>
              <a:ext uri="{FF2B5EF4-FFF2-40B4-BE49-F238E27FC236}">
                <a16:creationId xmlns:a16="http://schemas.microsoft.com/office/drawing/2014/main" id="{5C1B2B2D-F0B7-FC40-FA2B-DFDA1A6A727D}"/>
              </a:ext>
            </a:extLst>
          </p:cNvPr>
          <p:cNvSpPr>
            <a:spLocks noChangeArrowheads="1"/>
          </p:cNvSpPr>
          <p:nvPr/>
        </p:nvSpPr>
        <p:spPr bwMode="auto">
          <a:xfrm>
            <a:off x="6280030" y="1536008"/>
            <a:ext cx="550940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accent1"/>
                </a:solidFill>
                <a:effectLst/>
                <a:latin typeface="Arial" panose="020B0604020202020204" pitchFamily="34" charset="0"/>
                <a:cs typeface="Arial" panose="020B0604020202020204" pitchFamily="34" charset="0"/>
              </a:rPr>
              <a:t>Customer Service: Loan Application Assistance</a:t>
            </a:r>
            <a:endParaRPr kumimoji="0" lang="en-US" altLang="en-US" sz="1400" b="0" i="0" u="none" strike="noStrike" cap="none" normalizeH="0" baseline="0" dirty="0">
              <a:ln>
                <a:noFill/>
              </a:ln>
              <a:solidFill>
                <a:schemeClr val="accent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Scenario:</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customer interacts with an AI assistant to inquire about loan eligibility or initiate a loan application.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Function Calling:</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AI, based on the conversation, can trigger function calls to: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check_customer_credit_score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Access an internal or external credit scoring system to get the customer's creditworthiness.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retrieve_loan_product_details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loan_type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customer_segment</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Fetch specific details (interest rates, terms, eligibility criteria) for various loan products relevant to the customer's profile.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initiate_loan_application_form</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loan_type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prefilled_data</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Start a digital loan application process, pre-filling known customer information to simplify the user experience.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schedule_call_with_loan_officer</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preferred_time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If the AI cannot fully assist, it can call a function to integrate with the bank's CRM or scheduling system to book a call with a human loan officer.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Benefit:</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Speeds up the loan application process, provides accurate and immediate information to customers, and reduces the workload on human customer service representatives.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13" name="Rectangle 2">
            <a:extLst>
              <a:ext uri="{FF2B5EF4-FFF2-40B4-BE49-F238E27FC236}">
                <a16:creationId xmlns:a16="http://schemas.microsoft.com/office/drawing/2014/main" id="{AA7BBF3F-26AD-B072-F744-B05580F80FEF}"/>
              </a:ext>
            </a:extLst>
          </p:cNvPr>
          <p:cNvSpPr>
            <a:spLocks noChangeArrowheads="1"/>
          </p:cNvSpPr>
          <p:nvPr/>
        </p:nvSpPr>
        <p:spPr bwMode="auto">
          <a:xfrm>
            <a:off x="598100" y="1505230"/>
            <a:ext cx="5313872"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accent1"/>
                </a:solidFill>
                <a:effectLst/>
                <a:latin typeface="Arial" panose="020B0604020202020204" pitchFamily="34" charset="0"/>
                <a:cs typeface="Arial" panose="020B0604020202020204" pitchFamily="34" charset="0"/>
              </a:rPr>
              <a:t>Information Retrieval: Product Information and Comparison in Banking</a:t>
            </a:r>
            <a:endParaRPr kumimoji="0" lang="en-US" altLang="en-US" sz="1400" b="0" i="0" u="none" strike="noStrike" cap="none" normalizeH="0" baseline="0" dirty="0">
              <a:ln>
                <a:noFill/>
              </a:ln>
              <a:solidFill>
                <a:schemeClr val="accent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Scenario:</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customer on a bank's website or mobile app asks a chatbot, "Compare the features of the 'Platinum Rewards Credit Card' with the 'Premium Travel Credit Card' and show me customer ratings for both."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Function Calling for :</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chatbot initiates multiple function calls to the bank's product database and customer feedback system:</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get_credit_card_details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Platinum_Rewards_Credit_Card_ID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get_credit_card_details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Premium_Travel_Credit_Card_ID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get_customer_product_ratings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product_id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Platinum_Rewards_Credit_Card_ID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num_ratings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=5)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get_customer_product_ratings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product_id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Premium_Travel_Credit_Card_ID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num_ratings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=5)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Information Retrieved: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Detailed specifications for both credit cards (e.g., annual fees, interest rates, reward points structure, travel benefits, foreign transaction fees), and the latest customer ratings or aggregated sentiment scores for each card.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Application:</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chatbot presents a structured comparison of the credit card features and summarizes customer feedback, empowering the customer to make an informed decision about which banking product best suits their needs.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8130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F3FC4494-CA6F-C03F-0BBF-FF3619A94644}"/>
              </a:ext>
            </a:extLst>
          </p:cNvPr>
          <p:cNvSpPr txBox="1"/>
          <p:nvPr/>
        </p:nvSpPr>
        <p:spPr>
          <a:xfrm>
            <a:off x="608162" y="1299714"/>
            <a:ext cx="6096000" cy="1908215"/>
          </a:xfrm>
          <a:prstGeom prst="rect">
            <a:avLst/>
          </a:prstGeom>
          <a:noFill/>
        </p:spPr>
        <p:txBody>
          <a:bodyPr wrap="square">
            <a:spAutoFit/>
          </a:bodyPr>
          <a:lstStyle/>
          <a:p>
            <a:pPr algn="l">
              <a:buNone/>
            </a:pPr>
            <a:r>
              <a:rPr lang="en-US" b="1" i="0" dirty="0">
                <a:solidFill>
                  <a:srgbClr val="065F46"/>
                </a:solidFill>
                <a:effectLst/>
                <a:latin typeface="Segoe UI" panose="020B0502040204020203" pitchFamily="34" charset="0"/>
              </a:rPr>
              <a:t>Advantages</a:t>
            </a:r>
          </a:p>
          <a:p>
            <a:pPr marL="285750" indent="-285750" algn="l">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Easy implementation:</a:t>
            </a:r>
            <a:r>
              <a:rPr lang="en-US" sz="1600" b="0" i="0" dirty="0">
                <a:solidFill>
                  <a:srgbClr val="000000"/>
                </a:solidFill>
                <a:effectLst/>
                <a:latin typeface="Arial" panose="020B0604020202020204" pitchFamily="34" charset="0"/>
                <a:cs typeface="Arial" panose="020B0604020202020204" pitchFamily="34" charset="0"/>
              </a:rPr>
              <a:t> Simple to set up with most AI APIs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Direct integration:</a:t>
            </a:r>
            <a:r>
              <a:rPr lang="en-US" sz="1600" b="0" i="0" dirty="0">
                <a:solidFill>
                  <a:srgbClr val="000000"/>
                </a:solidFill>
                <a:effectLst/>
                <a:latin typeface="Arial" panose="020B0604020202020204" pitchFamily="34" charset="0"/>
                <a:cs typeface="Arial" panose="020B0604020202020204" pitchFamily="34" charset="0"/>
              </a:rPr>
              <a:t> Works within existing LLM frameworks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Flexibility:</a:t>
            </a:r>
            <a:r>
              <a:rPr lang="en-US" sz="1600" b="0" i="0" dirty="0">
                <a:solidFill>
                  <a:srgbClr val="000000"/>
                </a:solidFill>
                <a:effectLst/>
                <a:latin typeface="Arial" panose="020B0604020202020204" pitchFamily="34" charset="0"/>
                <a:cs typeface="Arial" panose="020B0604020202020204" pitchFamily="34" charset="0"/>
              </a:rPr>
              <a:t> Can connect to virtually any API or service</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Structured output:</a:t>
            </a:r>
            <a:r>
              <a:rPr lang="en-US" sz="1600" b="0" i="0" dirty="0">
                <a:solidFill>
                  <a:srgbClr val="000000"/>
                </a:solidFill>
                <a:effectLst/>
                <a:latin typeface="Arial" panose="020B0604020202020204" pitchFamily="34" charset="0"/>
                <a:cs typeface="Arial" panose="020B0604020202020204" pitchFamily="34" charset="0"/>
              </a:rPr>
              <a:t> Guarantees valid parameter formats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Rapid adoption:</a:t>
            </a:r>
            <a:r>
              <a:rPr lang="en-US" sz="1600" b="0" i="0" dirty="0">
                <a:solidFill>
                  <a:srgbClr val="000000"/>
                </a:solidFill>
                <a:effectLst/>
                <a:latin typeface="Arial" panose="020B0604020202020204" pitchFamily="34" charset="0"/>
                <a:cs typeface="Arial" panose="020B0604020202020204" pitchFamily="34" charset="0"/>
              </a:rPr>
              <a:t> Widely supported across major AI providers</a:t>
            </a:r>
          </a:p>
        </p:txBody>
      </p:sp>
      <p:sp>
        <p:nvSpPr>
          <p:cNvPr id="23" name="TextBox 22">
            <a:extLst>
              <a:ext uri="{FF2B5EF4-FFF2-40B4-BE49-F238E27FC236}">
                <a16:creationId xmlns:a16="http://schemas.microsoft.com/office/drawing/2014/main" id="{338EE3FA-B5E1-8BF5-BA7A-E9094DCC7E6D}"/>
              </a:ext>
            </a:extLst>
          </p:cNvPr>
          <p:cNvSpPr txBox="1"/>
          <p:nvPr/>
        </p:nvSpPr>
        <p:spPr>
          <a:xfrm>
            <a:off x="608162" y="3496573"/>
            <a:ext cx="5975231" cy="2123658"/>
          </a:xfrm>
          <a:prstGeom prst="rect">
            <a:avLst/>
          </a:prstGeom>
          <a:noFill/>
        </p:spPr>
        <p:txBody>
          <a:bodyPr wrap="square">
            <a:spAutoFit/>
          </a:bodyPr>
          <a:lstStyle/>
          <a:p>
            <a:pPr algn="l">
              <a:buNone/>
            </a:pPr>
            <a:r>
              <a:rPr lang="en-US" sz="1600" b="1" i="0" dirty="0">
                <a:solidFill>
                  <a:srgbClr val="991B1B"/>
                </a:solidFill>
                <a:effectLst/>
                <a:latin typeface="Arial" panose="020B0604020202020204" pitchFamily="34" charset="0"/>
                <a:cs typeface="Arial" panose="020B0604020202020204" pitchFamily="34" charset="0"/>
              </a:rPr>
              <a:t>Limitations</a:t>
            </a:r>
          </a:p>
          <a:p>
            <a:pPr marL="285750" indent="-285750" algn="l">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Tight coupling:</a:t>
            </a:r>
            <a:r>
              <a:rPr lang="en-US" sz="1600" b="0" i="0" dirty="0">
                <a:solidFill>
                  <a:srgbClr val="000000"/>
                </a:solidFill>
                <a:effectLst/>
                <a:latin typeface="Arial" panose="020B0604020202020204" pitchFamily="34" charset="0"/>
                <a:cs typeface="Arial" panose="020B0604020202020204" pitchFamily="34" charset="0"/>
              </a:rPr>
              <a:t> Function logic embedded in AI reasoning</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Limited interoperability:</a:t>
            </a:r>
            <a:r>
              <a:rPr lang="en-US" sz="1600" b="0" i="0" dirty="0">
                <a:solidFill>
                  <a:srgbClr val="000000"/>
                </a:solidFill>
                <a:effectLst/>
                <a:latin typeface="Arial" panose="020B0604020202020204" pitchFamily="34" charset="0"/>
                <a:cs typeface="Arial" panose="020B0604020202020204" pitchFamily="34" charset="0"/>
              </a:rPr>
              <a:t> Not standardized across systems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Scaling challenges:</a:t>
            </a:r>
            <a:r>
              <a:rPr lang="en-US" sz="1600" b="0" i="0" dirty="0">
                <a:solidFill>
                  <a:srgbClr val="000000"/>
                </a:solidFill>
                <a:effectLst/>
                <a:latin typeface="Arial" panose="020B0604020202020204" pitchFamily="34" charset="0"/>
                <a:cs typeface="Arial" panose="020B0604020202020204" pitchFamily="34" charset="0"/>
              </a:rPr>
              <a:t> Complex with many functions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Vendor dependence:</a:t>
            </a:r>
            <a:r>
              <a:rPr lang="en-US" sz="1600" b="0" i="0" dirty="0">
                <a:solidFill>
                  <a:srgbClr val="000000"/>
                </a:solidFill>
                <a:effectLst/>
                <a:latin typeface="Arial" panose="020B0604020202020204" pitchFamily="34" charset="0"/>
                <a:cs typeface="Arial" panose="020B0604020202020204" pitchFamily="34" charset="0"/>
              </a:rPr>
              <a:t> Implementation varies by AI provider</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Limited context:</a:t>
            </a:r>
            <a:r>
              <a:rPr lang="en-US" sz="1600" b="0" i="0" dirty="0">
                <a:solidFill>
                  <a:srgbClr val="000000"/>
                </a:solidFill>
                <a:effectLst/>
                <a:latin typeface="Arial" panose="020B0604020202020204" pitchFamily="34" charset="0"/>
                <a:cs typeface="Arial" panose="020B0604020202020204" pitchFamily="34" charset="0"/>
              </a:rPr>
              <a:t> Functions may lack broader system awareness</a:t>
            </a:r>
          </a:p>
        </p:txBody>
      </p:sp>
      <p:sp>
        <p:nvSpPr>
          <p:cNvPr id="4" name="Title 1">
            <a:extLst>
              <a:ext uri="{FF2B5EF4-FFF2-40B4-BE49-F238E27FC236}">
                <a16:creationId xmlns:a16="http://schemas.microsoft.com/office/drawing/2014/main" id="{11D6079D-7C89-3108-F4DE-3A73DBF9FA03}"/>
              </a:ext>
            </a:extLst>
          </p:cNvPr>
          <p:cNvSpPr txBox="1">
            <a:spLocks/>
          </p:cNvSpPr>
          <p:nvPr/>
        </p:nvSpPr>
        <p:spPr>
          <a:xfrm>
            <a:off x="159589" y="231951"/>
            <a:ext cx="10515600" cy="805132"/>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Function Calling: Advantages and Limitations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3428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A6D6-8999-75B7-538C-526281FD9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BE9F3-EAC6-BE63-4DCF-368B5C9C838E}"/>
              </a:ext>
            </a:extLst>
          </p:cNvPr>
          <p:cNvSpPr>
            <a:spLocks noGrp="1"/>
          </p:cNvSpPr>
          <p:nvPr>
            <p:ph type="title"/>
          </p:nvPr>
        </p:nvSpPr>
        <p:spPr>
          <a:xfrm>
            <a:off x="159589" y="231951"/>
            <a:ext cx="11332234" cy="805132"/>
          </a:xfrm>
        </p:spPr>
        <p:txBody>
          <a:bodyPr>
            <a:noAutofit/>
          </a:bodyPr>
          <a:lstStyle/>
          <a:p>
            <a:r>
              <a:rPr lang="en-US" sz="2800" dirty="0">
                <a:latin typeface="Arial" panose="020B0604020202020204" pitchFamily="34" charset="0"/>
                <a:cs typeface="Arial" panose="020B0604020202020204" pitchFamily="34" charset="0"/>
              </a:rPr>
              <a:t>Model Context Protocol (MCP): The Universal Data Connector</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F4C863-E044-3EC0-1EA0-D3AAA8974BE5}"/>
              </a:ext>
            </a:extLst>
          </p:cNvPr>
          <p:cNvSpPr>
            <a:spLocks noGrp="1"/>
          </p:cNvSpPr>
          <p:nvPr>
            <p:ph idx="1"/>
          </p:nvPr>
        </p:nvSpPr>
        <p:spPr>
          <a:xfrm>
            <a:off x="487394" y="992915"/>
            <a:ext cx="10979989" cy="1124609"/>
          </a:xfrm>
        </p:spPr>
        <p:txBody>
          <a:bodyPr>
            <a:noAutofit/>
          </a:bodyPr>
          <a:lstStyle/>
          <a:p>
            <a:pPr marL="0" indent="0">
              <a:buNone/>
            </a:pPr>
            <a:r>
              <a:rPr lang="en-US" sz="1400" dirty="0">
                <a:latin typeface="Arial" panose="020B0604020202020204" pitchFamily="34" charset="0"/>
                <a:cs typeface="Arial" panose="020B0604020202020204" pitchFamily="34" charset="0"/>
              </a:rPr>
              <a:t>The Model Context Protocol (MCP) is an open standard designed to connect AI systems with various data sources in a standardized way. Developed by Anthropic in November 2024, MCP creates a universal interface for AI systems to access content repositories, business tools, and development environments without custom integrations for each source.</a:t>
            </a:r>
            <a:endParaRPr lang="en-IN"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0A304E7A-EBCD-7712-63CB-AD79C38E2C15}"/>
              </a:ext>
            </a:extLst>
          </p:cNvPr>
          <p:cNvSpPr txBox="1"/>
          <p:nvPr/>
        </p:nvSpPr>
        <p:spPr>
          <a:xfrm>
            <a:off x="487393" y="1789669"/>
            <a:ext cx="10979989" cy="1600438"/>
          </a:xfrm>
          <a:prstGeom prst="rect">
            <a:avLst/>
          </a:prstGeom>
          <a:solidFill>
            <a:schemeClr val="accent5">
              <a:lumMod val="20000"/>
              <a:lumOff val="80000"/>
            </a:schemeClr>
          </a:solidFill>
        </p:spPr>
        <p:txBody>
          <a:bodyPr wrap="square">
            <a:spAutoFit/>
          </a:bodyPr>
          <a:lstStyle/>
          <a:p>
            <a:r>
              <a:rPr lang="en-US" sz="1400" b="1" dirty="0"/>
              <a:t>Analogy: The Universal Port</a:t>
            </a:r>
          </a:p>
          <a:p>
            <a:r>
              <a:rPr lang="en-US" sz="1400" dirty="0"/>
              <a:t>Think of MCP as the USB-C port of the AI world. Just as your laptop can connect to any device—monitors, hard drives, phones—through a single standardized USB-C port, MCP allows AI systems to connect to any data source—Google Drive, GitHub, databases, etc.—through a single standardized protocol.</a:t>
            </a:r>
          </a:p>
          <a:p>
            <a:endParaRPr lang="en-US" sz="1400" dirty="0"/>
          </a:p>
          <a:p>
            <a:r>
              <a:rPr lang="en-US" sz="1400" dirty="0"/>
              <a:t>This standardization eliminates the need for custom integrations with each data source, dramatically simplifying how AI systems access and interact with external information.</a:t>
            </a:r>
          </a:p>
        </p:txBody>
      </p:sp>
      <p:sp>
        <p:nvSpPr>
          <p:cNvPr id="5" name="TextBox 4">
            <a:extLst>
              <a:ext uri="{FF2B5EF4-FFF2-40B4-BE49-F238E27FC236}">
                <a16:creationId xmlns:a16="http://schemas.microsoft.com/office/drawing/2014/main" id="{40265A15-4878-5C1C-D9A1-B49FDE3BB8B2}"/>
              </a:ext>
            </a:extLst>
          </p:cNvPr>
          <p:cNvSpPr txBox="1"/>
          <p:nvPr/>
        </p:nvSpPr>
        <p:spPr>
          <a:xfrm>
            <a:off x="446059" y="3469232"/>
            <a:ext cx="7781924" cy="243143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How MCP Works</a:t>
            </a:r>
          </a:p>
          <a:p>
            <a:r>
              <a:rPr lang="en-US" sz="1600" b="1" dirty="0">
                <a:latin typeface="Arial" panose="020B0604020202020204" pitchFamily="34" charset="0"/>
                <a:cs typeface="Arial" panose="020B0604020202020204" pitchFamily="34" charset="0"/>
              </a:rPr>
              <a:t>MCP Architecture:</a:t>
            </a:r>
          </a:p>
          <a:p>
            <a:r>
              <a:rPr lang="en-US" sz="1600" b="1" dirty="0">
                <a:latin typeface="Arial" panose="020B0604020202020204" pitchFamily="34" charset="0"/>
                <a:cs typeface="Arial" panose="020B0604020202020204" pitchFamily="34" charset="0"/>
              </a:rPr>
              <a:t>MCP Hosts:</a:t>
            </a:r>
            <a:r>
              <a:rPr lang="en-US" sz="1600" dirty="0">
                <a:latin typeface="Arial" panose="020B0604020202020204" pitchFamily="34" charset="0"/>
                <a:cs typeface="Arial" panose="020B0604020202020204" pitchFamily="34" charset="0"/>
              </a:rPr>
              <a:t> Applications like Claude Desktop or AI tools that need to access external data</a:t>
            </a:r>
          </a:p>
          <a:p>
            <a:r>
              <a:rPr lang="en-US" sz="1600" b="1" dirty="0">
                <a:latin typeface="Arial" panose="020B0604020202020204" pitchFamily="34" charset="0"/>
                <a:cs typeface="Arial" panose="020B0604020202020204" pitchFamily="34" charset="0"/>
              </a:rPr>
              <a:t>MCP Clients:</a:t>
            </a:r>
            <a:r>
              <a:rPr lang="en-US" sz="1600" dirty="0">
                <a:latin typeface="Arial" panose="020B0604020202020204" pitchFamily="34" charset="0"/>
                <a:cs typeface="Arial" panose="020B0604020202020204" pitchFamily="34" charset="0"/>
              </a:rPr>
              <a:t> Protocol clients that maintain connections with MCP servers</a:t>
            </a:r>
          </a:p>
          <a:p>
            <a:r>
              <a:rPr lang="en-US" sz="1600" b="1" dirty="0">
                <a:latin typeface="Arial" panose="020B0604020202020204" pitchFamily="34" charset="0"/>
                <a:cs typeface="Arial" panose="020B0604020202020204" pitchFamily="34" charset="0"/>
              </a:rPr>
              <a:t>MCP Servers:</a:t>
            </a:r>
            <a:r>
              <a:rPr lang="en-US" sz="1600" dirty="0">
                <a:latin typeface="Arial" panose="020B0604020202020204" pitchFamily="34" charset="0"/>
                <a:cs typeface="Arial" panose="020B0604020202020204" pitchFamily="34" charset="0"/>
              </a:rPr>
              <a:t> Lightweight programs that expose specific capabilities through the MCP protocol</a:t>
            </a:r>
          </a:p>
          <a:p>
            <a:r>
              <a:rPr lang="en-US" sz="1600" b="1" dirty="0">
                <a:latin typeface="Arial" panose="020B0604020202020204" pitchFamily="34" charset="0"/>
                <a:cs typeface="Arial" panose="020B0604020202020204" pitchFamily="34" charset="0"/>
              </a:rPr>
              <a:t>Data Sources:</a:t>
            </a:r>
            <a:r>
              <a:rPr lang="en-US" sz="1600" dirty="0">
                <a:latin typeface="Arial" panose="020B0604020202020204" pitchFamily="34" charset="0"/>
                <a:cs typeface="Arial" panose="020B0604020202020204" pitchFamily="34" charset="0"/>
              </a:rPr>
              <a:t> Local files, databases, or remote services that MCP servers connect to</a:t>
            </a:r>
          </a:p>
        </p:txBody>
      </p:sp>
      <p:sp>
        <p:nvSpPr>
          <p:cNvPr id="12" name="TextBox 11">
            <a:extLst>
              <a:ext uri="{FF2B5EF4-FFF2-40B4-BE49-F238E27FC236}">
                <a16:creationId xmlns:a16="http://schemas.microsoft.com/office/drawing/2014/main" id="{90DB5885-CF43-406A-3DB0-914691D408F7}"/>
              </a:ext>
            </a:extLst>
          </p:cNvPr>
          <p:cNvSpPr txBox="1"/>
          <p:nvPr/>
        </p:nvSpPr>
        <p:spPr>
          <a:xfrm>
            <a:off x="429883" y="6041274"/>
            <a:ext cx="11332234" cy="584775"/>
          </a:xfrm>
          <a:prstGeom prst="rect">
            <a:avLst/>
          </a:prstGeom>
          <a:solidFill>
            <a:schemeClr val="bg2">
              <a:lumMod val="90000"/>
            </a:schemeClr>
          </a:solidFill>
        </p:spPr>
        <p:txBody>
          <a:bodyPr wrap="square">
            <a:spAutoFit/>
          </a:bodyPr>
          <a:lstStyle/>
          <a:p>
            <a:r>
              <a:rPr lang="en-US" sz="1600" dirty="0">
                <a:latin typeface="Arial" panose="020B0604020202020204" pitchFamily="34" charset="0"/>
                <a:cs typeface="Arial" panose="020B0604020202020204" pitchFamily="34" charset="0"/>
              </a:rPr>
              <a:t>The Model Context Protocol was launched by Anthropic in November 2024. It represents a shift from the ad-hoc integrations of early AI systems toward a more structured, interoperable approach to AI-data connectivity.</a:t>
            </a:r>
            <a:endParaRPr lang="en-IN"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2BB4596-0935-B54B-C97A-D115C4E93988}"/>
              </a:ext>
            </a:extLst>
          </p:cNvPr>
          <p:cNvPicPr>
            <a:picLocks noChangeAspect="1"/>
          </p:cNvPicPr>
          <p:nvPr/>
        </p:nvPicPr>
        <p:blipFill>
          <a:blip r:embed="rId2"/>
          <a:stretch>
            <a:fillRect/>
          </a:stretch>
        </p:blipFill>
        <p:spPr>
          <a:xfrm>
            <a:off x="9371553" y="3505987"/>
            <a:ext cx="2095829" cy="2359098"/>
          </a:xfrm>
          <a:prstGeom prst="rect">
            <a:avLst/>
          </a:prstGeom>
        </p:spPr>
      </p:pic>
    </p:spTree>
    <p:extLst>
      <p:ext uri="{BB962C8B-B14F-4D97-AF65-F5344CB8AC3E}">
        <p14:creationId xmlns:p14="http://schemas.microsoft.com/office/powerpoint/2010/main" val="2396986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78AF-3CD6-CC80-97E8-B97A76A22047}"/>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40EA7434-9BA1-F77C-3F60-2AF560F49CFE}"/>
              </a:ext>
            </a:extLst>
          </p:cNvPr>
          <p:cNvSpPr txBox="1"/>
          <p:nvPr/>
        </p:nvSpPr>
        <p:spPr>
          <a:xfrm>
            <a:off x="230037" y="1031184"/>
            <a:ext cx="1140987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communication between MCP servers and clients follows a standardized HTTP-based protocol. Here's how it works in practice:</a:t>
            </a:r>
            <a:endParaRPr lang="en-IN" dirty="0">
              <a:latin typeface="Arial" panose="020B0604020202020204" pitchFamily="34" charset="0"/>
              <a:cs typeface="Arial" panose="020B0604020202020204" pitchFamily="34" charset="0"/>
            </a:endParaRPr>
          </a:p>
        </p:txBody>
      </p:sp>
      <p:sp>
        <p:nvSpPr>
          <p:cNvPr id="24" name="Title 1">
            <a:extLst>
              <a:ext uri="{FF2B5EF4-FFF2-40B4-BE49-F238E27FC236}">
                <a16:creationId xmlns:a16="http://schemas.microsoft.com/office/drawing/2014/main" id="{CFE107BC-7D00-9184-46E3-3DB08E11A724}"/>
              </a:ext>
            </a:extLst>
          </p:cNvPr>
          <p:cNvSpPr>
            <a:spLocks noGrp="1"/>
          </p:cNvSpPr>
          <p:nvPr>
            <p:ph type="title"/>
          </p:nvPr>
        </p:nvSpPr>
        <p:spPr>
          <a:xfrm>
            <a:off x="159589" y="231951"/>
            <a:ext cx="10515600" cy="805132"/>
          </a:xfrm>
        </p:spPr>
        <p:txBody>
          <a:bodyPr>
            <a:normAutofit/>
          </a:bodyPr>
          <a:lstStyle/>
          <a:p>
            <a:r>
              <a:rPr lang="en-US" dirty="0">
                <a:latin typeface="Arial" panose="020B0604020202020204" pitchFamily="34" charset="0"/>
                <a:cs typeface="Arial" panose="020B0604020202020204" pitchFamily="34" charset="0"/>
              </a:rPr>
              <a:t>MCP: Technical Implementation</a:t>
            </a:r>
            <a:endParaRPr lang="en-IN" dirty="0">
              <a:latin typeface="Arial" panose="020B0604020202020204" pitchFamily="34" charset="0"/>
              <a:cs typeface="Arial" panose="020B0604020202020204" pitchFamily="34" charset="0"/>
            </a:endParaRPr>
          </a:p>
        </p:txBody>
      </p:sp>
      <p:sp>
        <p:nvSpPr>
          <p:cNvPr id="25" name="Arrow: Right 24">
            <a:extLst>
              <a:ext uri="{FF2B5EF4-FFF2-40B4-BE49-F238E27FC236}">
                <a16:creationId xmlns:a16="http://schemas.microsoft.com/office/drawing/2014/main" id="{D29889E2-5DF4-489E-C4A5-D5F6C82D7F29}"/>
              </a:ext>
            </a:extLst>
          </p:cNvPr>
          <p:cNvSpPr/>
          <p:nvPr/>
        </p:nvSpPr>
        <p:spPr>
          <a:xfrm>
            <a:off x="5052279" y="3171011"/>
            <a:ext cx="1497757" cy="8051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C2ED9C4A-437D-CA84-F88A-EE79D7FBA8FF}"/>
              </a:ext>
            </a:extLst>
          </p:cNvPr>
          <p:cNvPicPr>
            <a:picLocks noChangeAspect="1"/>
          </p:cNvPicPr>
          <p:nvPr/>
        </p:nvPicPr>
        <p:blipFill>
          <a:blip r:embed="rId2"/>
          <a:stretch>
            <a:fillRect/>
          </a:stretch>
        </p:blipFill>
        <p:spPr>
          <a:xfrm>
            <a:off x="882566" y="2637693"/>
            <a:ext cx="3914804" cy="2009790"/>
          </a:xfrm>
          <a:prstGeom prst="rect">
            <a:avLst/>
          </a:prstGeom>
        </p:spPr>
      </p:pic>
      <p:pic>
        <p:nvPicPr>
          <p:cNvPr id="5" name="Picture 4">
            <a:extLst>
              <a:ext uri="{FF2B5EF4-FFF2-40B4-BE49-F238E27FC236}">
                <a16:creationId xmlns:a16="http://schemas.microsoft.com/office/drawing/2014/main" id="{309AE330-458B-0029-58A4-B1124DCDD096}"/>
              </a:ext>
            </a:extLst>
          </p:cNvPr>
          <p:cNvPicPr>
            <a:picLocks noChangeAspect="1"/>
          </p:cNvPicPr>
          <p:nvPr/>
        </p:nvPicPr>
        <p:blipFill>
          <a:blip r:embed="rId3"/>
          <a:stretch>
            <a:fillRect/>
          </a:stretch>
        </p:blipFill>
        <p:spPr>
          <a:xfrm>
            <a:off x="6804945" y="1544201"/>
            <a:ext cx="4635119" cy="4203108"/>
          </a:xfrm>
          <a:prstGeom prst="rect">
            <a:avLst/>
          </a:prstGeom>
        </p:spPr>
      </p:pic>
      <p:sp>
        <p:nvSpPr>
          <p:cNvPr id="7" name="TextBox 6">
            <a:extLst>
              <a:ext uri="{FF2B5EF4-FFF2-40B4-BE49-F238E27FC236}">
                <a16:creationId xmlns:a16="http://schemas.microsoft.com/office/drawing/2014/main" id="{4FB0B4B4-F952-D525-DDEE-531E388CF61F}"/>
              </a:ext>
            </a:extLst>
          </p:cNvPr>
          <p:cNvSpPr txBox="1"/>
          <p:nvPr/>
        </p:nvSpPr>
        <p:spPr>
          <a:xfrm>
            <a:off x="488830" y="5679314"/>
            <a:ext cx="11221526" cy="923330"/>
          </a:xfrm>
          <a:prstGeom prst="rect">
            <a:avLst/>
          </a:prstGeom>
          <a:noFill/>
        </p:spPr>
        <p:txBody>
          <a:bodyPr wrap="square">
            <a:spAutoFit/>
          </a:bodyPr>
          <a:lstStyle/>
          <a:p>
            <a:r>
              <a:rPr lang="en-US" b="0" i="0" dirty="0">
                <a:solidFill>
                  <a:srgbClr val="000000"/>
                </a:solidFill>
                <a:effectLst/>
                <a:latin typeface="Arial" panose="020B0604020202020204" pitchFamily="34" charset="0"/>
                <a:cs typeface="Arial" panose="020B0604020202020204" pitchFamily="34" charset="0"/>
              </a:rPr>
              <a:t>The MCP ecosystem is growing rapidly with pre-built servers already available for many popular services including GitHub, Git, and Postgres. Major companies </a:t>
            </a:r>
            <a:r>
              <a:rPr lang="en-US" b="0" i="0" dirty="0">
                <a:solidFill>
                  <a:srgbClr val="000000"/>
                </a:solidFill>
                <a:effectLst/>
                <a:highlight>
                  <a:srgbClr val="FFFF00"/>
                </a:highlight>
                <a:latin typeface="Arial" panose="020B0604020202020204" pitchFamily="34" charset="0"/>
                <a:cs typeface="Arial" panose="020B0604020202020204" pitchFamily="34" charset="0"/>
              </a:rPr>
              <a:t>like Block and Apollo </a:t>
            </a:r>
            <a:r>
              <a:rPr lang="en-US" b="0" i="0" dirty="0">
                <a:solidFill>
                  <a:srgbClr val="000000"/>
                </a:solidFill>
                <a:effectLst/>
                <a:latin typeface="Arial" panose="020B0604020202020204" pitchFamily="34" charset="0"/>
                <a:cs typeface="Arial" panose="020B0604020202020204" pitchFamily="34" charset="0"/>
              </a:rPr>
              <a:t>have already integrated MCP into their systems, demonstrating its enterprise readiness.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3016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2402-C75D-858A-2BF1-3EE93729895D}"/>
              </a:ext>
            </a:extLst>
          </p:cNvPr>
          <p:cNvSpPr>
            <a:spLocks noGrp="1"/>
          </p:cNvSpPr>
          <p:nvPr>
            <p:ph type="title"/>
          </p:nvPr>
        </p:nvSpPr>
        <p:spPr>
          <a:xfrm>
            <a:off x="264545" y="186846"/>
            <a:ext cx="10755700" cy="1325563"/>
          </a:xfrm>
        </p:spPr>
        <p:txBody>
          <a:bodyPr/>
          <a:lstStyle/>
          <a:p>
            <a:r>
              <a:rPr lang="en-US" dirty="0">
                <a:latin typeface="Arial" panose="020B0604020202020204" pitchFamily="34" charset="0"/>
                <a:cs typeface="Arial" panose="020B0604020202020204" pitchFamily="34" charset="0"/>
              </a:rPr>
              <a:t>MCP: </a:t>
            </a:r>
            <a:r>
              <a:rPr lang="en-IN" dirty="0"/>
              <a:t>Real-World Applications</a:t>
            </a:r>
          </a:p>
        </p:txBody>
      </p:sp>
      <p:sp>
        <p:nvSpPr>
          <p:cNvPr id="18" name="TextBox 17">
            <a:extLst>
              <a:ext uri="{FF2B5EF4-FFF2-40B4-BE49-F238E27FC236}">
                <a16:creationId xmlns:a16="http://schemas.microsoft.com/office/drawing/2014/main" id="{197139BA-F1B3-7785-1980-16B2552457CB}"/>
              </a:ext>
            </a:extLst>
          </p:cNvPr>
          <p:cNvSpPr txBox="1"/>
          <p:nvPr/>
        </p:nvSpPr>
        <p:spPr>
          <a:xfrm>
            <a:off x="573883" y="1311859"/>
            <a:ext cx="5662212" cy="5170646"/>
          </a:xfrm>
          <a:prstGeom prst="rect">
            <a:avLst/>
          </a:prstGeom>
          <a:noFill/>
        </p:spPr>
        <p:txBody>
          <a:bodyPr wrap="square">
            <a:spAutoFit/>
          </a:bodyPr>
          <a:lstStyle/>
          <a:p>
            <a:r>
              <a:rPr lang="en-US" sz="1400" b="1" dirty="0"/>
              <a:t>Fraud Detection</a:t>
            </a:r>
          </a:p>
          <a:p>
            <a:r>
              <a:rPr lang="en-US" sz="1100" b="1" dirty="0"/>
              <a:t>Scenario:</a:t>
            </a:r>
            <a:r>
              <a:rPr lang="en-US" sz="1100" dirty="0"/>
              <a:t> A customer initiates an online transaction or makes a purchase using their debit/credit card.</a:t>
            </a:r>
          </a:p>
          <a:p>
            <a:r>
              <a:rPr lang="en-US" sz="1100" b="1" dirty="0"/>
              <a:t>MCP for:</a:t>
            </a:r>
            <a:r>
              <a:rPr lang="en-US" sz="1100" dirty="0"/>
              <a:t> Real-time, context-aware fraud detection.</a:t>
            </a:r>
          </a:p>
          <a:p>
            <a:r>
              <a:rPr lang="en-US" sz="1100" b="1" dirty="0"/>
              <a:t>Application:</a:t>
            </a:r>
            <a:endParaRPr lang="en-US" sz="1100" dirty="0"/>
          </a:p>
          <a:p>
            <a:r>
              <a:rPr lang="en-US" sz="1100" b="1" dirty="0"/>
              <a:t>Contextual Data:</a:t>
            </a:r>
            <a:r>
              <a:rPr lang="en-US" sz="1100" dirty="0"/>
              <a:t> The MCP gathers and processes various contextual data points relevant to the transaction, which a fraud detection model uses. This typically includes: </a:t>
            </a:r>
          </a:p>
          <a:p>
            <a:pPr lvl="1"/>
            <a:r>
              <a:rPr lang="en-US" sz="1100" b="1" dirty="0"/>
              <a:t>Geospatial context:</a:t>
            </a:r>
            <a:r>
              <a:rPr lang="en-US" sz="1100" dirty="0"/>
              <a:t> Transaction location vs. customer's typical location or reported travel plans.</a:t>
            </a:r>
          </a:p>
          <a:p>
            <a:pPr lvl="1"/>
            <a:r>
              <a:rPr lang="en-US" sz="1100" b="1" dirty="0"/>
              <a:t>Time context:</a:t>
            </a:r>
            <a:r>
              <a:rPr lang="en-US" sz="1100" dirty="0"/>
              <a:t> Time of day/week for the transaction compared to usual activity.</a:t>
            </a:r>
          </a:p>
          <a:p>
            <a:pPr lvl="1"/>
            <a:r>
              <a:rPr lang="en-US" sz="1100" b="1" dirty="0"/>
              <a:t>Behavioral context:</a:t>
            </a:r>
            <a:r>
              <a:rPr lang="en-US" sz="1100" dirty="0"/>
              <a:t> Transaction amount, merchant category, frequency of transactions compared to the customer's historical patterns.</a:t>
            </a:r>
          </a:p>
          <a:p>
            <a:pPr lvl="1"/>
            <a:r>
              <a:rPr lang="en-US" sz="1100" b="1" dirty="0"/>
              <a:t>Device context:</a:t>
            </a:r>
            <a:r>
              <a:rPr lang="en-US" sz="1100" dirty="0"/>
              <a:t> IP address, device ID, browser fingerprint if the transaction is online.</a:t>
            </a:r>
          </a:p>
          <a:p>
            <a:pPr lvl="1"/>
            <a:r>
              <a:rPr lang="en-US" sz="1100" b="1" dirty="0"/>
              <a:t>Account status context:</a:t>
            </a:r>
            <a:r>
              <a:rPr lang="en-US" sz="1100" dirty="0"/>
              <a:t> Any recent suspicious activity on the account, balance available.</a:t>
            </a:r>
          </a:p>
          <a:p>
            <a:pPr lvl="1"/>
            <a:r>
              <a:rPr lang="en-US" sz="1100" b="1" dirty="0"/>
              <a:t>Authentication context:</a:t>
            </a:r>
            <a:r>
              <a:rPr lang="en-US" sz="1100" dirty="0"/>
              <a:t> How the transaction was authenticated (e.g., 3D Secure, biometrics).</a:t>
            </a:r>
          </a:p>
          <a:p>
            <a:r>
              <a:rPr lang="en-US" sz="1100" b="1" dirty="0"/>
              <a:t>Model Interaction:</a:t>
            </a:r>
            <a:r>
              <a:rPr lang="en-US" sz="1100" dirty="0"/>
              <a:t> A fraud detection model, leveraging the MCP, analyzes these contextual cues in real-time. If the aggregated context suggests a high probability of fraud (e.g., a large transaction from an unusual location on an unknown device at an odd hour, without prior travel notification), the model triggers an alert or declines the transaction.</a:t>
            </a:r>
          </a:p>
          <a:p>
            <a:r>
              <a:rPr lang="en-US" sz="1100" b="1" dirty="0"/>
              <a:t>Benefit:</a:t>
            </a:r>
            <a:endParaRPr lang="en-US" sz="1100" dirty="0"/>
          </a:p>
          <a:p>
            <a:r>
              <a:rPr lang="en-US" sz="1100" b="1" dirty="0"/>
              <a:t>Reduced Financial Losses:</a:t>
            </a:r>
            <a:r>
              <a:rPr lang="en-US" sz="1100" dirty="0"/>
              <a:t> Minimizes losses from fraudulent transactions for both the bank and its customers.</a:t>
            </a:r>
          </a:p>
          <a:p>
            <a:r>
              <a:rPr lang="en-US" sz="1100" b="1" dirty="0"/>
              <a:t>Enhanced Security &amp; Trust:</a:t>
            </a:r>
            <a:r>
              <a:rPr lang="en-US" sz="1100" dirty="0"/>
              <a:t> Proactive fraud prevention builds customer confidence and protects their assets.</a:t>
            </a:r>
          </a:p>
          <a:p>
            <a:r>
              <a:rPr lang="en-US" sz="1100" b="1" dirty="0"/>
              <a:t>Fewer False Declines:</a:t>
            </a:r>
            <a:r>
              <a:rPr lang="en-US" sz="1100" dirty="0"/>
              <a:t> By incorporating more context, the system can distinguish between genuinely fraudulent activity and unusual but legitimate transactions (e.g., a customer traveling and using their card), leading to a better customer experience.</a:t>
            </a:r>
          </a:p>
        </p:txBody>
      </p:sp>
      <p:sp>
        <p:nvSpPr>
          <p:cNvPr id="20" name="TextBox 19">
            <a:extLst>
              <a:ext uri="{FF2B5EF4-FFF2-40B4-BE49-F238E27FC236}">
                <a16:creationId xmlns:a16="http://schemas.microsoft.com/office/drawing/2014/main" id="{9C5BAC1C-2077-CA2A-ED61-0FCAAAAF593F}"/>
              </a:ext>
            </a:extLst>
          </p:cNvPr>
          <p:cNvSpPr txBox="1"/>
          <p:nvPr/>
        </p:nvSpPr>
        <p:spPr>
          <a:xfrm>
            <a:off x="6386014" y="1348800"/>
            <a:ext cx="5662212" cy="5509200"/>
          </a:xfrm>
          <a:prstGeom prst="rect">
            <a:avLst/>
          </a:prstGeom>
          <a:noFill/>
        </p:spPr>
        <p:txBody>
          <a:bodyPr wrap="square">
            <a:spAutoFit/>
          </a:bodyPr>
          <a:lstStyle/>
          <a:p>
            <a:r>
              <a:rPr lang="en-US" sz="1100" b="1" dirty="0"/>
              <a:t>Personalized Financial Product Recommendations</a:t>
            </a:r>
            <a:endParaRPr lang="en-US" sz="1100" dirty="0"/>
          </a:p>
          <a:p>
            <a:r>
              <a:rPr lang="en-US" sz="1100" b="1" dirty="0"/>
              <a:t>Scenario:</a:t>
            </a:r>
            <a:r>
              <a:rPr lang="en-US" sz="1100" dirty="0"/>
              <a:t> A bank wants to offer relevant financial products (e.g., loans, credit cards, investment opportunities) to its customers.</a:t>
            </a:r>
          </a:p>
          <a:p>
            <a:r>
              <a:rPr lang="en-US" sz="1100" b="1" dirty="0"/>
              <a:t>MCP for:</a:t>
            </a:r>
            <a:r>
              <a:rPr lang="en-US" sz="1100" dirty="0"/>
              <a:t> Delivering highly targeted and personalized product recommendations.</a:t>
            </a:r>
          </a:p>
          <a:p>
            <a:r>
              <a:rPr lang="en-US" sz="1100" b="1" dirty="0"/>
              <a:t>Application:</a:t>
            </a:r>
            <a:endParaRPr lang="en-US" sz="1100" dirty="0"/>
          </a:p>
          <a:p>
            <a:pPr lvl="1"/>
            <a:r>
              <a:rPr lang="en-US" sz="1100" b="1" dirty="0"/>
              <a:t>Contextual Data:</a:t>
            </a:r>
            <a:r>
              <a:rPr lang="en-US" sz="1100" dirty="0"/>
              <a:t> The MCP compiles a comprehensive profile of the customer using various data points: </a:t>
            </a:r>
          </a:p>
          <a:p>
            <a:pPr lvl="2"/>
            <a:r>
              <a:rPr lang="en-US" sz="1100" b="1" dirty="0"/>
              <a:t>Account history:</a:t>
            </a:r>
            <a:r>
              <a:rPr lang="en-US" sz="1100" dirty="0"/>
              <a:t> Savings balance, checking account activity, existing loans, credit card usage.</a:t>
            </a:r>
          </a:p>
          <a:p>
            <a:pPr lvl="2"/>
            <a:r>
              <a:rPr lang="en-US" sz="1100" b="1" dirty="0"/>
              <a:t>Demographic information:</a:t>
            </a:r>
            <a:r>
              <a:rPr lang="en-US" sz="1100" dirty="0"/>
              <a:t> Age, income bracket, marital status, family size.</a:t>
            </a:r>
          </a:p>
          <a:p>
            <a:pPr lvl="2"/>
            <a:r>
              <a:rPr lang="en-US" sz="1100" b="1" dirty="0"/>
              <a:t>Life events (inferred or provided):</a:t>
            </a:r>
            <a:r>
              <a:rPr lang="en-US" sz="1100" dirty="0"/>
              <a:t> Recent major purchases (e.g., car loan, home mortgage applications suggesting life changes like buying a house).</a:t>
            </a:r>
          </a:p>
          <a:p>
            <a:pPr lvl="2"/>
            <a:r>
              <a:rPr lang="en-US" sz="1100" b="1" dirty="0"/>
              <a:t>Digital interactions:</a:t>
            </a:r>
            <a:r>
              <a:rPr lang="en-US" sz="1100" dirty="0"/>
              <a:t> What sections of the bank's website or app do they visit? Which product pages do they browse? What emails do they open?</a:t>
            </a:r>
          </a:p>
          <a:p>
            <a:pPr lvl="2"/>
            <a:r>
              <a:rPr lang="en-US" sz="1100" b="1" dirty="0"/>
              <a:t>Risk profile:</a:t>
            </a:r>
            <a:r>
              <a:rPr lang="en-US" sz="1100" dirty="0"/>
              <a:t> Based on credit score and financial behavior.</a:t>
            </a:r>
          </a:p>
          <a:p>
            <a:pPr lvl="2"/>
            <a:r>
              <a:rPr lang="en-US" sz="1100" b="1" dirty="0"/>
              <a:t>Market conditions:</a:t>
            </a:r>
            <a:r>
              <a:rPr lang="en-US" sz="1100" dirty="0"/>
              <a:t> Interest rates, economic outlook, specific product promotions.</a:t>
            </a:r>
          </a:p>
          <a:p>
            <a:pPr lvl="2"/>
            <a:r>
              <a:rPr lang="en-US" sz="1100" b="1" dirty="0"/>
              <a:t>Customer inquiries:</a:t>
            </a:r>
            <a:r>
              <a:rPr lang="en-US" sz="1100" dirty="0"/>
              <a:t> Recent calls to customer service about specific product types.</a:t>
            </a:r>
          </a:p>
          <a:p>
            <a:pPr lvl="1"/>
            <a:r>
              <a:rPr lang="en-US" sz="1100" b="1" dirty="0"/>
              <a:t>Model Interaction:</a:t>
            </a:r>
            <a:r>
              <a:rPr lang="en-US" sz="1100" dirty="0"/>
              <a:t> A recommendation engine model, powered by the MCP's insights, analyzes this context to understand the customer's current financial situation, needs, and potential future requirements. It then recommends suitable products, potentially even pre-qualifying them.</a:t>
            </a:r>
          </a:p>
          <a:p>
            <a:r>
              <a:rPr lang="en-US" sz="1100" b="1" dirty="0"/>
              <a:t>Benefit:</a:t>
            </a:r>
            <a:endParaRPr lang="en-US" sz="1100" dirty="0"/>
          </a:p>
          <a:p>
            <a:pPr lvl="1"/>
            <a:r>
              <a:rPr lang="en-US" sz="1100" b="1" dirty="0"/>
              <a:t>Increased Cross-selling &amp; Upselling:</a:t>
            </a:r>
            <a:r>
              <a:rPr lang="en-US" sz="1100" dirty="0"/>
              <a:t> More relevant offers lead to higher acceptance rates for new products.</a:t>
            </a:r>
          </a:p>
          <a:p>
            <a:pPr lvl="1"/>
            <a:r>
              <a:rPr lang="en-US" sz="1100" b="1" dirty="0"/>
              <a:t>Improved Customer Satisfaction:</a:t>
            </a:r>
            <a:r>
              <a:rPr lang="en-US" sz="1100" dirty="0"/>
              <a:t> Customers receive offers that genuinely meet their needs, rather than generic spam, enhancing their relationship with the bank.</a:t>
            </a:r>
          </a:p>
          <a:p>
            <a:pPr lvl="1"/>
            <a:r>
              <a:rPr lang="en-US" sz="1100" b="1" dirty="0"/>
              <a:t>Optimized Marketing Spend:</a:t>
            </a:r>
            <a:r>
              <a:rPr lang="en-US" sz="1100" dirty="0"/>
              <a:t> By targeting the right customers with the right products, marketing efforts become more efficient.</a:t>
            </a:r>
          </a:p>
          <a:p>
            <a:endParaRPr lang="en-IN" sz="1100" dirty="0"/>
          </a:p>
        </p:txBody>
      </p:sp>
    </p:spTree>
    <p:extLst>
      <p:ext uri="{BB962C8B-B14F-4D97-AF65-F5344CB8AC3E}">
        <p14:creationId xmlns:p14="http://schemas.microsoft.com/office/powerpoint/2010/main" val="736820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4E120-C430-6166-66F2-20F686B0D35E}"/>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9033455-1C69-5DFB-2E43-844242A8707E}"/>
              </a:ext>
            </a:extLst>
          </p:cNvPr>
          <p:cNvSpPr txBox="1"/>
          <p:nvPr/>
        </p:nvSpPr>
        <p:spPr>
          <a:xfrm>
            <a:off x="608161" y="1299714"/>
            <a:ext cx="8685363" cy="2031325"/>
          </a:xfrm>
          <a:prstGeom prst="rect">
            <a:avLst/>
          </a:prstGeom>
          <a:noFill/>
        </p:spPr>
        <p:txBody>
          <a:bodyPr wrap="square">
            <a:spAutoFit/>
          </a:bodyPr>
          <a:lstStyle/>
          <a:p>
            <a:pPr algn="l">
              <a:buNone/>
            </a:pPr>
            <a:r>
              <a:rPr lang="en-US" b="1" i="0" dirty="0">
                <a:solidFill>
                  <a:srgbClr val="065F46"/>
                </a:solidFill>
                <a:effectLst/>
                <a:latin typeface="Segoe UI" panose="020B0502040204020203" pitchFamily="34" charset="0"/>
              </a:rPr>
              <a:t>Advantages</a:t>
            </a:r>
          </a:p>
          <a:p>
            <a:pPr marL="285750" indent="-285750">
              <a:buFont typeface="Arial" panose="020B0604020202020204" pitchFamily="34" charset="0"/>
              <a:buChar char="•"/>
            </a:pPr>
            <a:r>
              <a:rPr lang="en-IN" b="1" dirty="0"/>
              <a:t>Clean separation:</a:t>
            </a:r>
            <a:r>
              <a:rPr lang="en-IN" dirty="0"/>
              <a:t> Decouples AI models from data sources</a:t>
            </a:r>
          </a:p>
          <a:p>
            <a:pPr marL="285750" indent="-285750">
              <a:buFont typeface="Arial" panose="020B0604020202020204" pitchFamily="34" charset="0"/>
              <a:buChar char="•"/>
            </a:pPr>
            <a:r>
              <a:rPr lang="en-IN" b="1" dirty="0"/>
              <a:t>Standardized protocol:</a:t>
            </a:r>
            <a:r>
              <a:rPr lang="en-IN" dirty="0"/>
              <a:t> Ensures consistent data exchange patterns</a:t>
            </a:r>
          </a:p>
          <a:p>
            <a:pPr marL="285750" indent="-285750">
              <a:buFont typeface="Arial" panose="020B0604020202020204" pitchFamily="34" charset="0"/>
              <a:buChar char="•"/>
            </a:pPr>
            <a:r>
              <a:rPr lang="en-IN" b="1" dirty="0"/>
              <a:t>Universal connectivity:</a:t>
            </a:r>
            <a:r>
              <a:rPr lang="en-IN" dirty="0"/>
              <a:t> One protocol for multiple data sources</a:t>
            </a:r>
          </a:p>
          <a:p>
            <a:pPr marL="285750" indent="-285750">
              <a:buFont typeface="Arial" panose="020B0604020202020204" pitchFamily="34" charset="0"/>
              <a:buChar char="•"/>
            </a:pPr>
            <a:r>
              <a:rPr lang="en-IN" b="1" dirty="0"/>
              <a:t>Enhanced security:</a:t>
            </a:r>
            <a:r>
              <a:rPr lang="en-IN" dirty="0"/>
              <a:t> Data remains within controlled infrastructure</a:t>
            </a:r>
          </a:p>
          <a:p>
            <a:pPr marL="285750" indent="-285750">
              <a:buFont typeface="Arial" panose="020B0604020202020204" pitchFamily="34" charset="0"/>
              <a:buChar char="•"/>
            </a:pPr>
            <a:r>
              <a:rPr lang="en-IN" b="1" dirty="0"/>
              <a:t>Vendor flexibility:</a:t>
            </a:r>
            <a:r>
              <a:rPr lang="en-IN" dirty="0"/>
              <a:t> Switch between AI providers without changing data access</a:t>
            </a:r>
          </a:p>
          <a:p>
            <a:pPr marL="285750" indent="-285750">
              <a:buFont typeface="Arial" panose="020B0604020202020204" pitchFamily="34" charset="0"/>
              <a:buChar char="•"/>
            </a:pPr>
            <a:r>
              <a:rPr lang="en-IN" b="1" dirty="0"/>
              <a:t>Privacy-preserving:</a:t>
            </a:r>
            <a:r>
              <a:rPr lang="en-IN" dirty="0"/>
              <a:t> Minimizes data exposure to external systems</a:t>
            </a:r>
          </a:p>
        </p:txBody>
      </p:sp>
      <p:sp>
        <p:nvSpPr>
          <p:cNvPr id="23" name="TextBox 22">
            <a:extLst>
              <a:ext uri="{FF2B5EF4-FFF2-40B4-BE49-F238E27FC236}">
                <a16:creationId xmlns:a16="http://schemas.microsoft.com/office/drawing/2014/main" id="{3B32596D-1744-D211-B760-7C5F9F5B925E}"/>
              </a:ext>
            </a:extLst>
          </p:cNvPr>
          <p:cNvSpPr txBox="1"/>
          <p:nvPr/>
        </p:nvSpPr>
        <p:spPr>
          <a:xfrm>
            <a:off x="608162" y="3496573"/>
            <a:ext cx="8880895" cy="1723549"/>
          </a:xfrm>
          <a:prstGeom prst="rect">
            <a:avLst/>
          </a:prstGeom>
          <a:noFill/>
        </p:spPr>
        <p:txBody>
          <a:bodyPr wrap="square">
            <a:spAutoFit/>
          </a:bodyPr>
          <a:lstStyle/>
          <a:p>
            <a:pPr algn="l">
              <a:buNone/>
            </a:pPr>
            <a:r>
              <a:rPr lang="en-US" sz="1600" b="1" i="0" dirty="0">
                <a:solidFill>
                  <a:srgbClr val="991B1B"/>
                </a:solidFill>
                <a:effectLst/>
                <a:latin typeface="Arial" panose="020B0604020202020204" pitchFamily="34" charset="0"/>
                <a:cs typeface="Arial" panose="020B0604020202020204" pitchFamily="34" charset="0"/>
              </a:rPr>
              <a:t>Limitations</a:t>
            </a:r>
          </a:p>
          <a:p>
            <a:pPr marL="285750" indent="-285750">
              <a:buFont typeface="Arial" panose="020B0604020202020204" pitchFamily="34" charset="0"/>
              <a:buChar char="•"/>
            </a:pPr>
            <a:r>
              <a:rPr lang="en-US" b="1" dirty="0"/>
              <a:t>Primarily data-focused:</a:t>
            </a:r>
            <a:r>
              <a:rPr lang="en-US" dirty="0"/>
              <a:t> Better for data access than complex interactions</a:t>
            </a:r>
          </a:p>
          <a:p>
            <a:pPr marL="285750" indent="-285750">
              <a:buFont typeface="Arial" panose="020B0604020202020204" pitchFamily="34" charset="0"/>
              <a:buChar char="•"/>
            </a:pPr>
            <a:r>
              <a:rPr lang="en-US" b="1" dirty="0"/>
              <a:t>Emerging ecosystem:</a:t>
            </a:r>
            <a:r>
              <a:rPr lang="en-US" dirty="0"/>
              <a:t> Still developing comprehensive tooling</a:t>
            </a:r>
          </a:p>
          <a:p>
            <a:pPr marL="285750" indent="-285750">
              <a:buFont typeface="Arial" panose="020B0604020202020204" pitchFamily="34" charset="0"/>
              <a:buChar char="•"/>
            </a:pPr>
            <a:r>
              <a:rPr lang="en-US" b="1" dirty="0"/>
              <a:t>Implementation complexity:</a:t>
            </a:r>
            <a:r>
              <a:rPr lang="en-US" dirty="0"/>
              <a:t> Requires more setup than simple function calling</a:t>
            </a:r>
          </a:p>
          <a:p>
            <a:pPr marL="285750" indent="-285750">
              <a:buFont typeface="Arial" panose="020B0604020202020204" pitchFamily="34" charset="0"/>
              <a:buChar char="•"/>
            </a:pPr>
            <a:r>
              <a:rPr lang="en-US" b="1" dirty="0"/>
              <a:t>Learning curve:</a:t>
            </a:r>
            <a:r>
              <a:rPr lang="en-US" dirty="0"/>
              <a:t> New paradigm for many developers</a:t>
            </a:r>
          </a:p>
          <a:p>
            <a:pPr marL="285750" indent="-285750">
              <a:buFont typeface="Arial" panose="020B0604020202020204" pitchFamily="34" charset="0"/>
              <a:buChar char="•"/>
            </a:pPr>
            <a:r>
              <a:rPr lang="en-US" b="1" dirty="0"/>
              <a:t>Adoption challenges:</a:t>
            </a:r>
            <a:r>
              <a:rPr lang="en-US" dirty="0"/>
              <a:t> Requires ecosystem buy-in to reach full potential</a:t>
            </a:r>
          </a:p>
        </p:txBody>
      </p:sp>
      <p:sp>
        <p:nvSpPr>
          <p:cNvPr id="4" name="Title 1">
            <a:extLst>
              <a:ext uri="{FF2B5EF4-FFF2-40B4-BE49-F238E27FC236}">
                <a16:creationId xmlns:a16="http://schemas.microsoft.com/office/drawing/2014/main" id="{6D91E427-B954-087F-BF68-4BADFC0BB614}"/>
              </a:ext>
            </a:extLst>
          </p:cNvPr>
          <p:cNvSpPr txBox="1">
            <a:spLocks/>
          </p:cNvSpPr>
          <p:nvPr/>
        </p:nvSpPr>
        <p:spPr>
          <a:xfrm>
            <a:off x="159589" y="231951"/>
            <a:ext cx="10515600" cy="80513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MCP: Advantages and Limitations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2905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0BD4-D15F-9D38-B593-FCD52817E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1083A-F715-8836-3732-771940008814}"/>
              </a:ext>
            </a:extLst>
          </p:cNvPr>
          <p:cNvSpPr>
            <a:spLocks noGrp="1"/>
          </p:cNvSpPr>
          <p:nvPr>
            <p:ph type="title"/>
          </p:nvPr>
        </p:nvSpPr>
        <p:spPr>
          <a:xfrm>
            <a:off x="159589" y="231951"/>
            <a:ext cx="11332234" cy="805132"/>
          </a:xfrm>
        </p:spPr>
        <p:txBody>
          <a:bodyPr>
            <a:noAutofit/>
          </a:bodyPr>
          <a:lstStyle/>
          <a:p>
            <a:r>
              <a:rPr lang="en-US" sz="2800" dirty="0">
                <a:latin typeface="Arial" panose="020B0604020202020204" pitchFamily="34" charset="0"/>
                <a:cs typeface="Arial" panose="020B0604020202020204" pitchFamily="34" charset="0"/>
              </a:rPr>
              <a:t>Agent-to-Agent (A2A): Enabling AI Collaboration</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7085218-FBAF-88FB-2E7E-751E0B854162}"/>
              </a:ext>
            </a:extLst>
          </p:cNvPr>
          <p:cNvSpPr>
            <a:spLocks noGrp="1"/>
          </p:cNvSpPr>
          <p:nvPr>
            <p:ph idx="1"/>
          </p:nvPr>
        </p:nvSpPr>
        <p:spPr>
          <a:xfrm>
            <a:off x="487394" y="992915"/>
            <a:ext cx="10979989" cy="1124609"/>
          </a:xfrm>
        </p:spPr>
        <p:txBody>
          <a:bodyPr>
            <a:noAutofit/>
          </a:bodyPr>
          <a:lstStyle/>
          <a:p>
            <a:pPr marL="0" indent="0">
              <a:buNone/>
            </a:pPr>
            <a:r>
              <a:rPr lang="en-US" sz="1400" dirty="0">
                <a:latin typeface="Arial" panose="020B0604020202020204" pitchFamily="34" charset="0"/>
                <a:cs typeface="Arial" panose="020B0604020202020204" pitchFamily="34" charset="0"/>
              </a:rPr>
              <a:t>The Agent-to-Agent (A2A) protocol is an open standard developed by Google in April 2025 that enables communication between different AI agents, regardless of which framework or vendor created them. A2A facilitates secure, standardized communication between independent AI systems, allowing them to collaborate on complex tasks.</a:t>
            </a:r>
            <a:endParaRPr lang="en-IN"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87200EE9-0D96-8246-6576-0F2BCFB747AB}"/>
              </a:ext>
            </a:extLst>
          </p:cNvPr>
          <p:cNvSpPr txBox="1"/>
          <p:nvPr/>
        </p:nvSpPr>
        <p:spPr>
          <a:xfrm>
            <a:off x="487393" y="1789669"/>
            <a:ext cx="10979989" cy="1815882"/>
          </a:xfrm>
          <a:prstGeom prst="rect">
            <a:avLst/>
          </a:prstGeom>
          <a:solidFill>
            <a:schemeClr val="accent5">
              <a:lumMod val="20000"/>
              <a:lumOff val="80000"/>
            </a:schemeClr>
          </a:solidFill>
        </p:spPr>
        <p:txBody>
          <a:bodyPr wrap="square">
            <a:spAutoFit/>
          </a:bodyPr>
          <a:lstStyle/>
          <a:p>
            <a:r>
              <a:rPr lang="en-US" sz="1400" b="1" dirty="0"/>
              <a:t>Analogy: The Universal Phone Network</a:t>
            </a:r>
          </a:p>
          <a:p>
            <a:r>
              <a:rPr lang="en-US" sz="1400" dirty="0"/>
              <a:t>Think of A2A as the cellular network of the AI world. Just as phones from different manufacturers—iPhones, Samsung, Xiaomi—can all communicate with each other through a standardized cellular protocol, A2A allows AI agents built by different companies and frameworks to seamlessly communicate with one another.</a:t>
            </a:r>
          </a:p>
          <a:p>
            <a:endParaRPr lang="en-US" sz="1400" dirty="0"/>
          </a:p>
          <a:p>
            <a:r>
              <a:rPr lang="en-US" sz="1400" dirty="0"/>
              <a:t>This universal communication layer means that specialized AI agents can work together regardless of who built them or what underlying technology they use. Just as you don't need to worry about whether your friend has the same phone brand when calling them, with A2A, AI systems don't need to be built on the same framework to collaborate effectively.</a:t>
            </a:r>
          </a:p>
        </p:txBody>
      </p:sp>
      <p:sp>
        <p:nvSpPr>
          <p:cNvPr id="5" name="TextBox 4">
            <a:extLst>
              <a:ext uri="{FF2B5EF4-FFF2-40B4-BE49-F238E27FC236}">
                <a16:creationId xmlns:a16="http://schemas.microsoft.com/office/drawing/2014/main" id="{3D64FA75-A226-5349-549A-D043DABDDFD0}"/>
              </a:ext>
            </a:extLst>
          </p:cNvPr>
          <p:cNvSpPr txBox="1"/>
          <p:nvPr/>
        </p:nvSpPr>
        <p:spPr>
          <a:xfrm>
            <a:off x="446059" y="3647513"/>
            <a:ext cx="7781924" cy="2308324"/>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How A2A Works</a:t>
            </a:r>
          </a:p>
          <a:p>
            <a:r>
              <a:rPr lang="en-US" sz="1400" b="1" dirty="0"/>
              <a:t>Agent Cards:</a:t>
            </a:r>
            <a:r>
              <a:rPr lang="en-US" sz="1400" dirty="0"/>
              <a:t> Public metadata files that describe an agent's capabilities, skills, and endpoint URL, enabling discovery and interaction</a:t>
            </a:r>
          </a:p>
          <a:p>
            <a:r>
              <a:rPr lang="en-US" sz="1400" b="1" dirty="0"/>
              <a:t>A2A Server:</a:t>
            </a:r>
            <a:r>
              <a:rPr lang="en-US" sz="1400" dirty="0"/>
              <a:t> An agent that implements the A2A protocol methods and can receive and process requests from other agents</a:t>
            </a:r>
          </a:p>
          <a:p>
            <a:r>
              <a:rPr lang="en-US" sz="1400" b="1" dirty="0"/>
              <a:t>A2A Client:</a:t>
            </a:r>
            <a:r>
              <a:rPr lang="en-US" sz="1400" dirty="0"/>
              <a:t> An application or agent that consumes A2A services by sending requests to A2A servers</a:t>
            </a:r>
          </a:p>
          <a:p>
            <a:r>
              <a:rPr lang="en-US" sz="1400" b="1" dirty="0"/>
              <a:t>Tasks:</a:t>
            </a:r>
            <a:r>
              <a:rPr lang="en-US" sz="1400" dirty="0"/>
              <a:t> Work units that progress through different states (submitted, working, completed, etc.) as they're processed by agents</a:t>
            </a:r>
          </a:p>
          <a:p>
            <a:r>
              <a:rPr lang="en-US" sz="1400" b="1" dirty="0"/>
              <a:t>Messages:</a:t>
            </a:r>
            <a:r>
              <a:rPr lang="en-US" sz="1400" dirty="0"/>
              <a:t> Communication turns containing various content types including text, structured data, forms, and media</a:t>
            </a:r>
          </a:p>
        </p:txBody>
      </p:sp>
      <p:sp>
        <p:nvSpPr>
          <p:cNvPr id="12" name="TextBox 11">
            <a:extLst>
              <a:ext uri="{FF2B5EF4-FFF2-40B4-BE49-F238E27FC236}">
                <a16:creationId xmlns:a16="http://schemas.microsoft.com/office/drawing/2014/main" id="{8D540E6C-2525-052F-292E-9EE81186A1CF}"/>
              </a:ext>
            </a:extLst>
          </p:cNvPr>
          <p:cNvSpPr txBox="1"/>
          <p:nvPr/>
        </p:nvSpPr>
        <p:spPr>
          <a:xfrm>
            <a:off x="429883" y="6041274"/>
            <a:ext cx="11332234" cy="769441"/>
          </a:xfrm>
          <a:prstGeom prst="rect">
            <a:avLst/>
          </a:prstGeom>
          <a:solidFill>
            <a:schemeClr val="bg2">
              <a:lumMod val="90000"/>
            </a:schemeClr>
          </a:solidFill>
        </p:spPr>
        <p:txBody>
          <a:bodyPr wrap="square">
            <a:spAutoFit/>
          </a:bodyPr>
          <a:lstStyle/>
          <a:p>
            <a:r>
              <a:rPr lang="en-US" sz="1100" dirty="0">
                <a:latin typeface="Arial" panose="020B0604020202020204" pitchFamily="34" charset="0"/>
                <a:cs typeface="Arial" panose="020B0604020202020204" pitchFamily="34" charset="0"/>
              </a:rPr>
              <a:t>A2A protocol is already supported by major AI frameworks including </a:t>
            </a:r>
            <a:r>
              <a:rPr lang="en-US" sz="1100" dirty="0" err="1">
                <a:latin typeface="Arial" panose="020B0604020202020204" pitchFamily="34" charset="0"/>
                <a:cs typeface="Arial" panose="020B0604020202020204" pitchFamily="34" charset="0"/>
              </a:rPr>
              <a:t>LangGraph</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CrewAI</a:t>
            </a:r>
            <a:r>
              <a:rPr lang="en-US" sz="1100" dirty="0">
                <a:latin typeface="Arial" panose="020B0604020202020204" pitchFamily="34" charset="0"/>
                <a:cs typeface="Arial" panose="020B0604020202020204" pitchFamily="34" charset="0"/>
              </a:rPr>
              <a:t>, Semantic Kernel, Marvin, </a:t>
            </a:r>
            <a:r>
              <a:rPr lang="en-US" sz="1100" dirty="0" err="1">
                <a:latin typeface="Arial" panose="020B0604020202020204" pitchFamily="34" charset="0"/>
                <a:cs typeface="Arial" panose="020B0604020202020204" pitchFamily="34" charset="0"/>
              </a:rPr>
              <a:t>Genkit</a:t>
            </a:r>
            <a:r>
              <a:rPr lang="en-US" sz="1100" dirty="0">
                <a:latin typeface="Arial" panose="020B0604020202020204" pitchFamily="34" charset="0"/>
                <a:cs typeface="Arial" panose="020B0604020202020204" pitchFamily="34" charset="0"/>
              </a:rPr>
              <a:t>, and </a:t>
            </a:r>
            <a:r>
              <a:rPr lang="en-US" sz="1100" dirty="0" err="1">
                <a:latin typeface="Arial" panose="020B0604020202020204" pitchFamily="34" charset="0"/>
                <a:cs typeface="Arial" panose="020B0604020202020204" pitchFamily="34" charset="0"/>
              </a:rPr>
              <a:t>LlamaIndex</a:t>
            </a:r>
            <a:r>
              <a:rPr lang="en-US" sz="1100" dirty="0">
                <a:latin typeface="Arial" panose="020B0604020202020204" pitchFamily="34" charset="0"/>
                <a:cs typeface="Arial" panose="020B0604020202020204" pitchFamily="34" charset="0"/>
              </a:rPr>
              <a:t>. This widespread adoption makes it easier for developers to build interoperable multi-agent systems without worrying about compatibility issues.</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As the protocol continues to mature, we can expect to see even more frameworks and platforms adding A2A support, further expanding the ecosystem of collaborative AI agents.</a:t>
            </a:r>
            <a:endParaRPr lang="en-IN" sz="11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4CF5DF4-3293-C9C5-B70C-CE8AF13BA576}"/>
              </a:ext>
            </a:extLst>
          </p:cNvPr>
          <p:cNvPicPr>
            <a:picLocks noChangeAspect="1"/>
          </p:cNvPicPr>
          <p:nvPr/>
        </p:nvPicPr>
        <p:blipFill>
          <a:blip r:embed="rId2"/>
          <a:stretch>
            <a:fillRect/>
          </a:stretch>
        </p:blipFill>
        <p:spPr>
          <a:xfrm>
            <a:off x="9368287" y="3620144"/>
            <a:ext cx="2204874" cy="2421130"/>
          </a:xfrm>
          <a:prstGeom prst="rect">
            <a:avLst/>
          </a:prstGeom>
        </p:spPr>
      </p:pic>
    </p:spTree>
    <p:extLst>
      <p:ext uri="{BB962C8B-B14F-4D97-AF65-F5344CB8AC3E}">
        <p14:creationId xmlns:p14="http://schemas.microsoft.com/office/powerpoint/2010/main" val="1008200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4C6B5-A9CC-170C-8C61-72B9FE7DC37A}"/>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2B32F287-4FFC-8220-99D6-48AE4CCA5110}"/>
              </a:ext>
            </a:extLst>
          </p:cNvPr>
          <p:cNvSpPr txBox="1"/>
          <p:nvPr/>
        </p:nvSpPr>
        <p:spPr>
          <a:xfrm>
            <a:off x="230037" y="1031184"/>
            <a:ext cx="1140987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technical implementation of A2A involves several key components that work together to enable seamless agent communication:</a:t>
            </a:r>
            <a:endParaRPr lang="en-IN" dirty="0">
              <a:latin typeface="Arial" panose="020B0604020202020204" pitchFamily="34" charset="0"/>
              <a:cs typeface="Arial" panose="020B0604020202020204" pitchFamily="34" charset="0"/>
            </a:endParaRPr>
          </a:p>
        </p:txBody>
      </p:sp>
      <p:sp>
        <p:nvSpPr>
          <p:cNvPr id="24" name="Title 1">
            <a:extLst>
              <a:ext uri="{FF2B5EF4-FFF2-40B4-BE49-F238E27FC236}">
                <a16:creationId xmlns:a16="http://schemas.microsoft.com/office/drawing/2014/main" id="{440AD0DE-1E2C-CA83-08BF-C7A6BC13E6F9}"/>
              </a:ext>
            </a:extLst>
          </p:cNvPr>
          <p:cNvSpPr>
            <a:spLocks noGrp="1"/>
          </p:cNvSpPr>
          <p:nvPr>
            <p:ph type="title"/>
          </p:nvPr>
        </p:nvSpPr>
        <p:spPr>
          <a:xfrm>
            <a:off x="159589" y="231951"/>
            <a:ext cx="10515600" cy="805132"/>
          </a:xfrm>
        </p:spPr>
        <p:txBody>
          <a:bodyPr>
            <a:normAutofit/>
          </a:bodyPr>
          <a:lstStyle/>
          <a:p>
            <a:r>
              <a:rPr lang="en-US" dirty="0">
                <a:latin typeface="Arial" panose="020B0604020202020204" pitchFamily="34" charset="0"/>
                <a:cs typeface="Arial" panose="020B0604020202020204" pitchFamily="34" charset="0"/>
              </a:rPr>
              <a:t>A2A: Technical Implementation</a:t>
            </a:r>
            <a:endParaRPr lang="en-IN"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EC7570B-C263-E618-1756-368A34C79EC6}"/>
              </a:ext>
            </a:extLst>
          </p:cNvPr>
          <p:cNvPicPr>
            <a:picLocks noChangeAspect="1"/>
          </p:cNvPicPr>
          <p:nvPr/>
        </p:nvPicPr>
        <p:blipFill>
          <a:blip r:embed="rId2"/>
          <a:stretch>
            <a:fillRect/>
          </a:stretch>
        </p:blipFill>
        <p:spPr>
          <a:xfrm>
            <a:off x="1500996" y="4293974"/>
            <a:ext cx="3779807" cy="2398581"/>
          </a:xfrm>
          <a:prstGeom prst="rect">
            <a:avLst/>
          </a:prstGeom>
        </p:spPr>
      </p:pic>
      <p:pic>
        <p:nvPicPr>
          <p:cNvPr id="9" name="Picture 8">
            <a:extLst>
              <a:ext uri="{FF2B5EF4-FFF2-40B4-BE49-F238E27FC236}">
                <a16:creationId xmlns:a16="http://schemas.microsoft.com/office/drawing/2014/main" id="{29B38BD6-1E7F-D813-0038-3B092A755E4E}"/>
              </a:ext>
            </a:extLst>
          </p:cNvPr>
          <p:cNvPicPr>
            <a:picLocks noChangeAspect="1"/>
          </p:cNvPicPr>
          <p:nvPr/>
        </p:nvPicPr>
        <p:blipFill>
          <a:blip r:embed="rId3"/>
          <a:stretch>
            <a:fillRect/>
          </a:stretch>
        </p:blipFill>
        <p:spPr>
          <a:xfrm>
            <a:off x="1484463" y="1677515"/>
            <a:ext cx="4450509" cy="2524090"/>
          </a:xfrm>
          <a:prstGeom prst="rect">
            <a:avLst/>
          </a:prstGeom>
        </p:spPr>
      </p:pic>
      <p:pic>
        <p:nvPicPr>
          <p:cNvPr id="11" name="Picture 10">
            <a:extLst>
              <a:ext uri="{FF2B5EF4-FFF2-40B4-BE49-F238E27FC236}">
                <a16:creationId xmlns:a16="http://schemas.microsoft.com/office/drawing/2014/main" id="{C0F4ADFB-077F-7BA4-377D-5506852647D0}"/>
              </a:ext>
            </a:extLst>
          </p:cNvPr>
          <p:cNvPicPr>
            <a:picLocks noChangeAspect="1"/>
          </p:cNvPicPr>
          <p:nvPr/>
        </p:nvPicPr>
        <p:blipFill>
          <a:blip r:embed="rId4"/>
          <a:stretch>
            <a:fillRect/>
          </a:stretch>
        </p:blipFill>
        <p:spPr>
          <a:xfrm>
            <a:off x="7108166" y="1506005"/>
            <a:ext cx="4405223" cy="5005026"/>
          </a:xfrm>
          <a:prstGeom prst="rect">
            <a:avLst/>
          </a:prstGeom>
        </p:spPr>
      </p:pic>
    </p:spTree>
    <p:extLst>
      <p:ext uri="{BB962C8B-B14F-4D97-AF65-F5344CB8AC3E}">
        <p14:creationId xmlns:p14="http://schemas.microsoft.com/office/powerpoint/2010/main" val="3574148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950A3-B973-5B0A-4C25-A24623CA9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315F9-B68D-5F01-4012-F15C8E5B87A0}"/>
              </a:ext>
            </a:extLst>
          </p:cNvPr>
          <p:cNvSpPr>
            <a:spLocks noGrp="1"/>
          </p:cNvSpPr>
          <p:nvPr>
            <p:ph type="title"/>
          </p:nvPr>
        </p:nvSpPr>
        <p:spPr>
          <a:xfrm>
            <a:off x="264545" y="186846"/>
            <a:ext cx="10755700" cy="1325563"/>
          </a:xfrm>
        </p:spPr>
        <p:txBody>
          <a:bodyPr/>
          <a:lstStyle/>
          <a:p>
            <a:r>
              <a:rPr lang="en-US" dirty="0">
                <a:latin typeface="Arial" panose="020B0604020202020204" pitchFamily="34" charset="0"/>
                <a:cs typeface="Arial" panose="020B0604020202020204" pitchFamily="34" charset="0"/>
              </a:rPr>
              <a:t>A2A: </a:t>
            </a:r>
            <a:r>
              <a:rPr lang="en-IN" dirty="0"/>
              <a:t>Real-World Applications</a:t>
            </a:r>
          </a:p>
        </p:txBody>
      </p:sp>
      <p:sp>
        <p:nvSpPr>
          <p:cNvPr id="4" name="TextBox 3">
            <a:extLst>
              <a:ext uri="{FF2B5EF4-FFF2-40B4-BE49-F238E27FC236}">
                <a16:creationId xmlns:a16="http://schemas.microsoft.com/office/drawing/2014/main" id="{6ABEA4BC-512D-DE8B-34FE-707FFC4E16B0}"/>
              </a:ext>
            </a:extLst>
          </p:cNvPr>
          <p:cNvSpPr txBox="1"/>
          <p:nvPr/>
        </p:nvSpPr>
        <p:spPr>
          <a:xfrm>
            <a:off x="316303" y="1117057"/>
            <a:ext cx="5722189" cy="5847755"/>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Intelligent Anti-Money Laundering (AML) Transaction Monitoring &amp; Case Management</a:t>
            </a:r>
            <a:endParaRPr lang="en-US" sz="1100" dirty="0">
              <a:latin typeface="Arial" panose="020B0604020202020204" pitchFamily="34" charset="0"/>
              <a:cs typeface="Arial" panose="020B0604020202020204" pitchFamily="34" charset="0"/>
            </a:endParaRPr>
          </a:p>
          <a:p>
            <a:r>
              <a:rPr lang="en-US" sz="1100" b="1" dirty="0">
                <a:latin typeface="Arial" panose="020B0604020202020204" pitchFamily="34" charset="0"/>
                <a:cs typeface="Arial" panose="020B0604020202020204" pitchFamily="34" charset="0"/>
              </a:rPr>
              <a:t>Scenario:</a:t>
            </a:r>
            <a:r>
              <a:rPr lang="en-US" sz="1100" dirty="0">
                <a:latin typeface="Arial" panose="020B0604020202020204" pitchFamily="34" charset="0"/>
                <a:cs typeface="Arial" panose="020B0604020202020204" pitchFamily="34" charset="0"/>
              </a:rPr>
              <a:t> A bank processes millions of transactions daily, and a portion of these may represent potential money laundering activities that need to be identified, investigated, and reported.</a:t>
            </a:r>
          </a:p>
          <a:p>
            <a:r>
              <a:rPr lang="en-US" sz="1100" b="1" dirty="0">
                <a:latin typeface="Arial" panose="020B0604020202020204" pitchFamily="34" charset="0"/>
                <a:cs typeface="Arial" panose="020B0604020202020204" pitchFamily="34" charset="0"/>
              </a:rPr>
              <a:t>Agent to Agent Protocol for:</a:t>
            </a:r>
            <a:r>
              <a:rPr lang="en-US" sz="1100" dirty="0">
                <a:latin typeface="Arial" panose="020B0604020202020204" pitchFamily="34" charset="0"/>
                <a:cs typeface="Arial" panose="020B0604020202020204" pitchFamily="34" charset="0"/>
              </a:rPr>
              <a:t> Automating the detection, investigation, and reporting of suspicious financial activities, integrating various data sources and analytical capabilities.</a:t>
            </a:r>
          </a:p>
          <a:p>
            <a:r>
              <a:rPr lang="en-US" sz="1100" b="1" dirty="0">
                <a:latin typeface="Arial" panose="020B0604020202020204" pitchFamily="34" charset="0"/>
                <a:cs typeface="Arial" panose="020B0604020202020204" pitchFamily="34" charset="0"/>
              </a:rPr>
              <a:t>Application:</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Multi-Agent System (MAS) Components:</a:t>
            </a:r>
            <a:r>
              <a:rPr lang="en-US" sz="1100" dirty="0">
                <a:latin typeface="Arial" panose="020B0604020202020204" pitchFamily="34" charset="0"/>
                <a:cs typeface="Arial" panose="020B0604020202020204" pitchFamily="34" charset="0"/>
              </a:rPr>
              <a:t> </a:t>
            </a:r>
          </a:p>
          <a:p>
            <a:pPr lvl="2"/>
            <a:r>
              <a:rPr lang="en-US" sz="1100" b="1" dirty="0">
                <a:latin typeface="Arial" panose="020B0604020202020204" pitchFamily="34" charset="0"/>
                <a:cs typeface="Arial" panose="020B0604020202020204" pitchFamily="34" charset="0"/>
              </a:rPr>
              <a:t>Transaction Monitoring Agent:</a:t>
            </a:r>
            <a:r>
              <a:rPr lang="en-US" sz="1100" dirty="0">
                <a:latin typeface="Arial" panose="020B0604020202020204" pitchFamily="34" charset="0"/>
                <a:cs typeface="Arial" panose="020B0604020202020204" pitchFamily="34" charset="0"/>
              </a:rPr>
              <a:t> Analyzes real-time transaction streams for suspicious patterns.</a:t>
            </a:r>
          </a:p>
          <a:p>
            <a:pPr lvl="2"/>
            <a:r>
              <a:rPr lang="en-US" sz="1100" b="1" dirty="0">
                <a:latin typeface="Arial" panose="020B0604020202020204" pitchFamily="34" charset="0"/>
                <a:cs typeface="Arial" panose="020B0604020202020204" pitchFamily="34" charset="0"/>
              </a:rPr>
              <a:t>Customer Due Diligence (CDD) Agent:</a:t>
            </a:r>
            <a:r>
              <a:rPr lang="en-US" sz="1100" dirty="0">
                <a:latin typeface="Arial" panose="020B0604020202020204" pitchFamily="34" charset="0"/>
                <a:cs typeface="Arial" panose="020B0604020202020204" pitchFamily="34" charset="0"/>
              </a:rPr>
              <a:t> Manages and provides customer risk profiles and KYC data.</a:t>
            </a:r>
          </a:p>
          <a:p>
            <a:pPr lvl="2"/>
            <a:r>
              <a:rPr lang="en-US" sz="1100" b="1" dirty="0">
                <a:latin typeface="Arial" panose="020B0604020202020204" pitchFamily="34" charset="0"/>
                <a:cs typeface="Arial" panose="020B0604020202020204" pitchFamily="34" charset="0"/>
              </a:rPr>
              <a:t>External Data Agent:</a:t>
            </a:r>
            <a:r>
              <a:rPr lang="en-US" sz="1100" dirty="0">
                <a:latin typeface="Arial" panose="020B0604020202020204" pitchFamily="34" charset="0"/>
                <a:cs typeface="Arial" panose="020B0604020202020204" pitchFamily="34" charset="0"/>
              </a:rPr>
              <a:t> Interfaces with external sanctions lists, adverse media databases, etc.</a:t>
            </a:r>
          </a:p>
          <a:p>
            <a:pPr lvl="2"/>
            <a:r>
              <a:rPr lang="en-US" sz="1100" b="1" dirty="0">
                <a:latin typeface="Arial" panose="020B0604020202020204" pitchFamily="34" charset="0"/>
                <a:cs typeface="Arial" panose="020B0604020202020204" pitchFamily="34" charset="0"/>
              </a:rPr>
              <a:t>Network Analysis Agent:</a:t>
            </a:r>
            <a:r>
              <a:rPr lang="en-US" sz="1100" dirty="0">
                <a:latin typeface="Arial" panose="020B0604020202020204" pitchFamily="34" charset="0"/>
                <a:cs typeface="Arial" panose="020B0604020202020204" pitchFamily="34" charset="0"/>
              </a:rPr>
              <a:t> Identifies hidden relationships between entities.</a:t>
            </a:r>
          </a:p>
          <a:p>
            <a:pPr lvl="2"/>
            <a:r>
              <a:rPr lang="en-US" sz="1100" b="1" dirty="0">
                <a:latin typeface="Arial" panose="020B0604020202020204" pitchFamily="34" charset="0"/>
                <a:cs typeface="Arial" panose="020B0604020202020204" pitchFamily="34" charset="0"/>
              </a:rPr>
              <a:t>Case Management Agent:</a:t>
            </a:r>
            <a:r>
              <a:rPr lang="en-US" sz="1100" dirty="0">
                <a:latin typeface="Arial" panose="020B0604020202020204" pitchFamily="34" charset="0"/>
                <a:cs typeface="Arial" panose="020B0604020202020204" pitchFamily="34" charset="0"/>
              </a:rPr>
              <a:t> Creates, assigns, and tracks suspicious activity investigations.</a:t>
            </a:r>
          </a:p>
          <a:p>
            <a:pPr lvl="2"/>
            <a:r>
              <a:rPr lang="en-US" sz="1100" b="1" dirty="0">
                <a:latin typeface="Arial" panose="020B0604020202020204" pitchFamily="34" charset="0"/>
                <a:cs typeface="Arial" panose="020B0604020202020204" pitchFamily="34" charset="0"/>
              </a:rPr>
              <a:t>Regulatory Reporting Agent:</a:t>
            </a:r>
            <a:r>
              <a:rPr lang="en-US" sz="1100" dirty="0">
                <a:latin typeface="Arial" panose="020B0604020202020204" pitchFamily="34" charset="0"/>
                <a:cs typeface="Arial" panose="020B0604020202020204" pitchFamily="34" charset="0"/>
              </a:rPr>
              <a:t> Formats and submits required reports to authorities.</a:t>
            </a:r>
          </a:p>
          <a:p>
            <a:pPr lvl="2"/>
            <a:r>
              <a:rPr lang="en-US" sz="1100" b="1" dirty="0">
                <a:latin typeface="Arial" panose="020B0604020202020204" pitchFamily="34" charset="0"/>
                <a:cs typeface="Arial" panose="020B0604020202020204" pitchFamily="34" charset="0"/>
              </a:rPr>
              <a:t>Compliance Officer Agent (Human Interface):</a:t>
            </a:r>
            <a:r>
              <a:rPr lang="en-US" sz="1100" dirty="0">
                <a:latin typeface="Arial" panose="020B0604020202020204" pitchFamily="34" charset="0"/>
                <a:cs typeface="Arial" panose="020B0604020202020204" pitchFamily="34" charset="0"/>
              </a:rPr>
              <a:t> Facilitates human review and final decision-making.</a:t>
            </a:r>
          </a:p>
          <a:p>
            <a:r>
              <a:rPr lang="en-US" sz="1100" b="1" dirty="0">
                <a:latin typeface="Arial" panose="020B0604020202020204" pitchFamily="34" charset="0"/>
                <a:cs typeface="Arial" panose="020B0604020202020204" pitchFamily="34" charset="0"/>
              </a:rPr>
              <a:t>Benefit:</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Enhanced Detection Accuracy:</a:t>
            </a:r>
            <a:r>
              <a:rPr lang="en-US" sz="1100" dirty="0">
                <a:latin typeface="Arial" panose="020B0604020202020204" pitchFamily="34" charset="0"/>
                <a:cs typeface="Arial" panose="020B0604020202020204" pitchFamily="34" charset="0"/>
              </a:rPr>
              <a:t> Integrates multiple data points and analytical techniques to improve the identification of genuine money laundering activities.</a:t>
            </a:r>
          </a:p>
          <a:p>
            <a:pPr lvl="1"/>
            <a:r>
              <a:rPr lang="en-US" sz="1100" b="1" dirty="0">
                <a:latin typeface="Arial" panose="020B0604020202020204" pitchFamily="34" charset="0"/>
                <a:cs typeface="Arial" panose="020B0604020202020204" pitchFamily="34" charset="0"/>
              </a:rPr>
              <a:t>Faster Investigation Cycles:</a:t>
            </a:r>
            <a:r>
              <a:rPr lang="en-US" sz="1100" dirty="0">
                <a:latin typeface="Arial" panose="020B0604020202020204" pitchFamily="34" charset="0"/>
                <a:cs typeface="Arial" panose="020B0604020202020204" pitchFamily="34" charset="0"/>
              </a:rPr>
              <a:t> Automates data gathering and initial analysis, reducing the time and effort for human investigators.</a:t>
            </a:r>
          </a:p>
          <a:p>
            <a:pPr lvl="1"/>
            <a:r>
              <a:rPr lang="en-US" sz="1100" b="1" dirty="0">
                <a:latin typeface="Arial" panose="020B0604020202020204" pitchFamily="34" charset="0"/>
                <a:cs typeface="Arial" panose="020B0604020202020204" pitchFamily="34" charset="0"/>
              </a:rPr>
              <a:t>Improved Compliance:</a:t>
            </a:r>
            <a:r>
              <a:rPr lang="en-US" sz="1100" dirty="0">
                <a:latin typeface="Arial" panose="020B0604020202020204" pitchFamily="34" charset="0"/>
                <a:cs typeface="Arial" panose="020B0604020202020204" pitchFamily="34" charset="0"/>
              </a:rPr>
              <a:t> Ensures timely and accurate reporting to regulatory authorities.</a:t>
            </a:r>
          </a:p>
          <a:p>
            <a:pPr lvl="1"/>
            <a:r>
              <a:rPr lang="en-US" sz="1100" b="1" dirty="0">
                <a:latin typeface="Arial" panose="020B0604020202020204" pitchFamily="34" charset="0"/>
                <a:cs typeface="Arial" panose="020B0604020202020204" pitchFamily="34" charset="0"/>
              </a:rPr>
              <a:t>Reduced Manual Burden:</a:t>
            </a:r>
            <a:r>
              <a:rPr lang="en-US" sz="1100" dirty="0">
                <a:latin typeface="Arial" panose="020B0604020202020204" pitchFamily="34" charset="0"/>
                <a:cs typeface="Arial" panose="020B0604020202020204" pitchFamily="34" charset="0"/>
              </a:rPr>
              <a:t> Frees up compliance officers to focus on complex cases requiring human judgment.</a:t>
            </a:r>
          </a:p>
          <a:p>
            <a:pPr lvl="1"/>
            <a:r>
              <a:rPr lang="en-US" sz="1100" b="1" dirty="0">
                <a:latin typeface="Arial" panose="020B0604020202020204" pitchFamily="34" charset="0"/>
                <a:cs typeface="Arial" panose="020B0604020202020204" pitchFamily="34" charset="0"/>
              </a:rPr>
              <a:t>Proactive Risk Mitigation:</a:t>
            </a:r>
            <a:r>
              <a:rPr lang="en-US" sz="1100" dirty="0">
                <a:latin typeface="Arial" panose="020B0604020202020204" pitchFamily="34" charset="0"/>
                <a:cs typeface="Arial" panose="020B0604020202020204" pitchFamily="34" charset="0"/>
              </a:rPr>
              <a:t> Identifies and acts on suspicious patterns before they escalate into significant financial crime.</a:t>
            </a:r>
          </a:p>
          <a:p>
            <a:endParaRPr lang="en-IN" sz="11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65D49B6-6475-F652-1367-69EAC278E7C5}"/>
              </a:ext>
            </a:extLst>
          </p:cNvPr>
          <p:cNvSpPr txBox="1"/>
          <p:nvPr/>
        </p:nvSpPr>
        <p:spPr>
          <a:xfrm>
            <a:off x="6429554" y="1117057"/>
            <a:ext cx="5446143" cy="5509200"/>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Dynamic Treasury Management &amp; Liquidity Optimization</a:t>
            </a:r>
            <a:endParaRPr lang="en-US" sz="1100" dirty="0">
              <a:latin typeface="Arial" panose="020B0604020202020204" pitchFamily="34" charset="0"/>
              <a:cs typeface="Arial" panose="020B0604020202020204" pitchFamily="34" charset="0"/>
            </a:endParaRPr>
          </a:p>
          <a:p>
            <a:r>
              <a:rPr lang="en-US" sz="1100" b="1" dirty="0">
                <a:latin typeface="Arial" panose="020B0604020202020204" pitchFamily="34" charset="0"/>
                <a:cs typeface="Arial" panose="020B0604020202020204" pitchFamily="34" charset="0"/>
              </a:rPr>
              <a:t>Scenario:</a:t>
            </a:r>
            <a:r>
              <a:rPr lang="en-US" sz="1100" dirty="0">
                <a:latin typeface="Arial" panose="020B0604020202020204" pitchFamily="34" charset="0"/>
                <a:cs typeface="Arial" panose="020B0604020202020204" pitchFamily="34" charset="0"/>
              </a:rPr>
              <a:t> A bank needs to manage its internal liquidity, optimize cash flows across various accounts and currencies, and fulfill regulatory reserve requirements in real-time.</a:t>
            </a:r>
          </a:p>
          <a:p>
            <a:r>
              <a:rPr lang="en-US" sz="1100" b="1" dirty="0">
                <a:latin typeface="Arial" panose="020B0604020202020204" pitchFamily="34" charset="0"/>
                <a:cs typeface="Arial" panose="020B0604020202020204" pitchFamily="34" charset="0"/>
              </a:rPr>
              <a:t>Agent to Agent Protocol for:</a:t>
            </a:r>
            <a:r>
              <a:rPr lang="en-US" sz="1100" dirty="0">
                <a:latin typeface="Arial" panose="020B0604020202020204" pitchFamily="34" charset="0"/>
                <a:cs typeface="Arial" panose="020B0604020202020204" pitchFamily="34" charset="0"/>
              </a:rPr>
              <a:t> Automated and intelligent management of a bank's treasury operations, including cash positioning, funding, and investment.</a:t>
            </a:r>
          </a:p>
          <a:p>
            <a:r>
              <a:rPr lang="en-US" sz="1100" b="1" dirty="0">
                <a:latin typeface="Arial" panose="020B0604020202020204" pitchFamily="34" charset="0"/>
                <a:cs typeface="Arial" panose="020B0604020202020204" pitchFamily="34" charset="0"/>
              </a:rPr>
              <a:t>Application:</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Multi-Agent System (MAS) Components:</a:t>
            </a:r>
            <a:r>
              <a:rPr lang="en-US" sz="1100" dirty="0">
                <a:latin typeface="Arial" panose="020B0604020202020204" pitchFamily="34" charset="0"/>
                <a:cs typeface="Arial" panose="020B0604020202020204" pitchFamily="34" charset="0"/>
              </a:rPr>
              <a:t> </a:t>
            </a:r>
          </a:p>
          <a:p>
            <a:pPr lvl="2"/>
            <a:r>
              <a:rPr lang="en-US" sz="1100" b="1" dirty="0">
                <a:latin typeface="Arial" panose="020B0604020202020204" pitchFamily="34" charset="0"/>
                <a:cs typeface="Arial" panose="020B0604020202020204" pitchFamily="34" charset="0"/>
              </a:rPr>
              <a:t>Cash Position Agent:</a:t>
            </a:r>
            <a:r>
              <a:rPr lang="en-US" sz="1100" dirty="0">
                <a:latin typeface="Arial" panose="020B0604020202020204" pitchFamily="34" charset="0"/>
                <a:cs typeface="Arial" panose="020B0604020202020204" pitchFamily="34" charset="0"/>
              </a:rPr>
              <a:t> Tracks real-time balances across all internal and external accounts.</a:t>
            </a:r>
          </a:p>
          <a:p>
            <a:pPr lvl="2"/>
            <a:r>
              <a:rPr lang="en-US" sz="1100" b="1" dirty="0">
                <a:latin typeface="Arial" panose="020B0604020202020204" pitchFamily="34" charset="0"/>
                <a:cs typeface="Arial" panose="020B0604020202020204" pitchFamily="34" charset="0"/>
              </a:rPr>
              <a:t>Funding Agent:</a:t>
            </a:r>
            <a:r>
              <a:rPr lang="en-US" sz="1100" dirty="0">
                <a:latin typeface="Arial" panose="020B0604020202020204" pitchFamily="34" charset="0"/>
                <a:cs typeface="Arial" panose="020B0604020202020204" pitchFamily="34" charset="0"/>
              </a:rPr>
              <a:t> Identifies funding needs or surpluses.</a:t>
            </a:r>
          </a:p>
          <a:p>
            <a:pPr lvl="2"/>
            <a:r>
              <a:rPr lang="en-US" sz="1100" b="1" dirty="0">
                <a:latin typeface="Arial" panose="020B0604020202020204" pitchFamily="34" charset="0"/>
                <a:cs typeface="Arial" panose="020B0604020202020204" pitchFamily="34" charset="0"/>
              </a:rPr>
              <a:t>Investment Agent:</a:t>
            </a:r>
            <a:r>
              <a:rPr lang="en-US" sz="1100" dirty="0">
                <a:latin typeface="Arial" panose="020B0604020202020204" pitchFamily="34" charset="0"/>
                <a:cs typeface="Arial" panose="020B0604020202020204" pitchFamily="34" charset="0"/>
              </a:rPr>
              <a:t> Seeks short-term investment opportunities for surplus cash.</a:t>
            </a:r>
          </a:p>
          <a:p>
            <a:pPr lvl="2"/>
            <a:r>
              <a:rPr lang="en-US" sz="1100" b="1" dirty="0">
                <a:latin typeface="Arial" panose="020B0604020202020204" pitchFamily="34" charset="0"/>
                <a:cs typeface="Arial" panose="020B0604020202020204" pitchFamily="34" charset="0"/>
              </a:rPr>
              <a:t>Borrowing Agent:</a:t>
            </a:r>
            <a:r>
              <a:rPr lang="en-US" sz="1100" dirty="0">
                <a:latin typeface="Arial" panose="020B0604020202020204" pitchFamily="34" charset="0"/>
                <a:cs typeface="Arial" panose="020B0604020202020204" pitchFamily="34" charset="0"/>
              </a:rPr>
              <a:t> Identifies borrowing opportunities when liquidity is tight.</a:t>
            </a:r>
          </a:p>
          <a:p>
            <a:pPr lvl="2"/>
            <a:r>
              <a:rPr lang="en-US" sz="1100" b="1" dirty="0">
                <a:latin typeface="Arial" panose="020B0604020202020204" pitchFamily="34" charset="0"/>
                <a:cs typeface="Arial" panose="020B0604020202020204" pitchFamily="34" charset="0"/>
              </a:rPr>
              <a:t>Regulatory Reserve Agent:</a:t>
            </a:r>
            <a:r>
              <a:rPr lang="en-US" sz="1100" dirty="0">
                <a:latin typeface="Arial" panose="020B0604020202020204" pitchFamily="34" charset="0"/>
                <a:cs typeface="Arial" panose="020B0604020202020204" pitchFamily="34" charset="0"/>
              </a:rPr>
              <a:t> Monitors compliance with central bank reserve requirements.</a:t>
            </a:r>
          </a:p>
          <a:p>
            <a:pPr lvl="2"/>
            <a:r>
              <a:rPr lang="en-US" sz="1100" b="1" dirty="0">
                <a:latin typeface="Arial" panose="020B0604020202020204" pitchFamily="34" charset="0"/>
                <a:cs typeface="Arial" panose="020B0604020202020204" pitchFamily="34" charset="0"/>
              </a:rPr>
              <a:t>Risk Management Agent:</a:t>
            </a:r>
            <a:r>
              <a:rPr lang="en-US" sz="1100" dirty="0">
                <a:latin typeface="Arial" panose="020B0604020202020204" pitchFamily="34" charset="0"/>
                <a:cs typeface="Arial" panose="020B0604020202020204" pitchFamily="34" charset="0"/>
              </a:rPr>
              <a:t> Assesses financial risks (interest rate, FX, credit).</a:t>
            </a:r>
          </a:p>
          <a:p>
            <a:pPr lvl="2"/>
            <a:r>
              <a:rPr lang="en-US" sz="1100" b="1" dirty="0">
                <a:latin typeface="Arial" panose="020B0604020202020204" pitchFamily="34" charset="0"/>
                <a:cs typeface="Arial" panose="020B0604020202020204" pitchFamily="34" charset="0"/>
              </a:rPr>
              <a:t>Forecasting Agent:</a:t>
            </a:r>
            <a:r>
              <a:rPr lang="en-US" sz="1100" dirty="0">
                <a:latin typeface="Arial" panose="020B0604020202020204" pitchFamily="34" charset="0"/>
                <a:cs typeface="Arial" panose="020B0604020202020204" pitchFamily="34" charset="0"/>
              </a:rPr>
              <a:t> Predicts future cash flows.</a:t>
            </a:r>
          </a:p>
          <a:p>
            <a:r>
              <a:rPr lang="en-US" sz="1100" b="1" dirty="0">
                <a:latin typeface="Arial" panose="020B0604020202020204" pitchFamily="34" charset="0"/>
                <a:cs typeface="Arial" panose="020B0604020202020204" pitchFamily="34" charset="0"/>
              </a:rPr>
              <a:t>Benefit:</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Optimized Liquidity:</a:t>
            </a:r>
            <a:r>
              <a:rPr lang="en-US" sz="1100" dirty="0">
                <a:latin typeface="Arial" panose="020B0604020202020204" pitchFamily="34" charset="0"/>
                <a:cs typeface="Arial" panose="020B0604020202020204" pitchFamily="34" charset="0"/>
              </a:rPr>
              <a:t> Ensures the bank always has sufficient funds while minimizing idle cash, improving capital efficiency.</a:t>
            </a:r>
          </a:p>
          <a:p>
            <a:pPr lvl="1"/>
            <a:r>
              <a:rPr lang="en-US" sz="1100" b="1" dirty="0">
                <a:latin typeface="Arial" panose="020B0604020202020204" pitchFamily="34" charset="0"/>
                <a:cs typeface="Arial" panose="020B0604020202020204" pitchFamily="34" charset="0"/>
              </a:rPr>
              <a:t>Reduced Funding Costs:</a:t>
            </a:r>
            <a:r>
              <a:rPr lang="en-US" sz="1100" dirty="0">
                <a:latin typeface="Arial" panose="020B0604020202020204" pitchFamily="34" charset="0"/>
                <a:cs typeface="Arial" panose="020B0604020202020204" pitchFamily="34" charset="0"/>
              </a:rPr>
              <a:t> Automatically identifies the cheapest sources of funds and the best investment opportunities.</a:t>
            </a:r>
          </a:p>
          <a:p>
            <a:pPr lvl="1"/>
            <a:r>
              <a:rPr lang="en-US" sz="1100" b="1" dirty="0">
                <a:latin typeface="Arial" panose="020B0604020202020204" pitchFamily="34" charset="0"/>
                <a:cs typeface="Arial" panose="020B0604020202020204" pitchFamily="34" charset="0"/>
              </a:rPr>
              <a:t>Enhanced Compliance:</a:t>
            </a:r>
            <a:r>
              <a:rPr lang="en-US" sz="1100" dirty="0">
                <a:latin typeface="Arial" panose="020B0604020202020204" pitchFamily="34" charset="0"/>
                <a:cs typeface="Arial" panose="020B0604020202020204" pitchFamily="34" charset="0"/>
              </a:rPr>
              <a:t> Real-time monitoring and adjustment ensure adherence to central bank reserve requirements.</a:t>
            </a:r>
          </a:p>
          <a:p>
            <a:pPr lvl="1"/>
            <a:r>
              <a:rPr lang="en-US" sz="1100" b="1" dirty="0">
                <a:latin typeface="Arial" panose="020B0604020202020204" pitchFamily="34" charset="0"/>
                <a:cs typeface="Arial" panose="020B0604020202020204" pitchFamily="34" charset="0"/>
              </a:rPr>
              <a:t>Improved Risk Management:</a:t>
            </a:r>
            <a:r>
              <a:rPr lang="en-US" sz="1100" dirty="0">
                <a:latin typeface="Arial" panose="020B0604020202020204" pitchFamily="34" charset="0"/>
                <a:cs typeface="Arial" panose="020B0604020202020204" pitchFamily="34" charset="0"/>
              </a:rPr>
              <a:t> Proactive identification and mitigation of liquidity and market risks.</a:t>
            </a:r>
          </a:p>
          <a:p>
            <a:pPr lvl="1"/>
            <a:r>
              <a:rPr lang="en-US" sz="1100" b="1" dirty="0">
                <a:latin typeface="Arial" panose="020B0604020202020204" pitchFamily="34" charset="0"/>
                <a:cs typeface="Arial" panose="020B0604020202020204" pitchFamily="34" charset="0"/>
              </a:rPr>
              <a:t>24/7 Operations:</a:t>
            </a:r>
            <a:r>
              <a:rPr lang="en-US" sz="1100" dirty="0">
                <a:latin typeface="Arial" panose="020B0604020202020204" pitchFamily="34" charset="0"/>
                <a:cs typeface="Arial" panose="020B0604020202020204" pitchFamily="34" charset="0"/>
              </a:rPr>
              <a:t> Automated agents can operate continuously, reacting to market changes and internal needs outside of human working hours.</a:t>
            </a:r>
          </a:p>
          <a:p>
            <a:endParaRPr lang="en-IN"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4724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6EDE8-B8A4-F9F7-012B-4047F561A8D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645980C-9E4A-BD35-2C72-7F02835EEE7E}"/>
              </a:ext>
            </a:extLst>
          </p:cNvPr>
          <p:cNvSpPr txBox="1"/>
          <p:nvPr/>
        </p:nvSpPr>
        <p:spPr>
          <a:xfrm>
            <a:off x="608161" y="1299714"/>
            <a:ext cx="8685363" cy="2031325"/>
          </a:xfrm>
          <a:prstGeom prst="rect">
            <a:avLst/>
          </a:prstGeom>
          <a:noFill/>
        </p:spPr>
        <p:txBody>
          <a:bodyPr wrap="square">
            <a:spAutoFit/>
          </a:bodyPr>
          <a:lstStyle/>
          <a:p>
            <a:pPr algn="l">
              <a:buNone/>
            </a:pPr>
            <a:r>
              <a:rPr lang="en-US" b="1" i="0" dirty="0">
                <a:solidFill>
                  <a:srgbClr val="065F46"/>
                </a:solidFill>
                <a:effectLst/>
                <a:latin typeface="Segoe UI" panose="020B0502040204020203" pitchFamily="34" charset="0"/>
              </a:rPr>
              <a:t>Advantages</a:t>
            </a:r>
          </a:p>
          <a:p>
            <a:pPr marL="285750" indent="-285750">
              <a:buFont typeface="Arial" panose="020B0604020202020204" pitchFamily="34" charset="0"/>
              <a:buChar char="•"/>
            </a:pPr>
            <a:r>
              <a:rPr lang="en-US" b="1" dirty="0"/>
              <a:t>Framework-agnostic:</a:t>
            </a:r>
            <a:r>
              <a:rPr lang="en-US" dirty="0"/>
              <a:t> Works across different AI frameworks and platforms</a:t>
            </a:r>
          </a:p>
          <a:p>
            <a:pPr marL="285750" indent="-285750">
              <a:buFont typeface="Arial" panose="020B0604020202020204" pitchFamily="34" charset="0"/>
              <a:buChar char="•"/>
            </a:pPr>
            <a:r>
              <a:rPr lang="en-US" b="1" dirty="0"/>
              <a:t>Rich communication:</a:t>
            </a:r>
            <a:r>
              <a:rPr lang="en-US" dirty="0"/>
              <a:t> Supports text, forms, files, audio/video, and structured data</a:t>
            </a:r>
          </a:p>
          <a:p>
            <a:pPr marL="285750" indent="-285750">
              <a:buFont typeface="Arial" panose="020B0604020202020204" pitchFamily="34" charset="0"/>
              <a:buChar char="•"/>
            </a:pPr>
            <a:r>
              <a:rPr lang="en-US" b="1" dirty="0"/>
              <a:t>Enterprise-ready:</a:t>
            </a:r>
            <a:r>
              <a:rPr lang="en-US" dirty="0"/>
              <a:t> Secure, cross-organizational collaboration with authentication</a:t>
            </a:r>
          </a:p>
          <a:p>
            <a:pPr marL="285750" indent="-285750">
              <a:buFont typeface="Arial" panose="020B0604020202020204" pitchFamily="34" charset="0"/>
              <a:buChar char="•"/>
            </a:pPr>
            <a:r>
              <a:rPr lang="en-US" b="1" dirty="0"/>
              <a:t>Capability discovery:</a:t>
            </a:r>
            <a:r>
              <a:rPr lang="en-US" dirty="0"/>
              <a:t> Agents can advertise their abilities through Agent Cards</a:t>
            </a:r>
          </a:p>
          <a:p>
            <a:pPr marL="285750" indent="-285750">
              <a:buFont typeface="Arial" panose="020B0604020202020204" pitchFamily="34" charset="0"/>
              <a:buChar char="•"/>
            </a:pPr>
            <a:r>
              <a:rPr lang="en-US" b="1" dirty="0"/>
              <a:t>Real-time updates:</a:t>
            </a:r>
            <a:r>
              <a:rPr lang="en-US" dirty="0"/>
              <a:t> Streaming support for complex, long-running tasks</a:t>
            </a:r>
          </a:p>
          <a:p>
            <a:pPr marL="285750" indent="-285750">
              <a:buFont typeface="Arial" panose="020B0604020202020204" pitchFamily="34" charset="0"/>
              <a:buChar char="•"/>
            </a:pPr>
            <a:r>
              <a:rPr lang="en-US" b="1" dirty="0"/>
              <a:t>Standardized protocol:</a:t>
            </a:r>
            <a:r>
              <a:rPr lang="en-US" dirty="0"/>
              <a:t> Consistent implementation across different systems</a:t>
            </a:r>
          </a:p>
        </p:txBody>
      </p:sp>
      <p:sp>
        <p:nvSpPr>
          <p:cNvPr id="23" name="TextBox 22">
            <a:extLst>
              <a:ext uri="{FF2B5EF4-FFF2-40B4-BE49-F238E27FC236}">
                <a16:creationId xmlns:a16="http://schemas.microsoft.com/office/drawing/2014/main" id="{CFC8DFA3-E340-6CE4-902A-60C7AE380046}"/>
              </a:ext>
            </a:extLst>
          </p:cNvPr>
          <p:cNvSpPr txBox="1"/>
          <p:nvPr/>
        </p:nvSpPr>
        <p:spPr>
          <a:xfrm>
            <a:off x="608162" y="3496573"/>
            <a:ext cx="8880895" cy="1723549"/>
          </a:xfrm>
          <a:prstGeom prst="rect">
            <a:avLst/>
          </a:prstGeom>
          <a:noFill/>
        </p:spPr>
        <p:txBody>
          <a:bodyPr wrap="square">
            <a:spAutoFit/>
          </a:bodyPr>
          <a:lstStyle/>
          <a:p>
            <a:pPr algn="l">
              <a:buNone/>
            </a:pPr>
            <a:r>
              <a:rPr lang="en-US" sz="1600" b="1" i="0" dirty="0">
                <a:solidFill>
                  <a:srgbClr val="991B1B"/>
                </a:solidFill>
                <a:effectLst/>
                <a:latin typeface="Arial" panose="020B0604020202020204" pitchFamily="34" charset="0"/>
                <a:cs typeface="Arial" panose="020B0604020202020204" pitchFamily="34" charset="0"/>
              </a:rPr>
              <a:t>Limitations</a:t>
            </a:r>
          </a:p>
          <a:p>
            <a:pPr marL="285750" indent="-285750">
              <a:buFont typeface="Arial" panose="020B0604020202020204" pitchFamily="34" charset="0"/>
              <a:buChar char="•"/>
            </a:pPr>
            <a:r>
              <a:rPr lang="en-US" b="1" dirty="0"/>
              <a:t>Complex implementation:</a:t>
            </a:r>
            <a:r>
              <a:rPr lang="en-US" dirty="0"/>
              <a:t> More involved setup compared to simpler protocols</a:t>
            </a:r>
          </a:p>
          <a:p>
            <a:pPr marL="285750" indent="-285750">
              <a:buFont typeface="Arial" panose="020B0604020202020204" pitchFamily="34" charset="0"/>
              <a:buChar char="•"/>
            </a:pPr>
            <a:r>
              <a:rPr lang="en-US" b="1" dirty="0"/>
              <a:t>Nascent ecosystem:</a:t>
            </a:r>
            <a:r>
              <a:rPr lang="en-US" dirty="0"/>
              <a:t> Still early in adoption cycle with evolving standards</a:t>
            </a:r>
          </a:p>
          <a:p>
            <a:pPr marL="285750" indent="-285750">
              <a:buFont typeface="Arial" panose="020B0604020202020204" pitchFamily="34" charset="0"/>
              <a:buChar char="•"/>
            </a:pPr>
            <a:r>
              <a:rPr lang="en-US" b="1" dirty="0"/>
              <a:t>Higher overhead:</a:t>
            </a:r>
            <a:r>
              <a:rPr lang="en-US" dirty="0"/>
              <a:t> Requires more infrastructure and computational resources</a:t>
            </a:r>
          </a:p>
          <a:p>
            <a:pPr marL="285750" indent="-285750">
              <a:buFont typeface="Arial" panose="020B0604020202020204" pitchFamily="34" charset="0"/>
              <a:buChar char="•"/>
            </a:pPr>
            <a:r>
              <a:rPr lang="en-US" b="1" dirty="0"/>
              <a:t>Coordination challenges:</a:t>
            </a:r>
            <a:r>
              <a:rPr lang="en-US" dirty="0"/>
              <a:t> Managing complex multi-agent workflows</a:t>
            </a:r>
          </a:p>
          <a:p>
            <a:pPr marL="285750" indent="-285750">
              <a:buFont typeface="Arial" panose="020B0604020202020204" pitchFamily="34" charset="0"/>
              <a:buChar char="•"/>
            </a:pPr>
            <a:r>
              <a:rPr lang="en-US" b="1" dirty="0"/>
              <a:t>Security considerations:</a:t>
            </a:r>
            <a:r>
              <a:rPr lang="en-US" dirty="0"/>
              <a:t> Requires careful implementation of authentication</a:t>
            </a:r>
          </a:p>
        </p:txBody>
      </p:sp>
      <p:sp>
        <p:nvSpPr>
          <p:cNvPr id="4" name="Title 1">
            <a:extLst>
              <a:ext uri="{FF2B5EF4-FFF2-40B4-BE49-F238E27FC236}">
                <a16:creationId xmlns:a16="http://schemas.microsoft.com/office/drawing/2014/main" id="{B7A93C28-7FEB-70AE-2DB2-79D0F904DA0F}"/>
              </a:ext>
            </a:extLst>
          </p:cNvPr>
          <p:cNvSpPr txBox="1">
            <a:spLocks/>
          </p:cNvSpPr>
          <p:nvPr/>
        </p:nvSpPr>
        <p:spPr>
          <a:xfrm>
            <a:off x="159589" y="231951"/>
            <a:ext cx="10515600" cy="80513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A2A: Advantages and Limitations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4267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DDFB-A49A-DE1D-CAE9-28E379465452}"/>
              </a:ext>
            </a:extLst>
          </p:cNvPr>
          <p:cNvSpPr>
            <a:spLocks noGrp="1"/>
          </p:cNvSpPr>
          <p:nvPr>
            <p:ph type="title"/>
          </p:nvPr>
        </p:nvSpPr>
        <p:spPr/>
        <p:txBody>
          <a:bodyPr>
            <a:normAutofit/>
          </a:bodyPr>
          <a:lstStyle/>
          <a:p>
            <a:r>
              <a:rPr lang="en-US" dirty="0"/>
              <a:t>What This Means for Developers</a:t>
            </a:r>
            <a:br>
              <a:rPr lang="en-US" dirty="0"/>
            </a:br>
            <a:endParaRPr lang="en-IN" dirty="0"/>
          </a:p>
        </p:txBody>
      </p:sp>
      <p:sp>
        <p:nvSpPr>
          <p:cNvPr id="3" name="Content Placeholder 2">
            <a:extLst>
              <a:ext uri="{FF2B5EF4-FFF2-40B4-BE49-F238E27FC236}">
                <a16:creationId xmlns:a16="http://schemas.microsoft.com/office/drawing/2014/main" id="{40CE530A-579E-95D8-CF2B-2A3338A50288}"/>
              </a:ext>
            </a:extLst>
          </p:cNvPr>
          <p:cNvSpPr>
            <a:spLocks noGrp="1"/>
          </p:cNvSpPr>
          <p:nvPr>
            <p:ph idx="1"/>
          </p:nvPr>
        </p:nvSpPr>
        <p:spPr>
          <a:xfrm>
            <a:off x="792192" y="1325293"/>
            <a:ext cx="10515600" cy="4351338"/>
          </a:xfrm>
        </p:spPr>
        <p:txBody>
          <a:bodyPr>
            <a:normAutofit fontScale="70000" lnSpcReduction="20000"/>
          </a:bodyPr>
          <a:lstStyle/>
          <a:p>
            <a:pPr marL="0" indent="0">
              <a:buNone/>
            </a:pPr>
            <a:r>
              <a:rPr lang="en-US" dirty="0"/>
              <a:t>So, what should you, as a developer building with AI, do with these competing standards?</a:t>
            </a:r>
          </a:p>
          <a:p>
            <a:endParaRPr lang="en-US" dirty="0"/>
          </a:p>
          <a:p>
            <a:r>
              <a:rPr lang="en-US" b="1" dirty="0"/>
              <a:t>For simple applications: </a:t>
            </a:r>
            <a:r>
              <a:rPr lang="en-US" dirty="0"/>
              <a:t>Function Calling remains the quickest path to adding tool use to your LLM application, especially if you're only using one model provider.</a:t>
            </a:r>
          </a:p>
          <a:p>
            <a:endParaRPr lang="en-US" dirty="0"/>
          </a:p>
          <a:p>
            <a:r>
              <a:rPr lang="en-US" b="1" dirty="0"/>
              <a:t>For cross-model compatibility: </a:t>
            </a:r>
            <a:r>
              <a:rPr lang="en-US" dirty="0"/>
              <a:t>Consider adopting MCP, which gives you broader model support without duplicating integration work.</a:t>
            </a:r>
          </a:p>
          <a:p>
            <a:endParaRPr lang="en-US" dirty="0"/>
          </a:p>
          <a:p>
            <a:r>
              <a:rPr lang="en-US" b="1" dirty="0"/>
              <a:t>For complex multi-agent systems: </a:t>
            </a:r>
            <a:r>
              <a:rPr lang="en-US" dirty="0"/>
              <a:t>Keep an eye on A2A, which could become crucial as agent ecosystems mature.</a:t>
            </a:r>
          </a:p>
          <a:p>
            <a:endParaRPr lang="en-US" dirty="0"/>
          </a:p>
          <a:p>
            <a:r>
              <a:rPr lang="en-US" b="1" dirty="0"/>
              <a:t>The smart play might be to layer these approaches: </a:t>
            </a:r>
            <a:r>
              <a:rPr lang="en-US" dirty="0"/>
              <a:t>use Function Calling for quick prototyping, but implement MCP adapters for better scalability, with A2A orchestration for multi-agent workflows.</a:t>
            </a:r>
            <a:endParaRPr lang="en-IN" dirty="0"/>
          </a:p>
        </p:txBody>
      </p:sp>
    </p:spTree>
    <p:extLst>
      <p:ext uri="{BB962C8B-B14F-4D97-AF65-F5344CB8AC3E}">
        <p14:creationId xmlns:p14="http://schemas.microsoft.com/office/powerpoint/2010/main" val="28932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EED1F-2010-1031-B769-D8650E680CC3}"/>
              </a:ext>
            </a:extLst>
          </p:cNvPr>
          <p:cNvSpPr>
            <a:spLocks noGrp="1"/>
          </p:cNvSpPr>
          <p:nvPr>
            <p:ph type="title"/>
          </p:nvPr>
        </p:nvSpPr>
        <p:spPr/>
        <p:txBody>
          <a:bodyPr/>
          <a:lstStyle/>
          <a:p>
            <a:r>
              <a:rPr lang="en-IN" dirty="0"/>
              <a:t>The Road Ahead</a:t>
            </a:r>
            <a:br>
              <a:rPr lang="en-IN" dirty="0"/>
            </a:br>
            <a:endParaRPr lang="en-IN" dirty="0"/>
          </a:p>
        </p:txBody>
      </p:sp>
      <p:sp>
        <p:nvSpPr>
          <p:cNvPr id="3" name="Content Placeholder 2">
            <a:extLst>
              <a:ext uri="{FF2B5EF4-FFF2-40B4-BE49-F238E27FC236}">
                <a16:creationId xmlns:a16="http://schemas.microsoft.com/office/drawing/2014/main" id="{31E22BCD-0D3B-A2FD-7262-75CAAEEE3CAF}"/>
              </a:ext>
            </a:extLst>
          </p:cNvPr>
          <p:cNvSpPr>
            <a:spLocks noGrp="1"/>
          </p:cNvSpPr>
          <p:nvPr>
            <p:ph idx="1"/>
          </p:nvPr>
        </p:nvSpPr>
        <p:spPr>
          <a:xfrm>
            <a:off x="838200" y="1469067"/>
            <a:ext cx="10515600" cy="4351338"/>
          </a:xfrm>
        </p:spPr>
        <p:txBody>
          <a:bodyPr>
            <a:normAutofit fontScale="92500" lnSpcReduction="20000"/>
          </a:bodyPr>
          <a:lstStyle/>
          <a:p>
            <a:r>
              <a:rPr lang="en-US" dirty="0"/>
              <a:t>The conversation around what makes an "AI Agent" is still evolving — sometimes even debated between companies like OpenAI, Anthropic, and </a:t>
            </a:r>
            <a:r>
              <a:rPr lang="en-US" dirty="0" err="1"/>
              <a:t>LangChain</a:t>
            </a:r>
            <a:r>
              <a:rPr lang="en-US" dirty="0"/>
              <a:t>.</a:t>
            </a:r>
          </a:p>
          <a:p>
            <a:endParaRPr lang="en-US" dirty="0"/>
          </a:p>
          <a:p>
            <a:r>
              <a:rPr lang="en-US" dirty="0"/>
              <a:t>But regardless of definitions, one thing is clear: Standards like Function Calling, MCP, and A2A are laying the foundation for the next generation of AI applications.</a:t>
            </a:r>
          </a:p>
          <a:p>
            <a:endParaRPr lang="en-US" dirty="0"/>
          </a:p>
          <a:p>
            <a:r>
              <a:rPr lang="en-US" dirty="0"/>
              <a:t>For developers, understanding these patterns early is an investment in future-proofing your work. The agent ecosystem is developing rapidly, and building on these protocols now means positioning your applications for what's coming next.</a:t>
            </a:r>
            <a:endParaRPr lang="en-IN" dirty="0"/>
          </a:p>
        </p:txBody>
      </p:sp>
    </p:spTree>
    <p:extLst>
      <p:ext uri="{BB962C8B-B14F-4D97-AF65-F5344CB8AC3E}">
        <p14:creationId xmlns:p14="http://schemas.microsoft.com/office/powerpoint/2010/main" val="327693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FAF48-1F82-4ED5-6B56-419CFC50FD42}"/>
              </a:ext>
            </a:extLst>
          </p:cNvPr>
          <p:cNvSpPr>
            <a:spLocks noGrp="1"/>
          </p:cNvSpPr>
          <p:nvPr>
            <p:ph type="title"/>
          </p:nvPr>
        </p:nvSpPr>
        <p:spPr/>
        <p:txBody>
          <a:bodyPr/>
          <a:lstStyle/>
          <a:p>
            <a:r>
              <a:rPr lang="en-IN" dirty="0"/>
              <a:t>How They Work Together</a:t>
            </a:r>
          </a:p>
        </p:txBody>
      </p:sp>
      <p:sp>
        <p:nvSpPr>
          <p:cNvPr id="5" name="TextBox 4">
            <a:extLst>
              <a:ext uri="{FF2B5EF4-FFF2-40B4-BE49-F238E27FC236}">
                <a16:creationId xmlns:a16="http://schemas.microsoft.com/office/drawing/2014/main" id="{DA2BDA9B-1C51-B32B-9B3D-23A6D85C787D}"/>
              </a:ext>
            </a:extLst>
          </p:cNvPr>
          <p:cNvSpPr txBox="1"/>
          <p:nvPr/>
        </p:nvSpPr>
        <p:spPr>
          <a:xfrm>
            <a:off x="838200" y="1466823"/>
            <a:ext cx="5480649" cy="387798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These three technologies are complementary rather than competitive - they don't replace each other but instead work together. In fact, a sophisticated AI system might leverage all three protocols simultaneously to achieve maximum capability:</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Function Calling provides the basic mechanics for a single agent to use tools and APIs, forming the foundation of AI capability</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MCP standardizes how agents access external data sources, enabling consistent information retrieval across different repositories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A2A enables those agents to communicate with other specialized agents, creating collaborative networks of AI systems</a:t>
            </a:r>
            <a:endParaRPr lang="en-IN" sz="1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B7FC114-6D1D-5D31-CB04-78732A51DFDF}"/>
              </a:ext>
            </a:extLst>
          </p:cNvPr>
          <p:cNvPicPr>
            <a:picLocks noChangeAspect="1"/>
          </p:cNvPicPr>
          <p:nvPr/>
        </p:nvPicPr>
        <p:blipFill>
          <a:blip r:embed="rId2"/>
          <a:stretch>
            <a:fillRect/>
          </a:stretch>
        </p:blipFill>
        <p:spPr>
          <a:xfrm>
            <a:off x="7323632" y="1846385"/>
            <a:ext cx="3905279" cy="3114698"/>
          </a:xfrm>
          <a:prstGeom prst="rect">
            <a:avLst/>
          </a:prstGeom>
        </p:spPr>
      </p:pic>
      <p:sp>
        <p:nvSpPr>
          <p:cNvPr id="9" name="TextBox 8">
            <a:extLst>
              <a:ext uri="{FF2B5EF4-FFF2-40B4-BE49-F238E27FC236}">
                <a16:creationId xmlns:a16="http://schemas.microsoft.com/office/drawing/2014/main" id="{CFB95D49-35DE-2FEE-0CC4-3C77D3298A52}"/>
              </a:ext>
            </a:extLst>
          </p:cNvPr>
          <p:cNvSpPr txBox="1"/>
          <p:nvPr/>
        </p:nvSpPr>
        <p:spPr>
          <a:xfrm>
            <a:off x="776999" y="5391177"/>
            <a:ext cx="10949174" cy="1200329"/>
          </a:xfrm>
          <a:prstGeom prst="rect">
            <a:avLst/>
          </a:prstGeom>
          <a:solidFill>
            <a:schemeClr val="accent5">
              <a:lumMod val="20000"/>
              <a:lumOff val="80000"/>
            </a:schemeClr>
          </a:solidFill>
        </p:spPr>
        <p:txBody>
          <a:bodyPr wrap="square">
            <a:spAutoFit/>
          </a:bodyPr>
          <a:lstStyle/>
          <a:p>
            <a:pPr algn="l">
              <a:buNone/>
            </a:pPr>
            <a:r>
              <a:rPr lang="en-US" sz="1200" b="1" i="0" dirty="0">
                <a:solidFill>
                  <a:srgbClr val="000000"/>
                </a:solidFill>
                <a:effectLst/>
                <a:latin typeface="Arial" panose="020B0604020202020204" pitchFamily="34" charset="0"/>
                <a:cs typeface="Arial" panose="020B0604020202020204" pitchFamily="34" charset="0"/>
              </a:rPr>
              <a:t>The Future of AI Integration</a:t>
            </a:r>
          </a:p>
          <a:p>
            <a:pPr algn="l">
              <a:buNone/>
            </a:pPr>
            <a:r>
              <a:rPr lang="en-US" sz="1200" b="0" i="0" dirty="0">
                <a:solidFill>
                  <a:srgbClr val="000000"/>
                </a:solidFill>
                <a:effectLst/>
                <a:latin typeface="Arial" panose="020B0604020202020204" pitchFamily="34" charset="0"/>
                <a:cs typeface="Arial" panose="020B0604020202020204" pitchFamily="34" charset="0"/>
              </a:rPr>
              <a:t>As these protocols continue to mature and gain wider adoption, we're witnessing the emergence of a new paradigm in AI system design. Rather than monolithic models trying to do everything, we're moving toward ecosystems of specialized AI agents that can seamlessly work together through standardized protocols.</a:t>
            </a:r>
          </a:p>
          <a:p>
            <a:pPr algn="l"/>
            <a:r>
              <a:rPr lang="en-US" sz="1200" b="0" i="0" dirty="0">
                <a:solidFill>
                  <a:srgbClr val="000000"/>
                </a:solidFill>
                <a:effectLst/>
                <a:latin typeface="Arial" panose="020B0604020202020204" pitchFamily="34" charset="0"/>
                <a:cs typeface="Arial" panose="020B0604020202020204" pitchFamily="34" charset="0"/>
              </a:rPr>
              <a:t>This shift mirrors how human organizations work - with specialists in different domains collaborating to solve complex problems. The combination of Function Calling, MCP, and A2A creates the foundation for truly capable AI systems that can understand user needs, access relevant information, and coordinate specialized expertise to deliver comprehensive solutions.</a:t>
            </a:r>
          </a:p>
        </p:txBody>
      </p:sp>
      <p:sp>
        <p:nvSpPr>
          <p:cNvPr id="11" name="TextBox 10">
            <a:extLst>
              <a:ext uri="{FF2B5EF4-FFF2-40B4-BE49-F238E27FC236}">
                <a16:creationId xmlns:a16="http://schemas.microsoft.com/office/drawing/2014/main" id="{25DC2ED2-6564-1ED5-76BE-02599D8CC03F}"/>
              </a:ext>
            </a:extLst>
          </p:cNvPr>
          <p:cNvSpPr txBox="1"/>
          <p:nvPr/>
        </p:nvSpPr>
        <p:spPr>
          <a:xfrm>
            <a:off x="7821282" y="1399205"/>
            <a:ext cx="2639684" cy="369332"/>
          </a:xfrm>
          <a:prstGeom prst="rect">
            <a:avLst/>
          </a:prstGeom>
          <a:noFill/>
        </p:spPr>
        <p:txBody>
          <a:bodyPr wrap="square">
            <a:spAutoFit/>
          </a:bodyPr>
          <a:lstStyle/>
          <a:p>
            <a:pPr algn="l"/>
            <a:r>
              <a:rPr lang="en-IN" b="1" i="0" dirty="0">
                <a:solidFill>
                  <a:srgbClr val="000000"/>
                </a:solidFill>
                <a:effectLst/>
                <a:latin typeface="Segoe UI" panose="020B0502040204020203" pitchFamily="34" charset="0"/>
              </a:rPr>
              <a:t>Example Integration</a:t>
            </a:r>
          </a:p>
        </p:txBody>
      </p:sp>
    </p:spTree>
    <p:extLst>
      <p:ext uri="{BB962C8B-B14F-4D97-AF65-F5344CB8AC3E}">
        <p14:creationId xmlns:p14="http://schemas.microsoft.com/office/powerpoint/2010/main" val="3905202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50CEF-207E-8651-0E31-C09E041ACDB8}"/>
              </a:ext>
            </a:extLst>
          </p:cNvPr>
          <p:cNvSpPr>
            <a:spLocks noGrp="1"/>
          </p:cNvSpPr>
          <p:nvPr>
            <p:ph type="title"/>
          </p:nvPr>
        </p:nvSpPr>
        <p:spPr/>
        <p:txBody>
          <a:bodyPr/>
          <a:lstStyle/>
          <a:p>
            <a:r>
              <a:rPr lang="en-IN" dirty="0"/>
              <a:t>Real-World Examples</a:t>
            </a:r>
          </a:p>
        </p:txBody>
      </p:sp>
      <p:sp>
        <p:nvSpPr>
          <p:cNvPr id="4" name="Rectangle 1">
            <a:extLst>
              <a:ext uri="{FF2B5EF4-FFF2-40B4-BE49-F238E27FC236}">
                <a16:creationId xmlns:a16="http://schemas.microsoft.com/office/drawing/2014/main" id="{EAAD7E42-5313-980A-A76C-48240DB465E3}"/>
              </a:ext>
            </a:extLst>
          </p:cNvPr>
          <p:cNvSpPr>
            <a:spLocks noGrp="1" noChangeArrowheads="1"/>
          </p:cNvSpPr>
          <p:nvPr>
            <p:ph idx="1"/>
          </p:nvPr>
        </p:nvSpPr>
        <p:spPr bwMode="auto">
          <a:xfrm>
            <a:off x="838200" y="1569862"/>
            <a:ext cx="3009181" cy="4862870"/>
          </a:xfrm>
          <a:prstGeom prst="rect">
            <a:avLst/>
          </a:prstGeom>
          <a:solidFill>
            <a:srgbClr val="DBEA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cs typeface="Arial" panose="020B0604020202020204" pitchFamily="34" charset="0"/>
              </a:rPr>
              <a:t>Function Calling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cs typeface="Arial" panose="020B0604020202020204" pitchFamily="34" charset="0"/>
              </a:rPr>
              <a:t>Meeting Scheduler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rgbClr val="000000"/>
                </a:solidFill>
                <a:effectLst/>
                <a:cs typeface="Arial" panose="020B0604020202020204" pitchFamily="34" charset="0"/>
              </a:rPr>
              <a:t>User asks:</a:t>
            </a: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cs typeface="Arial" panose="020B0604020202020204" pitchFamily="34" charset="0"/>
              </a:rPr>
              <a:t>"Schedule a meeting with the marketing team next Tuesday at 2 PM about the new campaign.“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cs typeface="Arial" panose="020B0604020202020204" pitchFamily="34" charset="0"/>
              </a:rPr>
              <a:t>AI identifies:</a:t>
            </a: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cs typeface="Arial" panose="020B0604020202020204" pitchFamily="34" charset="0"/>
              </a:rPr>
              <a:t>Need to create calendar event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cs typeface="Arial" panose="020B0604020202020204" pitchFamily="34" charset="0"/>
              </a:rPr>
              <a:t>Calls </a:t>
            </a:r>
            <a:r>
              <a:rPr kumimoji="0" lang="en-US" altLang="en-US" sz="1000" b="0" i="0" u="none" strike="noStrike" cap="none" normalizeH="0" baseline="0" dirty="0" err="1">
                <a:ln>
                  <a:noFill/>
                </a:ln>
                <a:solidFill>
                  <a:srgbClr val="000000"/>
                </a:solidFill>
                <a:effectLst/>
                <a:cs typeface="Arial" panose="020B0604020202020204" pitchFamily="34" charset="0"/>
              </a:rPr>
              <a:t>create_meeting</a:t>
            </a:r>
            <a:r>
              <a:rPr kumimoji="0" lang="en-US" altLang="en-US" sz="1000" b="0" i="0" u="none" strike="noStrike" cap="none" normalizeH="0" baseline="0" dirty="0">
                <a:ln>
                  <a:noFill/>
                </a:ln>
                <a:solidFill>
                  <a:srgbClr val="000000"/>
                </a:solidFill>
                <a:effectLst/>
                <a:cs typeface="Arial" panose="020B0604020202020204" pitchFamily="34" charset="0"/>
              </a:rPr>
              <a:t>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cs typeface="Arial" panose="020B0604020202020204" pitchFamily="34" charset="0"/>
              </a:rPr>
              <a:t>Passes attendees, time, topic details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rgbClr val="000000"/>
                </a:solidFill>
                <a:effectLst/>
                <a:cs typeface="Arial" panose="020B0604020202020204" pitchFamily="34" charset="0"/>
              </a:rPr>
              <a:t>AI responds:</a:t>
            </a: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cs typeface="Arial" panose="020B0604020202020204" pitchFamily="34" charset="0"/>
              </a:rPr>
              <a:t>"I've scheduled a meeting with the marketing team for Tuesday, May 3rd at 2:00 PM titled 'New Campaign Discussion'. Calendar invites have been sent to all team members.“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cs typeface="Arial" panose="020B0604020202020204" pitchFamily="34" charset="0"/>
            </a:endParaRPr>
          </a:p>
        </p:txBody>
      </p:sp>
      <p:sp>
        <p:nvSpPr>
          <p:cNvPr id="5" name="Rectangle 1">
            <a:extLst>
              <a:ext uri="{FF2B5EF4-FFF2-40B4-BE49-F238E27FC236}">
                <a16:creationId xmlns:a16="http://schemas.microsoft.com/office/drawing/2014/main" id="{C2F737C2-676E-005C-8636-6E687C3A24DB}"/>
              </a:ext>
            </a:extLst>
          </p:cNvPr>
          <p:cNvSpPr txBox="1">
            <a:spLocks noChangeArrowheads="1"/>
          </p:cNvSpPr>
          <p:nvPr/>
        </p:nvSpPr>
        <p:spPr bwMode="auto">
          <a:xfrm>
            <a:off x="4329024" y="1514463"/>
            <a:ext cx="3009181" cy="4973669"/>
          </a:xfrm>
          <a:prstGeom prst="rect">
            <a:avLst/>
          </a:prstGeom>
          <a:solidFill>
            <a:schemeClr val="accent5">
              <a:lumMod val="20000"/>
              <a:lumOff val="80000"/>
            </a:schemeClr>
          </a:solidFill>
          <a:ln>
            <a:noFill/>
          </a:ln>
          <a:effectLst/>
        </p:spPr>
        <p:txBody>
          <a:bodyPr vert="horz" wrap="square" lIns="0" tIns="0" rIns="0" bIns="0" numCol="1" rtlCol="0" anchor="ctr" anchorCtr="0" compatLnSpc="1">
            <a:prstTxWarp prst="textNoShape">
              <a:avLst/>
            </a:prstTxWarp>
            <a:spAutoFit/>
          </a:bodyPr>
          <a:lstStyle>
            <a:lvl1pPr marL="228600" indent="-228600" algn="l" defTabSz="914400" rtl="0" eaLnBrk="0" fontAlgn="base" latinLnBrk="0" hangingPunct="0">
              <a:lnSpc>
                <a:spcPct val="90000"/>
              </a:lnSpc>
              <a:spcBef>
                <a:spcPct val="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0" fontAlgn="base" latinLnBrk="0" hangingPunct="0">
              <a:lnSpc>
                <a:spcPct val="90000"/>
              </a:lnSpc>
              <a:spcBef>
                <a:spcPct val="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lnSpc>
                <a:spcPct val="90000"/>
              </a:lnSpc>
              <a:spcBef>
                <a:spcPct val="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9pPr>
          </a:lstStyle>
          <a:p>
            <a:pPr marL="0" indent="0" algn="ctr">
              <a:buNone/>
            </a:pPr>
            <a:r>
              <a:rPr lang="en-US" sz="1800" b="1" dirty="0"/>
              <a:t>MCP Example</a:t>
            </a:r>
          </a:p>
          <a:p>
            <a:endParaRPr lang="en-US" sz="1000" b="1" dirty="0"/>
          </a:p>
          <a:p>
            <a:pPr marL="0" indent="0">
              <a:buNone/>
            </a:pPr>
            <a:r>
              <a:rPr lang="en-US" sz="1000" b="1" dirty="0"/>
              <a:t>Code Assistant</a:t>
            </a:r>
          </a:p>
          <a:p>
            <a:pPr marL="0" indent="0">
              <a:buNone/>
            </a:pPr>
            <a:r>
              <a:rPr lang="en-US" sz="1000" i="1" dirty="0"/>
              <a:t>User asks:</a:t>
            </a:r>
          </a:p>
          <a:p>
            <a:pPr marL="0" indent="0">
              <a:buNone/>
            </a:pPr>
            <a:r>
              <a:rPr lang="en-US" sz="1000" dirty="0"/>
              <a:t>"Can you help me understand how the authentication system works in our codebase? I'm specifically looking for how password reset is handled.“</a:t>
            </a:r>
          </a:p>
          <a:p>
            <a:pPr marL="0" indent="0">
              <a:buNone/>
            </a:pPr>
            <a:endParaRPr lang="en-US" sz="1000" dirty="0"/>
          </a:p>
          <a:p>
            <a:pPr marL="0" indent="0">
              <a:buNone/>
            </a:pPr>
            <a:endParaRPr lang="en-US" sz="1000" dirty="0"/>
          </a:p>
          <a:p>
            <a:pPr marL="0" indent="0">
              <a:buNone/>
            </a:pPr>
            <a:r>
              <a:rPr lang="en-US" sz="1000" b="1" dirty="0"/>
              <a:t>AI uses MCP to:</a:t>
            </a:r>
          </a:p>
          <a:p>
            <a:pPr marL="0" indent="0">
              <a:buNone/>
            </a:pPr>
            <a:r>
              <a:rPr lang="en-US" sz="1000" dirty="0"/>
              <a:t>Connect to GitHub via MCP server</a:t>
            </a:r>
          </a:p>
          <a:p>
            <a:pPr marL="0" indent="0">
              <a:buNone/>
            </a:pPr>
            <a:r>
              <a:rPr lang="en-US" sz="1000" dirty="0"/>
              <a:t>Search repository for auth code</a:t>
            </a:r>
          </a:p>
          <a:p>
            <a:pPr marL="0" indent="0">
              <a:buNone/>
            </a:pPr>
            <a:r>
              <a:rPr lang="en-US" sz="1000" dirty="0"/>
              <a:t>Access password reset implementation</a:t>
            </a:r>
          </a:p>
          <a:p>
            <a:pPr marL="0" indent="0">
              <a:buNone/>
            </a:pPr>
            <a:r>
              <a:rPr lang="en-US" sz="1000" dirty="0"/>
              <a:t>Read documentation and tests</a:t>
            </a:r>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r>
              <a:rPr lang="en-US" sz="1000" i="1" dirty="0"/>
              <a:t>AI responds:</a:t>
            </a:r>
          </a:p>
          <a:p>
            <a:pPr marL="0" indent="0">
              <a:buNone/>
            </a:pPr>
            <a:r>
              <a:rPr lang="en-US" sz="1000" dirty="0"/>
              <a:t>"I've analyzed your codebase. The password reset workflow is implemented in `auth/password_reset.py`. It uses a token-based system with a 24-hour expiry. Here's how it works: [detailed explanation with code references]"</a:t>
            </a: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cs typeface="Arial" panose="020B0604020202020204" pitchFamily="34" charset="0"/>
            </a:endParaRPr>
          </a:p>
        </p:txBody>
      </p:sp>
      <p:sp>
        <p:nvSpPr>
          <p:cNvPr id="6" name="Rectangle 1">
            <a:extLst>
              <a:ext uri="{FF2B5EF4-FFF2-40B4-BE49-F238E27FC236}">
                <a16:creationId xmlns:a16="http://schemas.microsoft.com/office/drawing/2014/main" id="{DC746466-FFCA-6A9E-8609-EE516F4375B7}"/>
              </a:ext>
            </a:extLst>
          </p:cNvPr>
          <p:cNvSpPr txBox="1">
            <a:spLocks noChangeArrowheads="1"/>
          </p:cNvSpPr>
          <p:nvPr/>
        </p:nvSpPr>
        <p:spPr bwMode="auto">
          <a:xfrm>
            <a:off x="7862977" y="1585252"/>
            <a:ext cx="3009181" cy="4832092"/>
          </a:xfrm>
          <a:prstGeom prst="rect">
            <a:avLst/>
          </a:prstGeom>
          <a:solidFill>
            <a:schemeClr val="accent6">
              <a:lumMod val="20000"/>
              <a:lumOff val="80000"/>
            </a:schemeClr>
          </a:solidFill>
          <a:ln>
            <a:noFill/>
          </a:ln>
          <a:effectLst/>
        </p:spPr>
        <p:txBody>
          <a:bodyPr vert="horz" wrap="square" lIns="0" tIns="0" rIns="0" bIns="0" numCol="1" rtlCol="0" anchor="ctr" anchorCtr="0" compatLnSpc="1">
            <a:prstTxWarp prst="textNoShape">
              <a:avLst/>
            </a:prstTxWarp>
            <a:spAutoFit/>
          </a:bodyPr>
          <a:lstStyle>
            <a:lvl1pPr marL="228600" indent="-228600" algn="l" defTabSz="914400" rtl="0" eaLnBrk="0" fontAlgn="base" latinLnBrk="0" hangingPunct="0">
              <a:lnSpc>
                <a:spcPct val="90000"/>
              </a:lnSpc>
              <a:spcBef>
                <a:spcPct val="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0" fontAlgn="base" latinLnBrk="0" hangingPunct="0">
              <a:lnSpc>
                <a:spcPct val="90000"/>
              </a:lnSpc>
              <a:spcBef>
                <a:spcPct val="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lnSpc>
                <a:spcPct val="90000"/>
              </a:lnSpc>
              <a:spcBef>
                <a:spcPct val="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9pPr>
          </a:lstStyle>
          <a:p>
            <a:pPr marL="0" indent="0" algn="ctr">
              <a:buNone/>
            </a:pPr>
            <a:r>
              <a:rPr lang="en-US" sz="1000" b="1" dirty="0"/>
              <a:t>A2A Example</a:t>
            </a:r>
          </a:p>
          <a:p>
            <a:endParaRPr lang="en-US" sz="1000" b="1" dirty="0"/>
          </a:p>
          <a:p>
            <a:pPr marL="0" indent="0">
              <a:buNone/>
            </a:pPr>
            <a:r>
              <a:rPr lang="en-US" sz="1000" b="1" dirty="0"/>
              <a:t>Travel Planning System</a:t>
            </a:r>
          </a:p>
          <a:p>
            <a:pPr marL="0" indent="0">
              <a:buNone/>
            </a:pPr>
            <a:r>
              <a:rPr lang="en-US" sz="1000" i="1" dirty="0"/>
              <a:t>User asks:</a:t>
            </a:r>
          </a:p>
          <a:p>
            <a:pPr marL="0" indent="0">
              <a:buNone/>
            </a:pPr>
            <a:r>
              <a:rPr lang="en-US" sz="1000" dirty="0"/>
              <a:t>"I want to plan a 5-day trip to Kerala next month for my anniversary. We love nature and good food. Budget is around ₹50,000.“</a:t>
            </a:r>
          </a:p>
          <a:p>
            <a:pPr marL="0" indent="0">
              <a:buNone/>
            </a:pPr>
            <a:endParaRPr lang="en-US" sz="1000" dirty="0"/>
          </a:p>
          <a:p>
            <a:pPr marL="0" indent="0">
              <a:buNone/>
            </a:pPr>
            <a:endParaRPr lang="en-US" sz="1000" dirty="0"/>
          </a:p>
          <a:p>
            <a:pPr marL="0" indent="0">
              <a:buNone/>
            </a:pPr>
            <a:r>
              <a:rPr lang="en-US" sz="1000" b="1" dirty="0"/>
              <a:t>Multi-agent collaboration:</a:t>
            </a:r>
          </a:p>
          <a:p>
            <a:pPr marL="0" indent="0">
              <a:buNone/>
            </a:pPr>
            <a:r>
              <a:rPr lang="en-US" sz="1000" dirty="0"/>
              <a:t>Primary agent uses A2A to connect to:</a:t>
            </a:r>
          </a:p>
          <a:p>
            <a:pPr marL="0" indent="0">
              <a:buNone/>
            </a:pPr>
            <a:r>
              <a:rPr lang="en-US" sz="1000" dirty="0"/>
              <a:t>Travel Agent (flight/hotel options)</a:t>
            </a:r>
          </a:p>
          <a:p>
            <a:pPr marL="0" indent="0">
              <a:buNone/>
            </a:pPr>
            <a:r>
              <a:rPr lang="en-US" sz="1000" dirty="0"/>
              <a:t>Local Expert Agent (Kerala activities)</a:t>
            </a:r>
          </a:p>
          <a:p>
            <a:pPr marL="0" indent="0">
              <a:buNone/>
            </a:pPr>
            <a:r>
              <a:rPr lang="en-US" sz="1000" dirty="0"/>
              <a:t>Budget Manager Agent (cost optimization)</a:t>
            </a:r>
          </a:p>
          <a:p>
            <a:pPr marL="0" indent="0">
              <a:buNone/>
            </a:pPr>
            <a:r>
              <a:rPr lang="en-US" sz="1000" dirty="0"/>
              <a:t>Agents coordinate via A2A protocol</a:t>
            </a:r>
          </a:p>
          <a:p>
            <a:pPr marL="0" indent="0">
              <a:buNone/>
            </a:pPr>
            <a:endParaRPr lang="en-US" sz="1000" dirty="0"/>
          </a:p>
          <a:p>
            <a:pPr marL="0" indent="0">
              <a:buNone/>
            </a:pPr>
            <a:endParaRPr lang="en-US" sz="1000" dirty="0"/>
          </a:p>
          <a:p>
            <a:pPr marL="0" indent="0">
              <a:buNone/>
            </a:pPr>
            <a:endParaRPr lang="en-US" sz="1000" dirty="0"/>
          </a:p>
          <a:p>
            <a:pPr marL="0" indent="0">
              <a:buNone/>
            </a:pPr>
            <a:r>
              <a:rPr lang="en-US" sz="1000" i="1" dirty="0"/>
              <a:t>Coordinated response:</a:t>
            </a:r>
          </a:p>
          <a:p>
            <a:pPr marL="0" indent="0">
              <a:buNone/>
            </a:pPr>
            <a:r>
              <a:rPr lang="en-US" sz="1000" dirty="0"/>
              <a:t>"I've created a complete Kerala itinerary for your anniversary with flights from Delhi (₹12,000), boutique eco-resort in Munnar (₹20,000), guided nature walks, authentic Kerala cuisine experiences, and a romantic backwater cruise - all within your ₹50,000 budget. Would you like to see the day-by-day plan?"</a:t>
            </a: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cs typeface="Arial" panose="020B0604020202020204" pitchFamily="34" charset="0"/>
            </a:endParaRPr>
          </a:p>
        </p:txBody>
      </p:sp>
    </p:spTree>
    <p:extLst>
      <p:ext uri="{BB962C8B-B14F-4D97-AF65-F5344CB8AC3E}">
        <p14:creationId xmlns:p14="http://schemas.microsoft.com/office/powerpoint/2010/main" val="2529732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3B7C78-27CF-B021-D476-DBB58C33A8D8}"/>
              </a:ext>
            </a:extLst>
          </p:cNvPr>
          <p:cNvPicPr>
            <a:picLocks noChangeAspect="1"/>
          </p:cNvPicPr>
          <p:nvPr/>
        </p:nvPicPr>
        <p:blipFill>
          <a:blip r:embed="rId2"/>
          <a:stretch>
            <a:fillRect/>
          </a:stretch>
        </p:blipFill>
        <p:spPr>
          <a:xfrm>
            <a:off x="1217276" y="1076025"/>
            <a:ext cx="9276845" cy="5424810"/>
          </a:xfrm>
          <a:prstGeom prst="rect">
            <a:avLst/>
          </a:prstGeom>
        </p:spPr>
      </p:pic>
      <p:sp>
        <p:nvSpPr>
          <p:cNvPr id="6" name="Title 1">
            <a:extLst>
              <a:ext uri="{FF2B5EF4-FFF2-40B4-BE49-F238E27FC236}">
                <a16:creationId xmlns:a16="http://schemas.microsoft.com/office/drawing/2014/main" id="{A8B6F9E3-3C34-80B6-2524-60B4B229CFDD}"/>
              </a:ext>
            </a:extLst>
          </p:cNvPr>
          <p:cNvSpPr>
            <a:spLocks noGrp="1"/>
          </p:cNvSpPr>
          <p:nvPr>
            <p:ph type="title"/>
          </p:nvPr>
        </p:nvSpPr>
        <p:spPr>
          <a:xfrm>
            <a:off x="159589" y="54574"/>
            <a:ext cx="10515600" cy="1325563"/>
          </a:xfrm>
        </p:spPr>
        <p:txBody>
          <a:bodyPr/>
          <a:lstStyle/>
          <a:p>
            <a:r>
              <a:rPr lang="en-IN" dirty="0"/>
              <a:t>Real-World Examples</a:t>
            </a:r>
          </a:p>
        </p:txBody>
      </p:sp>
    </p:spTree>
    <p:extLst>
      <p:ext uri="{BB962C8B-B14F-4D97-AF65-F5344CB8AC3E}">
        <p14:creationId xmlns:p14="http://schemas.microsoft.com/office/powerpoint/2010/main" val="1336023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2087-AC7F-F251-2901-AE2A205DFB12}"/>
              </a:ext>
            </a:extLst>
          </p:cNvPr>
          <p:cNvSpPr>
            <a:spLocks noGrp="1"/>
          </p:cNvSpPr>
          <p:nvPr>
            <p:ph type="title"/>
          </p:nvPr>
        </p:nvSpPr>
        <p:spPr>
          <a:xfrm>
            <a:off x="695865" y="290562"/>
            <a:ext cx="10777266" cy="1325563"/>
          </a:xfrm>
        </p:spPr>
        <p:txBody>
          <a:bodyPr>
            <a:normAutofit/>
          </a:bodyPr>
          <a:lstStyle/>
          <a:p>
            <a:r>
              <a:rPr lang="en-US" sz="4000" dirty="0"/>
              <a:t>Advanced Example Use Case - Integrating All Three</a:t>
            </a:r>
            <a:endParaRPr lang="en-IN" sz="4000" dirty="0"/>
          </a:p>
        </p:txBody>
      </p:sp>
      <p:sp>
        <p:nvSpPr>
          <p:cNvPr id="5" name="TextBox 4">
            <a:extLst>
              <a:ext uri="{FF2B5EF4-FFF2-40B4-BE49-F238E27FC236}">
                <a16:creationId xmlns:a16="http://schemas.microsoft.com/office/drawing/2014/main" id="{ADFAB077-2AEA-B402-2FA0-14CD78212CE7}"/>
              </a:ext>
            </a:extLst>
          </p:cNvPr>
          <p:cNvSpPr txBox="1"/>
          <p:nvPr/>
        </p:nvSpPr>
        <p:spPr>
          <a:xfrm>
            <a:off x="838200" y="1370965"/>
            <a:ext cx="6096000" cy="338554"/>
          </a:xfrm>
          <a:prstGeom prst="rect">
            <a:avLst/>
          </a:prstGeom>
          <a:noFill/>
        </p:spPr>
        <p:txBody>
          <a:bodyPr wrap="square">
            <a:spAutoFit/>
          </a:bodyPr>
          <a:lstStyle/>
          <a:p>
            <a:r>
              <a:rPr lang="en-IN" sz="1600" dirty="0">
                <a:latin typeface="Arial" panose="020B0604020202020204" pitchFamily="34" charset="0"/>
                <a:cs typeface="Arial" panose="020B0604020202020204" pitchFamily="34" charset="0"/>
              </a:rPr>
              <a:t>Enterprise Knowledge Assistant</a:t>
            </a:r>
          </a:p>
        </p:txBody>
      </p:sp>
      <p:sp>
        <p:nvSpPr>
          <p:cNvPr id="7" name="TextBox 6">
            <a:extLst>
              <a:ext uri="{FF2B5EF4-FFF2-40B4-BE49-F238E27FC236}">
                <a16:creationId xmlns:a16="http://schemas.microsoft.com/office/drawing/2014/main" id="{AACB42C2-E50E-1E12-1DB6-8919252AEB7A}"/>
              </a:ext>
            </a:extLst>
          </p:cNvPr>
          <p:cNvSpPr txBox="1"/>
          <p:nvPr/>
        </p:nvSpPr>
        <p:spPr>
          <a:xfrm>
            <a:off x="787878" y="1740297"/>
            <a:ext cx="10685253" cy="1077218"/>
          </a:xfrm>
          <a:prstGeom prst="rect">
            <a:avLst/>
          </a:prstGeom>
          <a:noFill/>
        </p:spPr>
        <p:txBody>
          <a:bodyPr wrap="square">
            <a:spAutoFit/>
          </a:bodyPr>
          <a:lstStyle/>
          <a:p>
            <a:pPr algn="l">
              <a:buNone/>
            </a:pPr>
            <a:r>
              <a:rPr lang="en-US" sz="1600" b="0" i="1" dirty="0">
                <a:solidFill>
                  <a:srgbClr val="000000"/>
                </a:solidFill>
                <a:effectLst/>
                <a:latin typeface="Arial" panose="020B0604020202020204" pitchFamily="34" charset="0"/>
                <a:cs typeface="Arial" panose="020B0604020202020204" pitchFamily="34" charset="0"/>
              </a:rPr>
              <a:t>Executive asks:</a:t>
            </a:r>
          </a:p>
          <a:p>
            <a:pPr algn="l"/>
            <a:r>
              <a:rPr lang="en-US" sz="1600" b="0" i="0" dirty="0">
                <a:solidFill>
                  <a:srgbClr val="000000"/>
                </a:solidFill>
                <a:effectLst/>
                <a:latin typeface="Arial" panose="020B0604020202020204" pitchFamily="34" charset="0"/>
                <a:cs typeface="Arial" panose="020B0604020202020204" pitchFamily="34" charset="0"/>
              </a:rPr>
              <a:t>"I need a comprehensive analysis of our Q1 sales performance compared to projections, with recommendations for Q2 strategy. Include relevant market trends and competitor analysis. Schedule a meeting with the sales directors to review your findings."</a:t>
            </a:r>
          </a:p>
        </p:txBody>
      </p:sp>
      <p:sp>
        <p:nvSpPr>
          <p:cNvPr id="9" name="TextBox 8">
            <a:extLst>
              <a:ext uri="{FF2B5EF4-FFF2-40B4-BE49-F238E27FC236}">
                <a16:creationId xmlns:a16="http://schemas.microsoft.com/office/drawing/2014/main" id="{93D02AA6-E87D-1C13-0DFD-56D87B43128B}"/>
              </a:ext>
            </a:extLst>
          </p:cNvPr>
          <p:cNvSpPr txBox="1"/>
          <p:nvPr/>
        </p:nvSpPr>
        <p:spPr>
          <a:xfrm>
            <a:off x="838200" y="2886324"/>
            <a:ext cx="3835879" cy="1154162"/>
          </a:xfrm>
          <a:prstGeom prst="rect">
            <a:avLst/>
          </a:prstGeom>
          <a:no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Function Calling Role:</a:t>
            </a:r>
          </a:p>
          <a:p>
            <a:pPr marL="285750" indent="-285750" algn="l">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Creates meeting invitation</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Generates PDF report</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Sends notifications</a:t>
            </a:r>
          </a:p>
        </p:txBody>
      </p:sp>
      <p:sp>
        <p:nvSpPr>
          <p:cNvPr id="11" name="TextBox 10">
            <a:extLst>
              <a:ext uri="{FF2B5EF4-FFF2-40B4-BE49-F238E27FC236}">
                <a16:creationId xmlns:a16="http://schemas.microsoft.com/office/drawing/2014/main" id="{D941C82C-8DE3-96E9-B24E-B82F553F20FD}"/>
              </a:ext>
            </a:extLst>
          </p:cNvPr>
          <p:cNvSpPr txBox="1"/>
          <p:nvPr/>
        </p:nvSpPr>
        <p:spPr>
          <a:xfrm>
            <a:off x="4336213" y="2817515"/>
            <a:ext cx="3152955" cy="1892826"/>
          </a:xfrm>
          <a:prstGeom prst="rect">
            <a:avLst/>
          </a:prstGeom>
          <a:no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MCP Role:</a:t>
            </a:r>
          </a:p>
          <a:p>
            <a:pPr marL="285750" indent="-285750" algn="l">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Accesses sales data from Salesforce</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Retrieves forecasts from internal systems</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Searches meeting records for context</a:t>
            </a:r>
          </a:p>
        </p:txBody>
      </p:sp>
      <p:sp>
        <p:nvSpPr>
          <p:cNvPr id="13" name="TextBox 12">
            <a:extLst>
              <a:ext uri="{FF2B5EF4-FFF2-40B4-BE49-F238E27FC236}">
                <a16:creationId xmlns:a16="http://schemas.microsoft.com/office/drawing/2014/main" id="{E502DFD4-3781-13D1-6338-05FF8D575215}"/>
              </a:ext>
            </a:extLst>
          </p:cNvPr>
          <p:cNvSpPr txBox="1"/>
          <p:nvPr/>
        </p:nvSpPr>
        <p:spPr>
          <a:xfrm>
            <a:off x="7884543" y="2817515"/>
            <a:ext cx="3933644" cy="1646605"/>
          </a:xfrm>
          <a:prstGeom prst="rect">
            <a:avLst/>
          </a:prstGeom>
          <a:no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A2A Role:</a:t>
            </a:r>
          </a:p>
          <a:p>
            <a:pPr marL="285750" indent="-285750" algn="l">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Engages Data Analyst Agent for trends</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Consults Strategy Agent for recommendations</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Coordinates with Scheduling Agent</a:t>
            </a:r>
          </a:p>
        </p:txBody>
      </p:sp>
      <p:sp>
        <p:nvSpPr>
          <p:cNvPr id="15" name="TextBox 14">
            <a:extLst>
              <a:ext uri="{FF2B5EF4-FFF2-40B4-BE49-F238E27FC236}">
                <a16:creationId xmlns:a16="http://schemas.microsoft.com/office/drawing/2014/main" id="{0821B48C-6057-D672-19F0-A1BAB772AAE1}"/>
              </a:ext>
            </a:extLst>
          </p:cNvPr>
          <p:cNvSpPr txBox="1"/>
          <p:nvPr/>
        </p:nvSpPr>
        <p:spPr>
          <a:xfrm>
            <a:off x="695865" y="4725730"/>
            <a:ext cx="11185584" cy="1846659"/>
          </a:xfrm>
          <a:prstGeom prst="rect">
            <a:avLst/>
          </a:prstGeom>
          <a:noFill/>
        </p:spPr>
        <p:txBody>
          <a:bodyPr wrap="square">
            <a:spAutoFit/>
          </a:bodyPr>
          <a:lstStyle/>
          <a:p>
            <a:pPr algn="l">
              <a:buNone/>
            </a:pPr>
            <a:r>
              <a:rPr lang="en-US" sz="1600" b="0" i="1" dirty="0">
                <a:solidFill>
                  <a:srgbClr val="000000"/>
                </a:solidFill>
                <a:effectLst/>
                <a:latin typeface="Arial" panose="020B0604020202020204" pitchFamily="34" charset="0"/>
                <a:cs typeface="Arial" panose="020B0604020202020204" pitchFamily="34" charset="0"/>
              </a:rPr>
              <a:t>Integrated response:</a:t>
            </a:r>
          </a:p>
          <a:p>
            <a:pPr algn="l">
              <a:buNone/>
            </a:pPr>
            <a:r>
              <a:rPr lang="en-US" sz="1600" b="0" i="0" dirty="0">
                <a:solidFill>
                  <a:srgbClr val="000000"/>
                </a:solidFill>
                <a:effectLst/>
                <a:latin typeface="Arial" panose="020B0604020202020204" pitchFamily="34" charset="0"/>
                <a:cs typeface="Arial" panose="020B0604020202020204" pitchFamily="34" charset="0"/>
              </a:rPr>
              <a:t>"I've prepared a comprehensive Q1 sales analysis showing we exceeded targets in enterprise sales (112%) but underperformed in SMB sector (85%). Based on market analysis and competitor data, I've outlined three strategic recommendations for Q2.</a:t>
            </a:r>
          </a:p>
          <a:p>
            <a:pPr algn="l"/>
            <a:r>
              <a:rPr lang="en-US" sz="1600" b="0" i="0" dirty="0">
                <a:solidFill>
                  <a:srgbClr val="000000"/>
                </a:solidFill>
                <a:effectLst/>
                <a:latin typeface="Arial" panose="020B0604020202020204" pitchFamily="34" charset="0"/>
                <a:cs typeface="Arial" panose="020B0604020202020204" pitchFamily="34" charset="0"/>
              </a:rPr>
              <a:t>A meeting is scheduled with all sales directors for Thursday at 10 AM, and I've attached the full report to the invitation. Would you like me to highlight any specific sections during the meeting?“</a:t>
            </a:r>
            <a:endParaRPr lang="en-US" sz="1600" dirty="0">
              <a:solidFill>
                <a:srgbClr val="000000"/>
              </a:solidFill>
              <a:latin typeface="Arial" panose="020B0604020202020204" pitchFamily="34" charset="0"/>
              <a:cs typeface="Arial" panose="020B0604020202020204" pitchFamily="34" charset="0"/>
            </a:endParaRPr>
          </a:p>
          <a:p>
            <a:r>
              <a:rPr lang="en-US" dirty="0"/>
              <a:t>    Q1_Sales_Analysis_Report.pdf</a:t>
            </a:r>
            <a:endParaRPr lang="en-US" sz="1600" b="0" i="0" dirty="0">
              <a:solidFill>
                <a:srgbClr val="000000"/>
              </a:solidFill>
              <a:effectLst/>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8344D000-BA40-7978-67E5-D2DF29229007}"/>
              </a:ext>
            </a:extLst>
          </p:cNvPr>
          <p:cNvPicPr>
            <a:picLocks noChangeAspect="1"/>
          </p:cNvPicPr>
          <p:nvPr/>
        </p:nvPicPr>
        <p:blipFill>
          <a:blip r:embed="rId2"/>
          <a:stretch>
            <a:fillRect/>
          </a:stretch>
        </p:blipFill>
        <p:spPr>
          <a:xfrm>
            <a:off x="767230" y="6304020"/>
            <a:ext cx="133351" cy="161926"/>
          </a:xfrm>
          <a:prstGeom prst="rect">
            <a:avLst/>
          </a:prstGeom>
        </p:spPr>
      </p:pic>
    </p:spTree>
    <p:extLst>
      <p:ext uri="{BB962C8B-B14F-4D97-AF65-F5344CB8AC3E}">
        <p14:creationId xmlns:p14="http://schemas.microsoft.com/office/powerpoint/2010/main" val="1943000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hat&#10;&#10;AI-generated content may be incorrect.">
            <a:extLst>
              <a:ext uri="{FF2B5EF4-FFF2-40B4-BE49-F238E27FC236}">
                <a16:creationId xmlns:a16="http://schemas.microsoft.com/office/drawing/2014/main" id="{7ABEA08F-E677-A4B1-B20C-4C21E2127DC4}"/>
              </a:ext>
            </a:extLst>
          </p:cNvPr>
          <p:cNvPicPr>
            <a:picLocks noGrp="1" noChangeAspect="1"/>
          </p:cNvPicPr>
          <p:nvPr>
            <p:ph idx="1"/>
          </p:nvPr>
        </p:nvPicPr>
        <p:blipFill>
          <a:blip r:embed="rId2"/>
          <a:srcRect r="12393" b="1"/>
          <a:stretch>
            <a:fillRect/>
          </a:stretch>
        </p:blipFill>
        <p:spPr>
          <a:xfrm>
            <a:off x="579032" y="579031"/>
            <a:ext cx="11033936" cy="5699100"/>
          </a:xfrm>
          <a:prstGeom prst="rect">
            <a:avLst/>
          </a:prstGeom>
        </p:spPr>
      </p:pic>
      <p:grpSp>
        <p:nvGrpSpPr>
          <p:cNvPr id="10" name="Group 9">
            <a:extLst>
              <a:ext uri="{FF2B5EF4-FFF2-40B4-BE49-F238E27FC236}">
                <a16:creationId xmlns:a16="http://schemas.microsoft.com/office/drawing/2014/main" id="{069C9563-3F88-F4E8-69B1-522A21F2EA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9032" y="6154767"/>
            <a:ext cx="11033937" cy="123363"/>
            <a:chOff x="-5025" y="6737718"/>
            <a:chExt cx="12207200" cy="123363"/>
          </a:xfrm>
        </p:grpSpPr>
        <p:sp>
          <p:nvSpPr>
            <p:cNvPr id="11" name="Rectangle 10">
              <a:extLst>
                <a:ext uri="{FF2B5EF4-FFF2-40B4-BE49-F238E27FC236}">
                  <a16:creationId xmlns:a16="http://schemas.microsoft.com/office/drawing/2014/main" id="{996B58CA-5165-43D0-E5AA-7EB35159F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445985-8854-4E17-9010-F0B467A869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le 1">
            <a:extLst>
              <a:ext uri="{FF2B5EF4-FFF2-40B4-BE49-F238E27FC236}">
                <a16:creationId xmlns:a16="http://schemas.microsoft.com/office/drawing/2014/main" id="{BC0E6766-9256-7CA6-0730-96DE429A08BB}"/>
              </a:ext>
            </a:extLst>
          </p:cNvPr>
          <p:cNvSpPr>
            <a:spLocks noGrp="1"/>
          </p:cNvSpPr>
          <p:nvPr>
            <p:ph type="title"/>
          </p:nvPr>
        </p:nvSpPr>
        <p:spPr>
          <a:xfrm>
            <a:off x="506084" y="152539"/>
            <a:ext cx="11197086" cy="468563"/>
          </a:xfrm>
        </p:spPr>
        <p:txBody>
          <a:bodyPr>
            <a:normAutofit fontScale="90000"/>
          </a:bodyPr>
          <a:lstStyle/>
          <a:p>
            <a:r>
              <a:rPr lang="en-US" sz="4000" dirty="0"/>
              <a:t>Advanced Example Use Case - Integrating All Three</a:t>
            </a:r>
            <a:endParaRPr lang="en-IN" sz="4000" dirty="0"/>
          </a:p>
        </p:txBody>
      </p:sp>
    </p:spTree>
    <p:extLst>
      <p:ext uri="{BB962C8B-B14F-4D97-AF65-F5344CB8AC3E}">
        <p14:creationId xmlns:p14="http://schemas.microsoft.com/office/powerpoint/2010/main" val="1101413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6D75-7B5A-1930-0258-6A7CD4FC57F9}"/>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405D2AC6-B6ED-A383-6898-84C9494171CA}"/>
              </a:ext>
            </a:extLst>
          </p:cNvPr>
          <p:cNvSpPr>
            <a:spLocks noGrp="1"/>
          </p:cNvSpPr>
          <p:nvPr>
            <p:ph idx="1"/>
          </p:nvPr>
        </p:nvSpPr>
        <p:spPr/>
        <p:txBody>
          <a:bodyPr/>
          <a:lstStyle/>
          <a:p>
            <a:r>
              <a:rPr lang="en-US" dirty="0">
                <a:hlinkClick r:id="rId2"/>
              </a:rPr>
              <a:t>[2504.16736] A Survey of AI Agent Protocols</a:t>
            </a:r>
            <a:endParaRPr lang="en-US" dirty="0"/>
          </a:p>
          <a:p>
            <a:endParaRPr lang="en-US" dirty="0">
              <a:hlinkClick r:id="rId3"/>
            </a:endParaRPr>
          </a:p>
          <a:p>
            <a:r>
              <a:rPr lang="en-US" dirty="0">
                <a:hlinkClick r:id="rId3"/>
              </a:rPr>
              <a:t>AI Protocol Guide - a Hugging Face Space by </a:t>
            </a:r>
            <a:r>
              <a:rPr lang="en-US" dirty="0" err="1">
                <a:hlinkClick r:id="rId3"/>
              </a:rPr>
              <a:t>Abhaykoul</a:t>
            </a:r>
            <a:endParaRPr lang="en-US" dirty="0"/>
          </a:p>
          <a:p>
            <a:endParaRPr lang="en-IN" dirty="0"/>
          </a:p>
          <a:p>
            <a:r>
              <a:rPr lang="en-IN" dirty="0">
                <a:hlinkClick r:id="rId4"/>
              </a:rPr>
              <a:t>Function Calling vs. MCP vs. A2A: Developer’s Guide to AI Agent Protocols - </a:t>
            </a:r>
            <a:r>
              <a:rPr lang="en-IN" dirty="0" err="1">
                <a:hlinkClick r:id="rId4"/>
              </a:rPr>
              <a:t>Zilliz</a:t>
            </a:r>
            <a:r>
              <a:rPr lang="en-IN" dirty="0">
                <a:hlinkClick r:id="rId4"/>
              </a:rPr>
              <a:t> blog</a:t>
            </a:r>
            <a:endParaRPr lang="en-IN" dirty="0"/>
          </a:p>
          <a:p>
            <a:endParaRPr lang="en-IN" dirty="0"/>
          </a:p>
          <a:p>
            <a:r>
              <a:rPr lang="en-US" dirty="0">
                <a:hlinkClick r:id="rId5"/>
              </a:rPr>
              <a:t>MCP, A2A, ACP: What does it all mean?</a:t>
            </a:r>
            <a:endParaRPr lang="en-IN" dirty="0"/>
          </a:p>
        </p:txBody>
      </p:sp>
    </p:spTree>
    <p:extLst>
      <p:ext uri="{BB962C8B-B14F-4D97-AF65-F5344CB8AC3E}">
        <p14:creationId xmlns:p14="http://schemas.microsoft.com/office/powerpoint/2010/main" val="4039838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1084</TotalTime>
  <Words>4769</Words>
  <Application>Microsoft Office PowerPoint</Application>
  <PresentationFormat>Widescreen</PresentationFormat>
  <Paragraphs>393</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Segoe UI</vt:lpstr>
      <vt:lpstr>Office Theme</vt:lpstr>
      <vt:lpstr>Introduction to AI Agent protocols</vt:lpstr>
      <vt:lpstr>AI Domain Development TimeLine</vt:lpstr>
      <vt:lpstr>Agent Internet Ecosystem</vt:lpstr>
      <vt:lpstr>Classification of various agent protocols </vt:lpstr>
      <vt:lpstr>How AI Gets Its Superpowers</vt:lpstr>
      <vt:lpstr>Quick Comparison: Function Calling vs MCP vs A2A</vt:lpstr>
      <vt:lpstr>Function Calling: Giving AI Tools to Work With</vt:lpstr>
      <vt:lpstr>Function Calling: Technical Implementation</vt:lpstr>
      <vt:lpstr>Function Calling: Real-World Applications</vt:lpstr>
      <vt:lpstr>PowerPoint Presentation</vt:lpstr>
      <vt:lpstr>Model Context Protocol (MCP): The Universal Data Connector</vt:lpstr>
      <vt:lpstr>MCP: Technical Implementation</vt:lpstr>
      <vt:lpstr>MCP: Real-World Applications</vt:lpstr>
      <vt:lpstr>PowerPoint Presentation</vt:lpstr>
      <vt:lpstr>Agent-to-Agent (A2A): Enabling AI Collaboration</vt:lpstr>
      <vt:lpstr>A2A: Technical Implementation</vt:lpstr>
      <vt:lpstr>A2A: Real-World Applications</vt:lpstr>
      <vt:lpstr>PowerPoint Presentation</vt:lpstr>
      <vt:lpstr>What This Means for Developers </vt:lpstr>
      <vt:lpstr>The Road Ahead </vt:lpstr>
      <vt:lpstr>How They Work Together</vt:lpstr>
      <vt:lpstr>Real-World Examples</vt:lpstr>
      <vt:lpstr>Real-World Examples</vt:lpstr>
      <vt:lpstr>Advanced Example Use Case - Integrating All Three</vt:lpstr>
      <vt:lpstr>Advanced Example Use Case - Integrating All Three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Karthikeyan Nallakamachi</dc:creator>
  <cp:lastModifiedBy>Karthikeyan Nallakamachi</cp:lastModifiedBy>
  <cp:revision>2</cp:revision>
  <dcterms:created xsi:type="dcterms:W3CDTF">2025-06-12T17:32:23Z</dcterms:created>
  <dcterms:modified xsi:type="dcterms:W3CDTF">2025-06-13T11:36:31Z</dcterms:modified>
</cp:coreProperties>
</file>